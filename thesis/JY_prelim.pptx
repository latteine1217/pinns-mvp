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bookmarkIdSeed="7">
  <p:sldMasterIdLst>
    <p:sldMasterId id="2147483648" r:id="rId1"/>
    <p:sldMasterId id="2147483660" r:id="rId2"/>
    <p:sldMasterId id="2147483679" r:id="rId3"/>
  </p:sldMasterIdLst>
  <p:notesMasterIdLst>
    <p:notesMasterId r:id="rId38"/>
  </p:notesMasterIdLst>
  <p:handoutMasterIdLst>
    <p:handoutMasterId r:id="rId39"/>
  </p:handoutMasterIdLst>
  <p:sldIdLst>
    <p:sldId id="286" r:id="rId4"/>
    <p:sldId id="346" r:id="rId5"/>
    <p:sldId id="347" r:id="rId6"/>
    <p:sldId id="310" r:id="rId7"/>
    <p:sldId id="444" r:id="rId8"/>
    <p:sldId id="350" r:id="rId9"/>
    <p:sldId id="298" r:id="rId10"/>
    <p:sldId id="454" r:id="rId11"/>
    <p:sldId id="443" r:id="rId12"/>
    <p:sldId id="457" r:id="rId13"/>
    <p:sldId id="332" r:id="rId14"/>
    <p:sldId id="440" r:id="rId15"/>
    <p:sldId id="340" r:id="rId16"/>
    <p:sldId id="351" r:id="rId17"/>
    <p:sldId id="386" r:id="rId18"/>
    <p:sldId id="390" r:id="rId19"/>
    <p:sldId id="452" r:id="rId20"/>
    <p:sldId id="391" r:id="rId21"/>
    <p:sldId id="445" r:id="rId22"/>
    <p:sldId id="352" r:id="rId23"/>
    <p:sldId id="453" r:id="rId24"/>
    <p:sldId id="448" r:id="rId25"/>
    <p:sldId id="446" r:id="rId26"/>
    <p:sldId id="447" r:id="rId27"/>
    <p:sldId id="441" r:id="rId28"/>
    <p:sldId id="451" r:id="rId29"/>
    <p:sldId id="261" r:id="rId30"/>
    <p:sldId id="373" r:id="rId31"/>
    <p:sldId id="372" r:id="rId32"/>
    <p:sldId id="456" r:id="rId33"/>
    <p:sldId id="449" r:id="rId34"/>
    <p:sldId id="442" r:id="rId35"/>
    <p:sldId id="435" r:id="rId36"/>
    <p:sldId id="381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A45A87A-B38B-450A-A654-E51113119C07}">
          <p14:sldIdLst>
            <p14:sldId id="286"/>
            <p14:sldId id="346"/>
          </p14:sldIdLst>
        </p14:section>
        <p14:section name="Introduction" id="{20EAC9B5-7047-48C6-98CB-C303BD91F486}">
          <p14:sldIdLst>
            <p14:sldId id="347"/>
            <p14:sldId id="310"/>
            <p14:sldId id="444"/>
            <p14:sldId id="350"/>
          </p14:sldIdLst>
        </p14:section>
        <p14:section name="Literature review &amp; motivation &amp; objective" id="{F8EF61EF-B6B7-4944-AB08-88B60C2688EF}">
          <p14:sldIdLst>
            <p14:sldId id="298"/>
            <p14:sldId id="454"/>
            <p14:sldId id="443"/>
            <p14:sldId id="457"/>
            <p14:sldId id="332"/>
            <p14:sldId id="440"/>
            <p14:sldId id="340"/>
          </p14:sldIdLst>
        </p14:section>
        <p14:section name="Methology" id="{0B184D13-6BA2-4053-BA2E-E6DE8B078C50}">
          <p14:sldIdLst>
            <p14:sldId id="351"/>
            <p14:sldId id="386"/>
            <p14:sldId id="390"/>
            <p14:sldId id="452"/>
            <p14:sldId id="391"/>
            <p14:sldId id="445"/>
            <p14:sldId id="352"/>
            <p14:sldId id="453"/>
            <p14:sldId id="448"/>
            <p14:sldId id="446"/>
            <p14:sldId id="447"/>
            <p14:sldId id="441"/>
            <p14:sldId id="451"/>
            <p14:sldId id="261"/>
          </p14:sldIdLst>
        </p14:section>
        <p14:section name="Result" id="{520A7148-8FB9-4807-94AD-0C7A30F6D9F4}">
          <p14:sldIdLst>
            <p14:sldId id="373"/>
            <p14:sldId id="372"/>
            <p14:sldId id="456"/>
            <p14:sldId id="449"/>
            <p14:sldId id="442"/>
          </p14:sldIdLst>
        </p14:section>
        <p14:section name="Summary" id="{E46CFE8C-B95C-4EE4-84E7-EC24A33878DD}">
          <p14:sldIdLst>
            <p14:sldId id="435"/>
            <p14:sldId id="381"/>
          </p14:sldIdLst>
        </p14:section>
      </p14:sectionLst>
    </p:ext>
    <p:ext uri="{EFAFB233-063F-42B5-8137-9DF3F51BA10A}">
      <p15:sldGuideLst xmlns:p15="http://schemas.microsoft.com/office/powerpoint/2012/main">
        <p15:guide id="1" pos="6244" userDrawn="1">
          <p15:clr>
            <a:srgbClr val="A4A3A4"/>
          </p15:clr>
        </p15:guide>
        <p15:guide id="2" orient="horz" pos="663" userDrawn="1">
          <p15:clr>
            <a:srgbClr val="A4A3A4"/>
          </p15:clr>
        </p15:guide>
        <p15:guide id="3" pos="438" userDrawn="1">
          <p15:clr>
            <a:srgbClr val="A4A3A4"/>
          </p15:clr>
        </p15:guide>
        <p15:guide id="4" pos="663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14DC7"/>
    <a:srgbClr val="BA7CD6"/>
    <a:srgbClr val="D7B3E7"/>
    <a:srgbClr val="E1E1E1"/>
    <a:srgbClr val="F0F0F0"/>
    <a:srgbClr val="F7CBAC"/>
    <a:srgbClr val="B5C6E7"/>
    <a:srgbClr val="DBDBDB"/>
    <a:srgbClr val="000000"/>
    <a:srgbClr val="C5C5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93D81CF-94F2-401A-BA57-92F5A7B2D0C5}" styleName="中等深淺樣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5758FB7-9AC5-4552-8A53-C91805E547FA}" styleName="佈景主題樣式 1 - 輔色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07" autoAdjust="0"/>
    <p:restoredTop sz="85568" autoAdjust="0"/>
  </p:normalViewPr>
  <p:slideViewPr>
    <p:cSldViewPr snapToGrid="0">
      <p:cViewPr varScale="1">
        <p:scale>
          <a:sx n="106" d="100"/>
          <a:sy n="106" d="100"/>
        </p:scale>
        <p:origin x="1880" y="728"/>
      </p:cViewPr>
      <p:guideLst>
        <p:guide pos="6244"/>
        <p:guide orient="horz" pos="663"/>
        <p:guide pos="438"/>
        <p:guide pos="663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278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tableStyles" Target="tableStyle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3A8B06-EAB9-480B-BC58-04E5D9D56302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81A2E8-B0FA-4C11-A0AC-B1322BCF30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81973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DC1F75-2B5A-4047-9C82-EFA72CE7E7DB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E48C3B-0656-4F5E-A450-E541320EE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4973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各位老師、同學，大家好。我是李駿毅</a:t>
            </a:r>
            <a:endParaRPr lang="en-US" dirty="0"/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研究背景簡介</a:t>
            </a:r>
            <a:r>
              <a:rPr dirty="0"/>
              <a:t>】</a:t>
            </a:r>
          </a:p>
          <a:p>
            <a:r>
              <a:rPr dirty="0" err="1"/>
              <a:t>這個研究專注於一個工程實務中常見的挑戰</a:t>
            </a:r>
            <a:r>
              <a:rPr dirty="0"/>
              <a:t>：</a:t>
            </a:r>
          </a:p>
          <a:p>
            <a:r>
              <a:rPr dirty="0"/>
              <a:t>- </a:t>
            </a:r>
            <a:r>
              <a:rPr dirty="0" err="1"/>
              <a:t>在真實工程環境中，我們通常只能獲得極少量的真實測量資料</a:t>
            </a:r>
            <a:endParaRPr dirty="0"/>
          </a:p>
          <a:p>
            <a:r>
              <a:rPr dirty="0"/>
              <a:t>- </a:t>
            </a:r>
            <a:r>
              <a:rPr dirty="0" err="1"/>
              <a:t>但需要重建完整的湍流流場資訊</a:t>
            </a:r>
            <a:endParaRPr dirty="0"/>
          </a:p>
          <a:p>
            <a:r>
              <a:rPr dirty="0"/>
              <a:t>- </a:t>
            </a:r>
            <a:r>
              <a:rPr dirty="0" err="1"/>
              <a:t>本研究使用物理資訊神經網路（PINNs）來解決這個問題</a:t>
            </a:r>
            <a:endParaRPr dirty="0"/>
          </a:p>
          <a:p>
            <a:endParaRPr dirty="0"/>
          </a:p>
          <a:p>
            <a:r>
              <a:rPr dirty="0" err="1"/>
              <a:t>接下來我會先從目錄開始，為大家介紹本研究的整體架構</a:t>
            </a:r>
            <a:r>
              <a:rPr dirty="0"/>
              <a:t>。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779259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529025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3134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E8487-BB6B-2996-167C-89307A073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F0BCE923-7CAB-DA96-4745-11C92EC0E4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C6CE20E-57F7-1682-60F8-45E3D71F73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這一頁主要想說明，</a:t>
            </a:r>
            <a:r>
              <a:rPr lang="zh-TW" altLang="en-US" b="1" dirty="0"/>
              <a:t>湍流問題本身的困難性，與實際資料取得之間存在明顯落差</a:t>
            </a:r>
            <a:r>
              <a:rPr lang="zh-TW" altLang="en-US" dirty="0"/>
              <a:t>。</a:t>
            </a:r>
            <a:br>
              <a:rPr lang="zh-TW" altLang="en-US" dirty="0"/>
            </a:br>
            <a:r>
              <a:rPr lang="zh-TW" altLang="en-US" dirty="0"/>
              <a:t>從左邊可以看到，湍流本身是 </a:t>
            </a:r>
            <a:r>
              <a:rPr lang="zh-TW" altLang="en-US" b="1" dirty="0"/>
              <a:t>多尺度、高頻且高度非線性</a:t>
            </a:r>
            <a:r>
              <a:rPr lang="zh-TW" altLang="en-US" dirty="0"/>
              <a:t> 的系統，</a:t>
            </a:r>
            <a:br>
              <a:rPr lang="zh-TW" altLang="en-US" dirty="0"/>
            </a:br>
            <a:r>
              <a:rPr lang="zh-TW" altLang="en-US" dirty="0"/>
              <a:t>要完整解析瞬時流場，通常必須依賴 </a:t>
            </a:r>
            <a:r>
              <a:rPr lang="zh-TW" altLang="en-US" b="1" dirty="0"/>
              <a:t>高成本的 </a:t>
            </a:r>
            <a:r>
              <a:rPr lang="en-US" altLang="zh-TW" b="1" dirty="0"/>
              <a:t>DNS </a:t>
            </a:r>
            <a:r>
              <a:rPr lang="zh-TW" altLang="en-US" b="1" dirty="0"/>
              <a:t>或 </a:t>
            </a:r>
            <a:r>
              <a:rPr lang="en-US" altLang="zh-TW" b="1" dirty="0"/>
              <a:t>LES</a:t>
            </a:r>
            <a:r>
              <a:rPr lang="zh-TW" altLang="en-US" dirty="0"/>
              <a:t>，而且量測在實驗上也常受到視野與雜訊限制。</a:t>
            </a:r>
          </a:p>
          <a:p>
            <a:endParaRPr lang="en-US" altLang="zh-TW" dirty="0"/>
          </a:p>
          <a:p>
            <a:r>
              <a:rPr lang="zh-TW" altLang="en-US" dirty="0"/>
              <a:t>然而在實際工程情境中，如右圖所示，我們往往只能部署 </a:t>
            </a:r>
            <a:r>
              <a:rPr lang="zh-TW" altLang="en-US" b="1" dirty="0"/>
              <a:t>非常有限數量的感測器</a:t>
            </a:r>
            <a:r>
              <a:rPr lang="zh-TW" altLang="en-US" dirty="0"/>
              <a:t>，</a:t>
            </a:r>
            <a:br>
              <a:rPr lang="zh-TW" altLang="en-US" dirty="0"/>
            </a:br>
            <a:r>
              <a:rPr lang="zh-TW" altLang="en-US" dirty="0"/>
              <a:t>實務上可用的感測點數通常在 </a:t>
            </a:r>
            <a:r>
              <a:rPr lang="en-US" altLang="zh-TW" b="1" dirty="0"/>
              <a:t>N ≤ 100</a:t>
            </a:r>
            <a:r>
              <a:rPr lang="en-US" altLang="zh-TW" dirty="0"/>
              <a:t> </a:t>
            </a:r>
            <a:r>
              <a:rPr lang="zh-TW" altLang="en-US" dirty="0"/>
              <a:t>的等級，</a:t>
            </a:r>
            <a:br>
              <a:rPr lang="zh-TW" altLang="en-US" dirty="0"/>
            </a:br>
            <a:r>
              <a:rPr lang="zh-TW" altLang="en-US" dirty="0"/>
              <a:t>且只能量測到部分狀態，無法取得完整的三維流場與壓力資訊。</a:t>
            </a:r>
          </a:p>
          <a:p>
            <a:endParaRPr lang="en-US" altLang="zh-TW" dirty="0"/>
          </a:p>
          <a:p>
            <a:r>
              <a:rPr lang="zh-TW" altLang="en-US" dirty="0"/>
              <a:t>因此，本研究所關注的核心問題是：</a:t>
            </a:r>
            <a:br>
              <a:rPr lang="zh-TW" altLang="en-US" dirty="0"/>
            </a:br>
            <a:r>
              <a:rPr lang="zh-TW" altLang="en-US" b="1" dirty="0"/>
              <a:t>在極端稀疏且不完整的量測條件下，</a:t>
            </a:r>
            <a:br>
              <a:rPr lang="zh-TW" altLang="en-US" b="1" dirty="0"/>
            </a:br>
            <a:r>
              <a:rPr lang="zh-TW" altLang="en-US" b="1" dirty="0"/>
              <a:t>是否能夠結合物理模型，將局部觀測轉化為一個可行的反問題，</a:t>
            </a:r>
            <a:br>
              <a:rPr lang="zh-TW" altLang="en-US" b="1" dirty="0"/>
            </a:br>
            <a:r>
              <a:rPr lang="zh-TW" altLang="en-US" b="1" dirty="0"/>
              <a:t>並重建整體流場結構。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029933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在方法上，本研究是建立在 </a:t>
            </a:r>
            <a:r>
              <a:rPr lang="en-US" altLang="zh-TW" b="1" dirty="0"/>
              <a:t>Physics-informed Neural Networks</a:t>
            </a:r>
            <a:r>
              <a:rPr lang="zh-TW" altLang="en-US" b="1" dirty="0"/>
              <a:t>，也就是 </a:t>
            </a:r>
            <a:r>
              <a:rPr lang="en-US" altLang="zh-TW" b="1" dirty="0"/>
              <a:t>PINNs</a:t>
            </a:r>
            <a:r>
              <a:rPr lang="en-US" altLang="zh-TW" dirty="0"/>
              <a:t> </a:t>
            </a:r>
            <a:r>
              <a:rPr lang="zh-TW" altLang="en-US" dirty="0"/>
              <a:t>的框架之上。</a:t>
            </a:r>
            <a:br>
              <a:rPr lang="zh-TW" altLang="en-US" dirty="0"/>
            </a:br>
            <a:r>
              <a:rPr lang="zh-TW" altLang="en-US" dirty="0"/>
              <a:t>這個概念最早由 </a:t>
            </a:r>
            <a:r>
              <a:rPr lang="en-US" altLang="zh-TW" dirty="0" err="1"/>
              <a:t>Raissi</a:t>
            </a:r>
            <a:r>
              <a:rPr lang="en-US" altLang="zh-TW" dirty="0"/>
              <a:t> </a:t>
            </a:r>
            <a:r>
              <a:rPr lang="zh-TW" altLang="en-US" dirty="0"/>
              <a:t>等人在 </a:t>
            </a:r>
            <a:r>
              <a:rPr lang="en-US" altLang="zh-TW" dirty="0"/>
              <a:t>2019 </a:t>
            </a:r>
            <a:r>
              <a:rPr lang="zh-TW" altLang="en-US" dirty="0"/>
              <a:t>年系統性提出。</a:t>
            </a:r>
          </a:p>
          <a:p>
            <a:r>
              <a:rPr lang="en-US" altLang="zh-TW" dirty="0"/>
              <a:t>PINN </a:t>
            </a:r>
            <a:r>
              <a:rPr lang="zh-TW" altLang="en-US" dirty="0"/>
              <a:t>的核心想法是，</a:t>
            </a:r>
            <a:br>
              <a:rPr lang="zh-TW" altLang="en-US" dirty="0"/>
            </a:br>
            <a:r>
              <a:rPr lang="zh-TW" altLang="en-US" dirty="0"/>
              <a:t>將控制流場的偏微分方程直接嵌入到 </a:t>
            </a:r>
            <a:r>
              <a:rPr lang="en-US" altLang="zh-TW" dirty="0"/>
              <a:t>neural network </a:t>
            </a:r>
            <a:r>
              <a:rPr lang="zh-TW" altLang="en-US" dirty="0"/>
              <a:t>的 </a:t>
            </a:r>
            <a:r>
              <a:rPr lang="en-US" altLang="zh-TW" dirty="0"/>
              <a:t>loss function </a:t>
            </a:r>
            <a:r>
              <a:rPr lang="zh-TW" altLang="en-US" dirty="0"/>
              <a:t>中，</a:t>
            </a:r>
            <a:br>
              <a:rPr lang="zh-TW" altLang="en-US" dirty="0"/>
            </a:br>
            <a:r>
              <a:rPr lang="zh-TW" altLang="en-US" dirty="0"/>
              <a:t>使模型在學習資料的同時，也受到物理定律的約束。</a:t>
            </a:r>
            <a:br>
              <a:rPr lang="zh-TW" altLang="en-US" dirty="0"/>
            </a:br>
            <a:r>
              <a:rPr lang="zh-TW" altLang="en-US" dirty="0"/>
              <a:t>因此，即使量測資料非常稀疏，</a:t>
            </a:r>
            <a:br>
              <a:rPr lang="zh-TW" altLang="en-US" dirty="0"/>
            </a:br>
            <a:r>
              <a:rPr lang="zh-TW" altLang="en-US" dirty="0"/>
              <a:t>仍然可以進行具物理一致性的重建。</a:t>
            </a:r>
          </a:p>
          <a:p>
            <a:r>
              <a:rPr lang="zh-TW" altLang="en-US" dirty="0"/>
              <a:t>這個特性使 </a:t>
            </a:r>
            <a:r>
              <a:rPr lang="en-US" altLang="zh-TW" dirty="0"/>
              <a:t>PINNs </a:t>
            </a:r>
            <a:r>
              <a:rPr lang="zh-TW" altLang="en-US" dirty="0"/>
              <a:t>特別適合用於 </a:t>
            </a:r>
            <a:r>
              <a:rPr lang="zh-TW" altLang="en-US" b="1" dirty="0"/>
              <a:t>逆問題</a:t>
            </a:r>
            <a:r>
              <a:rPr lang="zh-TW" altLang="en-US" dirty="0"/>
              <a:t>，</a:t>
            </a:r>
            <a:br>
              <a:rPr lang="zh-TW" altLang="en-US" dirty="0"/>
            </a:br>
            <a:r>
              <a:rPr lang="zh-TW" altLang="en-US" dirty="0"/>
              <a:t>例如稀疏感測下的流場重建或參數識別。</a:t>
            </a:r>
            <a:br>
              <a:rPr lang="zh-TW" altLang="en-US" dirty="0"/>
            </a:br>
            <a:r>
              <a:rPr lang="zh-TW" altLang="en-US" dirty="0"/>
              <a:t>相較於傳統 </a:t>
            </a:r>
            <a:r>
              <a:rPr lang="en-US" altLang="zh-TW" dirty="0"/>
              <a:t>CFD </a:t>
            </a:r>
            <a:r>
              <a:rPr lang="zh-TW" altLang="en-US" dirty="0"/>
              <a:t>方法通常需要伴隨 </a:t>
            </a:r>
            <a:r>
              <a:rPr lang="en-US" altLang="zh-TW" dirty="0"/>
              <a:t>adjoint </a:t>
            </a:r>
            <a:r>
              <a:rPr lang="zh-TW" altLang="en-US" dirty="0"/>
              <a:t>或 </a:t>
            </a:r>
            <a:r>
              <a:rPr lang="en-US" altLang="zh-TW" dirty="0"/>
              <a:t>ensemble </a:t>
            </a:r>
            <a:r>
              <a:rPr lang="zh-TW" altLang="en-US" dirty="0"/>
              <a:t>技術，</a:t>
            </a:r>
            <a:br>
              <a:rPr lang="zh-TW" altLang="en-US" dirty="0"/>
            </a:br>
            <a:r>
              <a:rPr lang="en-US" altLang="zh-TW" dirty="0"/>
              <a:t>PINNs </a:t>
            </a:r>
            <a:r>
              <a:rPr lang="zh-TW" altLang="en-US" dirty="0"/>
              <a:t>提供了一種不同的計算取捨。</a:t>
            </a:r>
          </a:p>
          <a:p>
            <a:r>
              <a:rPr lang="zh-TW" altLang="en-US" dirty="0"/>
              <a:t>當然，在</a:t>
            </a:r>
            <a:r>
              <a:rPr lang="zh-TW" altLang="en-US" b="1" dirty="0"/>
              <a:t>正向問題</a:t>
            </a:r>
            <a:r>
              <a:rPr lang="zh-TW" altLang="en-US" dirty="0"/>
              <a:t>上，傳統數值求解器仍然具有明顯優勢；</a:t>
            </a:r>
            <a:br>
              <a:rPr lang="zh-TW" altLang="en-US" dirty="0"/>
            </a:br>
            <a:r>
              <a:rPr lang="zh-TW" altLang="en-US" dirty="0"/>
              <a:t>但在像本研究這種</a:t>
            </a:r>
            <a:br>
              <a:rPr lang="zh-TW" altLang="en-US" dirty="0"/>
            </a:br>
            <a:r>
              <a:rPr lang="zh-TW" altLang="en-US" b="1" dirty="0"/>
              <a:t>資料極少、但物理結構已知的逆向湍流重建問題中</a:t>
            </a:r>
            <a:r>
              <a:rPr lang="zh-TW" altLang="en-US" dirty="0"/>
              <a:t>，</a:t>
            </a:r>
            <a:br>
              <a:rPr lang="zh-TW" altLang="en-US" dirty="0"/>
            </a:br>
            <a:r>
              <a:rPr lang="en-US" altLang="zh-TW" dirty="0"/>
              <a:t>PINNs </a:t>
            </a:r>
            <a:r>
              <a:rPr lang="zh-TW" altLang="en-US" dirty="0"/>
              <a:t>提供了一個具吸引力、但同時也充滿挑戰的替代途徑。</a:t>
            </a:r>
          </a:p>
        </p:txBody>
      </p:sp>
    </p:spTree>
    <p:extLst>
      <p:ext uri="{BB962C8B-B14F-4D97-AF65-F5344CB8AC3E}">
        <p14:creationId xmlns:p14="http://schemas.microsoft.com/office/powerpoint/2010/main" val="31773683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在本研究中，我選擇 </a:t>
                </a:r>
                <a:r>
                  <a:rPr lang="en-US" altLang="zh-TW" b="1" dirty="0"/>
                  <a:t>Johns Hopkins Turbulence Database</a:t>
                </a:r>
                <a:r>
                  <a:rPr lang="zh-TW" altLang="en-US" b="1" dirty="0"/>
                  <a:t>（</a:t>
                </a:r>
                <a:r>
                  <a:rPr lang="en-US" altLang="zh-TW" b="1" dirty="0"/>
                  <a:t>JHTDB</a:t>
                </a:r>
                <a:r>
                  <a:rPr lang="zh-TW" altLang="en-US" b="1" dirty="0"/>
                  <a:t>）</a:t>
                </a:r>
                <a:br>
                  <a:rPr lang="en-US" altLang="zh-TW" dirty="0"/>
                </a:br>
                <a:r>
                  <a:rPr lang="zh-TW" altLang="en-US" dirty="0"/>
                  <a:t>作為高雷諾數湍流的 </a:t>
                </a:r>
                <a:r>
                  <a:rPr lang="zh-TW" altLang="en-US" b="1" dirty="0"/>
                  <a:t>高擬真參考資料來源</a:t>
                </a:r>
                <a:r>
                  <a:rPr lang="zh-TW" altLang="en-US" dirty="0"/>
                  <a:t>。</a:t>
                </a:r>
              </a:p>
              <a:p>
                <a:r>
                  <a:rPr lang="en-US" altLang="zh-TW" dirty="0"/>
                  <a:t>JHTDB </a:t>
                </a:r>
                <a:r>
                  <a:rPr lang="zh-TW" altLang="en-US" dirty="0"/>
                  <a:t>提供的是經過完整解析的 </a:t>
                </a:r>
                <a:r>
                  <a:rPr lang="en-US" altLang="zh-TW" dirty="0"/>
                  <a:t>DNS </a:t>
                </a:r>
                <a:r>
                  <a:rPr lang="zh-TW" altLang="en-US" dirty="0"/>
                  <a:t>資料，</a:t>
                </a:r>
                <a:br>
                  <a:rPr lang="zh-TW" altLang="en-US" dirty="0"/>
                </a:br>
                <a:r>
                  <a:rPr lang="zh-TW" altLang="en-US" dirty="0"/>
                  <a:t>能夠解析到 </a:t>
                </a:r>
                <a:r>
                  <a:rPr lang="en-US" altLang="zh-TW" dirty="0"/>
                  <a:t>Kolmogorov </a:t>
                </a:r>
                <a:r>
                  <a:rPr lang="zh-TW" altLang="en-US" dirty="0"/>
                  <a:t>尺度，</a:t>
                </a:r>
                <a:br>
                  <a:rPr lang="zh-TW" altLang="en-US" dirty="0"/>
                </a:br>
                <a:r>
                  <a:rPr lang="zh-TW" altLang="en-US" dirty="0"/>
                  <a:t>因此非常適合作為 </a:t>
                </a:r>
                <a:r>
                  <a:rPr lang="zh-TW" altLang="en-US" b="1" dirty="0"/>
                  <a:t>基準真值（</a:t>
                </a:r>
                <a:r>
                  <a:rPr lang="en-US" altLang="zh-TW" b="1" dirty="0"/>
                  <a:t>ground truth</a:t>
                </a:r>
                <a:r>
                  <a:rPr lang="zh-TW" altLang="en-US" b="1" dirty="0"/>
                  <a:t>）</a:t>
                </a:r>
                <a:r>
                  <a:rPr lang="zh-TW" altLang="en-US" dirty="0"/>
                  <a:t>，</a:t>
                </a:r>
                <a:br>
                  <a:rPr lang="zh-TW" altLang="en-US" dirty="0"/>
                </a:br>
                <a:r>
                  <a:rPr lang="zh-TW" altLang="en-US" dirty="0"/>
                  <a:t>用來評估重建誤差與方法差異。</a:t>
                </a:r>
              </a:p>
              <a:p>
                <a:r>
                  <a:rPr lang="zh-TW" altLang="en-US" dirty="0"/>
                  <a:t>需要特別強調的是，</a:t>
                </a:r>
                <a:br>
                  <a:rPr lang="zh-TW" altLang="en-US" dirty="0"/>
                </a:br>
                <a:r>
                  <a:rPr lang="en-US" altLang="zh-TW" b="1" dirty="0"/>
                  <a:t>JHTDB </a:t>
                </a:r>
                <a:r>
                  <a:rPr lang="zh-TW" altLang="en-US" b="1" dirty="0"/>
                  <a:t>在本研究中主要用於事後的定量評估</a:t>
                </a:r>
                <a:r>
                  <a:rPr lang="zh-TW" altLang="en-US" dirty="0"/>
                  <a:t>，</a:t>
                </a:r>
                <a:br>
                  <a:rPr lang="zh-TW" altLang="en-US" dirty="0"/>
                </a:br>
                <a:r>
                  <a:rPr lang="zh-TW" altLang="en-US" dirty="0"/>
                  <a:t>例如相對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altLang="zh-TW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𝐿</m:t>
                        </m:r>
                      </m:e>
                      <m:sub>
                        <m:r>
                          <a:rPr lang="ar-AE" altLang="zh-TW" sz="1200" i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TW" altLang="en-US" dirty="0"/>
                  <a:t>誤差或統計量比較，</a:t>
                </a:r>
                <a:br>
                  <a:rPr lang="zh-TW" altLang="en-US" dirty="0"/>
                </a:br>
                <a:r>
                  <a:rPr lang="zh-TW" altLang="en-US" b="1" dirty="0"/>
                  <a:t>並未在 </a:t>
                </a:r>
                <a:r>
                  <a:rPr lang="en-US" altLang="zh-TW" b="1" dirty="0"/>
                  <a:t>PINN </a:t>
                </a:r>
                <a:r>
                  <a:rPr lang="zh-TW" altLang="en-US" b="1" dirty="0"/>
                  <a:t>訓練或重建過程中直接使用 </a:t>
                </a:r>
                <a:r>
                  <a:rPr lang="en-US" altLang="zh-TW" b="1" dirty="0"/>
                  <a:t>DNS </a:t>
                </a:r>
                <a:r>
                  <a:rPr lang="zh-TW" altLang="en-US" b="1" dirty="0"/>
                  <a:t>場資訊</a:t>
                </a:r>
                <a:r>
                  <a:rPr lang="zh-TW" altLang="en-US" dirty="0"/>
                  <a:t>，</a:t>
                </a:r>
                <a:br>
                  <a:rPr lang="zh-TW" altLang="en-US" dirty="0"/>
                </a:br>
                <a:r>
                  <a:rPr lang="zh-TW" altLang="en-US" dirty="0"/>
                  <a:t>以避免任何資料洩漏的疑慮。</a:t>
                </a:r>
              </a:p>
              <a:p>
                <a:r>
                  <a:rPr lang="zh-TW" altLang="en-US" dirty="0"/>
                  <a:t>透過 </a:t>
                </a:r>
                <a:r>
                  <a:rPr lang="en-US" altLang="zh-TW" dirty="0"/>
                  <a:t>JHTDB </a:t>
                </a:r>
                <a:r>
                  <a:rPr lang="zh-TW" altLang="en-US" dirty="0"/>
                  <a:t>的 </a:t>
                </a:r>
                <a:r>
                  <a:rPr lang="en-US" altLang="zh-TW" dirty="0"/>
                  <a:t>web service </a:t>
                </a:r>
                <a:r>
                  <a:rPr lang="zh-TW" altLang="en-US" dirty="0"/>
                  <a:t>介面，</a:t>
                </a:r>
                <a:br>
                  <a:rPr lang="zh-TW" altLang="en-US" dirty="0"/>
                </a:br>
                <a:r>
                  <a:rPr lang="zh-TW" altLang="en-US" dirty="0"/>
                  <a:t>我可以在任意空間與時間座標上抽取對應的參考值，</a:t>
                </a:r>
                <a:br>
                  <a:rPr lang="zh-TW" altLang="en-US" dirty="0"/>
                </a:br>
                <a:r>
                  <a:rPr lang="zh-TW" altLang="en-US" dirty="0"/>
                  <a:t>這使得不同感測配置與重建結果之間</a:t>
                </a:r>
                <a:br>
                  <a:rPr lang="zh-TW" altLang="en-US" dirty="0"/>
                </a:br>
                <a:r>
                  <a:rPr lang="zh-TW" altLang="en-US" dirty="0"/>
                  <a:t>能夠在一致標準下進行比較。</a:t>
                </a:r>
              </a:p>
              <a:p>
                <a:r>
                  <a:rPr lang="zh-TW" altLang="en-US" dirty="0"/>
                  <a:t>因此，</a:t>
                </a:r>
                <a:r>
                  <a:rPr lang="en-US" altLang="zh-TW" dirty="0"/>
                  <a:t>JHTDB </a:t>
                </a:r>
                <a:r>
                  <a:rPr lang="zh-TW" altLang="en-US" dirty="0"/>
                  <a:t>在本研究中扮演的角色是</a:t>
                </a:r>
                <a:br>
                  <a:rPr lang="zh-TW" altLang="en-US" dirty="0"/>
                </a:br>
                <a:r>
                  <a:rPr lang="zh-TW" altLang="en-US" b="1" dirty="0"/>
                  <a:t>一個嚴格且可信的高擬真評估基準</a:t>
                </a:r>
                <a:r>
                  <a:rPr lang="zh-TW" altLang="en-US" dirty="0"/>
                  <a:t>，</a:t>
                </a:r>
                <a:br>
                  <a:rPr lang="zh-TW" altLang="en-US" dirty="0"/>
                </a:br>
                <a:r>
                  <a:rPr lang="zh-TW" altLang="en-US" dirty="0"/>
                  <a:t>而不是一個輔助訓練資料來源。</a:t>
                </a:r>
              </a:p>
            </p:txBody>
          </p:sp>
        </mc:Choice>
        <mc:Fallback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在本研究中，我選擇 </a:t>
                </a:r>
                <a:r>
                  <a:rPr lang="en-US" altLang="zh-TW" b="1" dirty="0"/>
                  <a:t>Johns Hopkins Turbulence Database</a:t>
                </a:r>
                <a:r>
                  <a:rPr lang="zh-TW" altLang="en-US" b="1" dirty="0"/>
                  <a:t>（</a:t>
                </a:r>
                <a:r>
                  <a:rPr lang="en-US" altLang="zh-TW" b="1" dirty="0"/>
                  <a:t>JHTDB</a:t>
                </a:r>
                <a:r>
                  <a:rPr lang="zh-TW" altLang="en-US" b="1" dirty="0"/>
                  <a:t>）</a:t>
                </a:r>
                <a:br>
                  <a:rPr lang="en-US" altLang="zh-TW" dirty="0"/>
                </a:br>
                <a:r>
                  <a:rPr lang="zh-TW" altLang="en-US" dirty="0"/>
                  <a:t>作為高雷諾數湍流的 </a:t>
                </a:r>
                <a:r>
                  <a:rPr lang="zh-TW" altLang="en-US" b="1" dirty="0"/>
                  <a:t>高擬真參考資料來源</a:t>
                </a:r>
                <a:r>
                  <a:rPr lang="zh-TW" altLang="en-US" dirty="0"/>
                  <a:t>。</a:t>
                </a:r>
              </a:p>
              <a:p>
                <a:r>
                  <a:rPr lang="en-US" altLang="zh-TW" dirty="0"/>
                  <a:t>JHTDB </a:t>
                </a:r>
                <a:r>
                  <a:rPr lang="zh-TW" altLang="en-US" dirty="0"/>
                  <a:t>提供的是經過完整解析的 </a:t>
                </a:r>
                <a:r>
                  <a:rPr lang="en-US" altLang="zh-TW" dirty="0"/>
                  <a:t>DNS </a:t>
                </a:r>
                <a:r>
                  <a:rPr lang="zh-TW" altLang="en-US" dirty="0"/>
                  <a:t>資料，</a:t>
                </a:r>
                <a:br>
                  <a:rPr lang="zh-TW" altLang="en-US" dirty="0"/>
                </a:br>
                <a:r>
                  <a:rPr lang="zh-TW" altLang="en-US" dirty="0"/>
                  <a:t>能夠解析到 </a:t>
                </a:r>
                <a:r>
                  <a:rPr lang="en-US" altLang="zh-TW" dirty="0"/>
                  <a:t>Kolmogorov </a:t>
                </a:r>
                <a:r>
                  <a:rPr lang="zh-TW" altLang="en-US" dirty="0"/>
                  <a:t>尺度，</a:t>
                </a:r>
                <a:br>
                  <a:rPr lang="zh-TW" altLang="en-US" dirty="0"/>
                </a:br>
                <a:r>
                  <a:rPr lang="zh-TW" altLang="en-US" dirty="0"/>
                  <a:t>因此非常適合作為 </a:t>
                </a:r>
                <a:r>
                  <a:rPr lang="zh-TW" altLang="en-US" b="1" dirty="0"/>
                  <a:t>基準真值（</a:t>
                </a:r>
                <a:r>
                  <a:rPr lang="en-US" altLang="zh-TW" b="1" dirty="0"/>
                  <a:t>ground truth</a:t>
                </a:r>
                <a:r>
                  <a:rPr lang="zh-TW" altLang="en-US" b="1" dirty="0"/>
                  <a:t>）</a:t>
                </a:r>
                <a:r>
                  <a:rPr lang="zh-TW" altLang="en-US" dirty="0"/>
                  <a:t>，</a:t>
                </a:r>
                <a:br>
                  <a:rPr lang="zh-TW" altLang="en-US" dirty="0"/>
                </a:br>
                <a:r>
                  <a:rPr lang="zh-TW" altLang="en-US" dirty="0"/>
                  <a:t>用來評估重建誤差與方法差異。</a:t>
                </a:r>
              </a:p>
              <a:p>
                <a:r>
                  <a:rPr lang="zh-TW" altLang="en-US" dirty="0"/>
                  <a:t>需要特別強調的是，</a:t>
                </a:r>
                <a:br>
                  <a:rPr lang="zh-TW" altLang="en-US" dirty="0"/>
                </a:br>
                <a:r>
                  <a:rPr lang="en-US" altLang="zh-TW" b="1" dirty="0"/>
                  <a:t>JHTDB </a:t>
                </a:r>
                <a:r>
                  <a:rPr lang="zh-TW" altLang="en-US" b="1" dirty="0"/>
                  <a:t>在本研究中主要用於事後的定量評估</a:t>
                </a:r>
                <a:r>
                  <a:rPr lang="zh-TW" altLang="en-US" dirty="0"/>
                  <a:t>，</a:t>
                </a:r>
                <a:br>
                  <a:rPr lang="zh-TW" altLang="en-US" dirty="0"/>
                </a:br>
                <a:r>
                  <a:rPr lang="zh-TW" altLang="en-US" dirty="0"/>
                  <a:t>例如相對 </a:t>
                </a:r>
                <a:r>
                  <a:rPr lang="ar-AE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𝐿_2</a:t>
                </a:r>
                <a:r>
                  <a:rPr lang="zh-TW" altLang="en-US" dirty="0"/>
                  <a:t>誤差或統計量比較，</a:t>
                </a:r>
                <a:br>
                  <a:rPr lang="zh-TW" altLang="en-US" dirty="0"/>
                </a:br>
                <a:r>
                  <a:rPr lang="zh-TW" altLang="en-US" b="1" dirty="0"/>
                  <a:t>並未在 </a:t>
                </a:r>
                <a:r>
                  <a:rPr lang="en-US" altLang="zh-TW" b="1" dirty="0"/>
                  <a:t>PINN </a:t>
                </a:r>
                <a:r>
                  <a:rPr lang="zh-TW" altLang="en-US" b="1" dirty="0"/>
                  <a:t>訓練或重建過程中直接使用 </a:t>
                </a:r>
                <a:r>
                  <a:rPr lang="en-US" altLang="zh-TW" b="1" dirty="0"/>
                  <a:t>DNS </a:t>
                </a:r>
                <a:r>
                  <a:rPr lang="zh-TW" altLang="en-US" b="1" dirty="0"/>
                  <a:t>場資訊</a:t>
                </a:r>
                <a:r>
                  <a:rPr lang="zh-TW" altLang="en-US" dirty="0"/>
                  <a:t>，</a:t>
                </a:r>
                <a:br>
                  <a:rPr lang="zh-TW" altLang="en-US" dirty="0"/>
                </a:br>
                <a:r>
                  <a:rPr lang="zh-TW" altLang="en-US" dirty="0"/>
                  <a:t>以避免任何資料洩漏的疑慮。</a:t>
                </a:r>
              </a:p>
              <a:p>
                <a:r>
                  <a:rPr lang="zh-TW" altLang="en-US" dirty="0"/>
                  <a:t>透過 </a:t>
                </a:r>
                <a:r>
                  <a:rPr lang="en-US" altLang="zh-TW" dirty="0"/>
                  <a:t>JHTDB </a:t>
                </a:r>
                <a:r>
                  <a:rPr lang="zh-TW" altLang="en-US" dirty="0"/>
                  <a:t>的 </a:t>
                </a:r>
                <a:r>
                  <a:rPr lang="en-US" altLang="zh-TW" dirty="0"/>
                  <a:t>web service </a:t>
                </a:r>
                <a:r>
                  <a:rPr lang="zh-TW" altLang="en-US" dirty="0"/>
                  <a:t>介面，</a:t>
                </a:r>
                <a:br>
                  <a:rPr lang="zh-TW" altLang="en-US" dirty="0"/>
                </a:br>
                <a:r>
                  <a:rPr lang="zh-TW" altLang="en-US" dirty="0"/>
                  <a:t>我可以在任意空間與時間座標上抽取對應的參考值，</a:t>
                </a:r>
                <a:br>
                  <a:rPr lang="zh-TW" altLang="en-US" dirty="0"/>
                </a:br>
                <a:r>
                  <a:rPr lang="zh-TW" altLang="en-US" dirty="0"/>
                  <a:t>這使得不同感測配置與重建結果之間</a:t>
                </a:r>
                <a:br>
                  <a:rPr lang="zh-TW" altLang="en-US" dirty="0"/>
                </a:br>
                <a:r>
                  <a:rPr lang="zh-TW" altLang="en-US" dirty="0"/>
                  <a:t>能夠在一致標準下進行比較。</a:t>
                </a:r>
              </a:p>
              <a:p>
                <a:r>
                  <a:rPr lang="zh-TW" altLang="en-US" dirty="0"/>
                  <a:t>因此，</a:t>
                </a:r>
                <a:r>
                  <a:rPr lang="en-US" altLang="zh-TW" dirty="0"/>
                  <a:t>JHTDB </a:t>
                </a:r>
                <a:r>
                  <a:rPr lang="zh-TW" altLang="en-US" dirty="0"/>
                  <a:t>在本研究中扮演的角色是</a:t>
                </a:r>
                <a:br>
                  <a:rPr lang="zh-TW" altLang="en-US" dirty="0"/>
                </a:br>
                <a:r>
                  <a:rPr lang="zh-TW" altLang="en-US" b="1" dirty="0"/>
                  <a:t>一個嚴格且可信的高擬真評估基準</a:t>
                </a:r>
                <a:r>
                  <a:rPr lang="zh-TW" altLang="en-US" dirty="0"/>
                  <a:t>，</a:t>
                </a:r>
                <a:br>
                  <a:rPr lang="zh-TW" altLang="en-US" dirty="0"/>
                </a:br>
                <a:r>
                  <a:rPr lang="zh-TW" altLang="en-US" dirty="0"/>
                  <a:t>而不是一個輔助訓練資料來源。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74600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E8C1A-6351-DEBB-284A-148A733A3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E0C354F2-2543-6226-C172-2516B0B184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56A0DEE-02C4-2709-9256-70F0915598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這一頁的表格，主要目的是</a:t>
            </a:r>
            <a:r>
              <a:rPr lang="zh-TW" altLang="en-US" b="1" dirty="0"/>
              <a:t>幫相關文獻做一個研究邏輯上的分類</a:t>
            </a:r>
            <a:r>
              <a:rPr lang="zh-TW" altLang="en-US" dirty="0"/>
              <a:t>，而不是單純依流場或方法區分。</a:t>
            </a:r>
            <a:br>
              <a:rPr lang="zh-TW" altLang="en-US" dirty="0"/>
            </a:br>
            <a:r>
              <a:rPr lang="zh-TW" altLang="en-US" dirty="0"/>
              <a:t>我將現有研究整理成三條主要研究線。</a:t>
            </a:r>
          </a:p>
          <a:p>
            <a:r>
              <a:rPr lang="zh-TW" altLang="en-US" dirty="0"/>
              <a:t>第一條研究線聚焦在 </a:t>
            </a:r>
            <a:r>
              <a:rPr lang="en-US" altLang="zh-TW" b="1" dirty="0"/>
              <a:t>wall-bounded turbulence</a:t>
            </a:r>
            <a:r>
              <a:rPr lang="zh-TW" altLang="en-US" dirty="0"/>
              <a:t>，例如 </a:t>
            </a:r>
            <a:r>
              <a:rPr lang="en-US" altLang="zh-TW" dirty="0"/>
              <a:t>channel flow </a:t>
            </a:r>
            <a:r>
              <a:rPr lang="zh-TW" altLang="en-US" dirty="0"/>
              <a:t>或 </a:t>
            </a:r>
            <a:r>
              <a:rPr lang="en-US" altLang="zh-TW" dirty="0"/>
              <a:t>TBL</a:t>
            </a:r>
            <a:r>
              <a:rPr lang="zh-TW" altLang="en-US" dirty="0"/>
              <a:t>，</a:t>
            </a:r>
            <a:br>
              <a:rPr lang="zh-TW" altLang="en-US" dirty="0"/>
            </a:br>
            <a:r>
              <a:rPr lang="zh-TW" altLang="en-US" dirty="0"/>
              <a:t>這一類研究的核心貢獻是證明：</a:t>
            </a:r>
            <a:r>
              <a:rPr lang="zh-TW" altLang="en-US" b="1" dirty="0"/>
              <a:t>在觀測資料非常有限的情況下，仍可透過 </a:t>
            </a:r>
            <a:r>
              <a:rPr lang="en-US" altLang="zh-TW" b="1" dirty="0"/>
              <a:t>Navier–Stokes </a:t>
            </a:r>
            <a:r>
              <a:rPr lang="zh-TW" altLang="en-US" b="1" dirty="0"/>
              <a:t>約束重建瞬時流場</a:t>
            </a:r>
            <a:r>
              <a:rPr lang="zh-TW" altLang="en-US" dirty="0"/>
              <a:t>。</a:t>
            </a:r>
            <a:br>
              <a:rPr lang="zh-TW" altLang="en-US" dirty="0"/>
            </a:br>
            <a:r>
              <a:rPr lang="zh-TW" altLang="en-US" dirty="0"/>
              <a:t>像 </a:t>
            </a:r>
            <a:r>
              <a:rPr lang="en-US" altLang="zh-TW" dirty="0"/>
              <a:t>Du et al. </a:t>
            </a:r>
            <a:r>
              <a:rPr lang="zh-TW" altLang="en-US" dirty="0"/>
              <a:t>以及 </a:t>
            </a:r>
            <a:r>
              <a:rPr lang="en-US" altLang="zh-TW" dirty="0"/>
              <a:t>Shin &amp; Schröder</a:t>
            </a:r>
            <a:r>
              <a:rPr lang="zh-TW" altLang="en-US" dirty="0"/>
              <a:t>，都分別從 </a:t>
            </a:r>
            <a:r>
              <a:rPr lang="en-US" altLang="zh-TW" dirty="0"/>
              <a:t>Eulerian mask </a:t>
            </a:r>
            <a:r>
              <a:rPr lang="zh-TW" altLang="en-US" dirty="0"/>
              <a:t>與 </a:t>
            </a:r>
            <a:r>
              <a:rPr lang="en-US" altLang="zh-TW" dirty="0" err="1"/>
              <a:t>Lagrangian</a:t>
            </a:r>
            <a:r>
              <a:rPr lang="en-US" altLang="zh-TW" dirty="0"/>
              <a:t> particle tracking </a:t>
            </a:r>
            <a:r>
              <a:rPr lang="zh-TW" altLang="en-US" dirty="0"/>
              <a:t>的角度，展示了這一點。</a:t>
            </a:r>
          </a:p>
          <a:p>
            <a:r>
              <a:rPr lang="zh-TW" altLang="en-US" dirty="0"/>
              <a:t>第二條研究線則是在 </a:t>
            </a:r>
            <a:r>
              <a:rPr lang="zh-TW" altLang="en-US" b="1" dirty="0"/>
              <a:t>複雜幾何中引入 </a:t>
            </a:r>
            <a:r>
              <a:rPr lang="en-US" altLang="zh-TW" b="1" dirty="0"/>
              <a:t>RANS </a:t>
            </a:r>
            <a:r>
              <a:rPr lang="zh-TW" altLang="en-US" b="1" dirty="0"/>
              <a:t>模型作為先驗</a:t>
            </a:r>
            <a:r>
              <a:rPr lang="zh-TW" altLang="en-US" dirty="0"/>
              <a:t>，</a:t>
            </a:r>
            <a:br>
              <a:rPr lang="zh-TW" altLang="en-US" dirty="0"/>
            </a:br>
            <a:r>
              <a:rPr lang="zh-TW" altLang="en-US" dirty="0"/>
              <a:t>代表性工作如 </a:t>
            </a:r>
            <a:r>
              <a:rPr lang="en-US" altLang="zh-TW" dirty="0"/>
              <a:t>Patel et al. </a:t>
            </a:r>
            <a:r>
              <a:rPr lang="zh-TW" altLang="en-US" dirty="0"/>
              <a:t>與 </a:t>
            </a:r>
            <a:r>
              <a:rPr lang="en-US" altLang="zh-TW" dirty="0"/>
              <a:t>Pioch et al.</a:t>
            </a:r>
            <a:r>
              <a:rPr lang="zh-TW" altLang="en-US" dirty="0"/>
              <a:t>，</a:t>
            </a:r>
            <a:br>
              <a:rPr lang="zh-TW" altLang="en-US" dirty="0"/>
            </a:br>
            <a:r>
              <a:rPr lang="zh-TW" altLang="en-US" dirty="0"/>
              <a:t>它們的主要貢獻是：</a:t>
            </a:r>
            <a:r>
              <a:rPr lang="zh-TW" altLang="en-US" b="1" dirty="0"/>
              <a:t>在資料不足時，</a:t>
            </a:r>
            <a:r>
              <a:rPr lang="en-US" altLang="zh-TW" b="1" dirty="0"/>
              <a:t>RANS closure </a:t>
            </a:r>
            <a:r>
              <a:rPr lang="zh-TW" altLang="en-US" b="1" dirty="0"/>
              <a:t>可以有效穩定反問題求解</a:t>
            </a:r>
            <a:r>
              <a:rPr lang="zh-TW" altLang="en-US" dirty="0"/>
              <a:t>，</a:t>
            </a:r>
            <a:br>
              <a:rPr lang="zh-TW" altLang="en-US" dirty="0"/>
            </a:br>
            <a:r>
              <a:rPr lang="zh-TW" altLang="en-US" dirty="0"/>
              <a:t>但同時也引入了先驗偏差的問題。</a:t>
            </a:r>
          </a:p>
          <a:p>
            <a:r>
              <a:rPr lang="zh-TW" altLang="en-US" dirty="0"/>
              <a:t>第三條研究線屬於較通用的 </a:t>
            </a:r>
            <a:r>
              <a:rPr lang="en-US" altLang="zh-TW" b="1" dirty="0"/>
              <a:t>PDE-constrained inverse PINN</a:t>
            </a:r>
            <a:r>
              <a:rPr lang="en-US" altLang="zh-TW" dirty="0"/>
              <a:t> </a:t>
            </a:r>
            <a:r>
              <a:rPr lang="zh-TW" altLang="en-US" dirty="0"/>
              <a:t>架構，</a:t>
            </a:r>
            <a:br>
              <a:rPr lang="zh-TW" altLang="en-US" dirty="0"/>
            </a:br>
            <a:r>
              <a:rPr lang="zh-TW" altLang="en-US" dirty="0"/>
              <a:t>這一類研究的重點不在特定流場，而在於</a:t>
            </a:r>
            <a:r>
              <a:rPr lang="zh-TW" altLang="en-US" b="1" dirty="0"/>
              <a:t>感測稀疏性本身對反問題可解性的影響</a:t>
            </a:r>
            <a:r>
              <a:rPr lang="zh-TW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4878298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7AE55-AC2C-1F3E-BF59-2C7DFDB61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7B064A6B-E7CF-F378-9CA4-1E646BC5A6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58F9495-BA55-E565-F469-56F4F01C9E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在第二張表中，我進一步從 </a:t>
            </a:r>
            <a:r>
              <a:rPr lang="zh-TW" altLang="en-US" b="1" dirty="0"/>
              <a:t>觀測型式、物理約束、感測策略與主要限制</a:t>
            </a:r>
            <a:r>
              <a:rPr lang="zh-TW" altLang="en-US" dirty="0"/>
              <a:t> 四個面向做比較。</a:t>
            </a:r>
          </a:p>
          <a:p>
            <a:r>
              <a:rPr lang="zh-TW" altLang="en-US" dirty="0"/>
              <a:t>例如，</a:t>
            </a:r>
            <a:r>
              <a:rPr lang="en-US" altLang="zh-TW" dirty="0"/>
              <a:t>Du et al. </a:t>
            </a:r>
            <a:r>
              <a:rPr lang="zh-TW" altLang="en-US" dirty="0"/>
              <a:t>的重要貢獻在於，</a:t>
            </a:r>
            <a:br>
              <a:rPr lang="zh-TW" altLang="en-US" dirty="0"/>
            </a:br>
            <a:r>
              <a:rPr lang="zh-TW" altLang="en-US" dirty="0"/>
              <a:t>他們證明了</a:t>
            </a:r>
            <a:r>
              <a:rPr lang="zh-TW" altLang="en-US" b="1" dirty="0"/>
              <a:t>即使只有非常稀疏的 </a:t>
            </a:r>
            <a:r>
              <a:rPr lang="en-US" altLang="zh-TW" b="1" dirty="0"/>
              <a:t>Eulerian </a:t>
            </a:r>
            <a:r>
              <a:rPr lang="zh-TW" altLang="en-US" b="1" dirty="0"/>
              <a:t>速度量測，只要結合完整的 </a:t>
            </a:r>
            <a:r>
              <a:rPr lang="en-US" altLang="zh-TW" b="1" dirty="0"/>
              <a:t>Navier–Stokes </a:t>
            </a:r>
            <a:r>
              <a:rPr lang="zh-TW" altLang="en-US" b="1" dirty="0"/>
              <a:t>方程，仍能在局部區域內重建流場</a:t>
            </a:r>
            <a:r>
              <a:rPr lang="zh-TW" altLang="en-US" dirty="0"/>
              <a:t>。</a:t>
            </a:r>
            <a:br>
              <a:rPr lang="zh-TW" altLang="en-US" dirty="0"/>
            </a:br>
            <a:r>
              <a:rPr lang="zh-TW" altLang="en-US" dirty="0"/>
              <a:t>但其限制在於，感測區域是預先給定的，重建效果會明顯隨距離衰減。</a:t>
            </a:r>
          </a:p>
          <a:p>
            <a:r>
              <a:rPr lang="zh-TW" altLang="en-US" dirty="0"/>
              <a:t>另一個例子是 </a:t>
            </a:r>
            <a:r>
              <a:rPr lang="en-US" altLang="zh-TW" dirty="0"/>
              <a:t>Shin &amp; Schröder</a:t>
            </a:r>
            <a:r>
              <a:rPr lang="zh-TW" altLang="en-US" dirty="0"/>
              <a:t>，他們使用 </a:t>
            </a:r>
            <a:r>
              <a:rPr lang="en-US" altLang="zh-TW" b="1" dirty="0" err="1"/>
              <a:t>Lagrangian</a:t>
            </a:r>
            <a:r>
              <a:rPr lang="en-US" altLang="zh-TW" b="1" dirty="0"/>
              <a:t> particle tracking</a:t>
            </a:r>
            <a:r>
              <a:rPr lang="zh-TW" altLang="en-US" dirty="0"/>
              <a:t>，</a:t>
            </a:r>
            <a:br>
              <a:rPr lang="zh-TW" altLang="en-US" dirty="0"/>
            </a:br>
            <a:r>
              <a:rPr lang="zh-TW" altLang="en-US" dirty="0"/>
              <a:t>展示了粒子軌跡可以攜帶豐富的動力學資訊，</a:t>
            </a:r>
            <a:br>
              <a:rPr lang="zh-TW" altLang="en-US" dirty="0"/>
            </a:br>
            <a:r>
              <a:rPr lang="zh-TW" altLang="en-US" dirty="0"/>
              <a:t>然而其結果對粒子密度與雜訊相當敏感。</a:t>
            </a:r>
          </a:p>
          <a:p>
            <a:r>
              <a:rPr lang="zh-TW" altLang="en-US" dirty="0"/>
              <a:t>整體來看，這些研究各自在特定設定下非常成功，</a:t>
            </a:r>
            <a:br>
              <a:rPr lang="zh-TW" altLang="en-US" dirty="0"/>
            </a:br>
            <a:r>
              <a:rPr lang="zh-TW" altLang="en-US" dirty="0"/>
              <a:t>但多半假設感測配置已知，或侷限於平均流、低雷諾數，</a:t>
            </a:r>
            <a:br>
              <a:rPr lang="zh-TW" altLang="en-US" dirty="0"/>
            </a:br>
            <a:r>
              <a:rPr lang="zh-TW" altLang="en-US" dirty="0"/>
              <a:t>尚未同時處理 </a:t>
            </a:r>
            <a:r>
              <a:rPr lang="zh-TW" altLang="en-US" b="1" dirty="0"/>
              <a:t>高 </a:t>
            </a:r>
            <a:r>
              <a:rPr lang="en-US" altLang="zh-TW" b="1" dirty="0"/>
              <a:t>Re</a:t>
            </a:r>
            <a:r>
              <a:rPr lang="zh-TW" altLang="en-US" b="1" dirty="0"/>
              <a:t>、三維 </a:t>
            </a:r>
            <a:r>
              <a:rPr lang="en-US" altLang="zh-TW" b="1" dirty="0"/>
              <a:t>channel flow </a:t>
            </a:r>
            <a:r>
              <a:rPr lang="zh-TW" altLang="en-US" b="1" dirty="0"/>
              <a:t>與極端稀疏感測</a:t>
            </a:r>
            <a:r>
              <a:rPr lang="zh-TW" altLang="en-US" dirty="0"/>
              <a:t> 這個組合情境。</a:t>
            </a:r>
          </a:p>
          <a:p>
            <a:br>
              <a:rPr lang="zh-TW" altLang="en-US" dirty="0"/>
            </a:br>
            <a:r>
              <a:rPr lang="zh-TW" altLang="en-US" dirty="0"/>
              <a:t>可以看到，多數研究要嘛假設 </a:t>
            </a:r>
            <a:r>
              <a:rPr lang="zh-TW" altLang="en-US" b="1" dirty="0"/>
              <a:t>感測配置已知</a:t>
            </a:r>
            <a:r>
              <a:rPr lang="zh-TW" altLang="en-US" dirty="0"/>
              <a:t>，要嘛僅處理 </a:t>
            </a:r>
            <a:r>
              <a:rPr lang="zh-TW" altLang="en-US" b="1" dirty="0"/>
              <a:t>平均流或低雷諾數情境</a:t>
            </a:r>
            <a:r>
              <a:rPr lang="zh-TW" altLang="en-US" dirty="0"/>
              <a:t>，</a:t>
            </a:r>
            <a:br>
              <a:rPr lang="zh-TW" altLang="en-US" dirty="0"/>
            </a:br>
            <a:r>
              <a:rPr lang="zh-TW" altLang="en-US" dirty="0"/>
              <a:t>或是在 </a:t>
            </a:r>
            <a:r>
              <a:rPr lang="en-US" altLang="zh-TW" dirty="0" err="1"/>
              <a:t>Lagrangian</a:t>
            </a:r>
            <a:r>
              <a:rPr lang="en-US" altLang="zh-TW" dirty="0"/>
              <a:t> </a:t>
            </a:r>
            <a:r>
              <a:rPr lang="zh-TW" altLang="en-US" dirty="0"/>
              <a:t>觀測下，受限於 </a:t>
            </a:r>
            <a:r>
              <a:rPr lang="zh-TW" altLang="en-US" b="1" dirty="0"/>
              <a:t>粒子密度與雜訊敏感度</a:t>
            </a:r>
            <a:r>
              <a:rPr lang="zh-TW" altLang="en-US" dirty="0"/>
              <a:t>。</a:t>
            </a:r>
          </a:p>
          <a:p>
            <a:r>
              <a:rPr lang="zh-TW" altLang="en-US" dirty="0"/>
              <a:t>換言之，這些研究各自解決了部分問題，</a:t>
            </a:r>
            <a:br>
              <a:rPr lang="zh-TW" altLang="en-US" dirty="0"/>
            </a:br>
            <a:r>
              <a:rPr lang="zh-TW" altLang="en-US" dirty="0"/>
              <a:t>但在 </a:t>
            </a:r>
            <a:r>
              <a:rPr lang="zh-TW" altLang="en-US" b="1" dirty="0"/>
              <a:t>三維高 </a:t>
            </a:r>
            <a:r>
              <a:rPr lang="en-US" altLang="zh-TW" b="1" dirty="0"/>
              <a:t>Re channel flow</a:t>
            </a:r>
            <a:r>
              <a:rPr lang="zh-TW" altLang="en-US" b="1" dirty="0"/>
              <a:t>、極端稀疏感測、以及感測策略本身</a:t>
            </a:r>
            <a:r>
              <a:rPr lang="zh-TW" altLang="en-US" dirty="0"/>
              <a:t> 這三件事同時存在的情境下，仍有明顯限制。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184466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第三張表關注的不是模型本身，而是</a:t>
            </a:r>
            <a:r>
              <a:rPr lang="zh-TW" altLang="en-US" b="1" dirty="0"/>
              <a:t>不同研究如何定義與報告感測稀疏性</a:t>
            </a:r>
            <a:r>
              <a:rPr lang="zh-TW" altLang="en-US" dirty="0"/>
              <a:t>。</a:t>
            </a:r>
            <a:br>
              <a:rPr lang="zh-TW" altLang="en-US" dirty="0"/>
            </a:br>
            <a:r>
              <a:rPr lang="zh-TW" altLang="en-US" dirty="0"/>
              <a:t>可以看到，有些研究以 </a:t>
            </a:r>
            <a:r>
              <a:rPr lang="en-US" altLang="zh-TW" dirty="0"/>
              <a:t>observation mask </a:t>
            </a:r>
            <a:r>
              <a:rPr lang="zh-TW" altLang="en-US" dirty="0"/>
              <a:t>表示，有些用粒子密度、解析度或覆蓋率來描述，</a:t>
            </a:r>
            <a:br>
              <a:rPr lang="zh-TW" altLang="en-US" dirty="0"/>
            </a:br>
            <a:r>
              <a:rPr lang="zh-TW" altLang="en-US" dirty="0"/>
              <a:t>但多半是隱含的，且彼此之間難以直接比較。</a:t>
            </a:r>
          </a:p>
          <a:p>
            <a:r>
              <a:rPr lang="zh-TW" altLang="en-US" dirty="0"/>
              <a:t>例如，</a:t>
            </a:r>
            <a:r>
              <a:rPr lang="en-US" altLang="zh-TW" dirty="0"/>
              <a:t>Du et al. </a:t>
            </a:r>
            <a:r>
              <a:rPr lang="zh-TW" altLang="en-US" dirty="0"/>
              <a:t>的稀疏性是透過 </a:t>
            </a:r>
            <a:r>
              <a:rPr lang="en-US" altLang="zh-TW" dirty="0"/>
              <a:t>mask </a:t>
            </a:r>
            <a:r>
              <a:rPr lang="zh-TW" altLang="en-US" dirty="0"/>
              <a:t>隱含給定的，</a:t>
            </a:r>
            <a:br>
              <a:rPr lang="zh-TW" altLang="en-US" dirty="0"/>
            </a:br>
            <a:r>
              <a:rPr lang="zh-TW" altLang="en-US" dirty="0"/>
              <a:t>而 </a:t>
            </a:r>
            <a:r>
              <a:rPr lang="en-US" altLang="zh-TW" dirty="0"/>
              <a:t>Shin &amp; Schröder </a:t>
            </a:r>
            <a:r>
              <a:rPr lang="zh-TW" altLang="en-US" dirty="0"/>
              <a:t>則是以每一影格的粒子數量來表徵，</a:t>
            </a:r>
            <a:br>
              <a:rPr lang="zh-TW" altLang="en-US" dirty="0"/>
            </a:br>
            <a:r>
              <a:rPr lang="zh-TW" altLang="en-US" dirty="0"/>
              <a:t>這使得跨研究比較實際「觀測成本」變得困難。</a:t>
            </a:r>
          </a:p>
          <a:p>
            <a:r>
              <a:rPr lang="zh-TW" altLang="en-US" dirty="0"/>
              <a:t>因此，本論文後續採用一個</a:t>
            </a:r>
            <a:r>
              <a:rPr lang="zh-TW" altLang="en-US" b="1" dirty="0"/>
              <a:t>明確的 </a:t>
            </a:r>
            <a:r>
              <a:rPr lang="en-US" altLang="zh-TW" b="1" dirty="0"/>
              <a:t>observation budget accounting </a:t>
            </a:r>
            <a:r>
              <a:rPr lang="zh-TW" altLang="en-US" b="1" dirty="0"/>
              <a:t>方式</a:t>
            </a:r>
            <a:r>
              <a:rPr lang="zh-TW" altLang="en-US" dirty="0"/>
              <a:t>，</a:t>
            </a:r>
            <a:br>
              <a:rPr lang="zh-TW" altLang="en-US" dirty="0"/>
            </a:br>
            <a:r>
              <a:rPr lang="zh-TW" altLang="en-US" dirty="0"/>
              <a:t>將感測點數、時間樣本數與觀測維度系統性納入，</a:t>
            </a:r>
            <a:br>
              <a:rPr lang="zh-TW" altLang="en-US" dirty="0"/>
            </a:br>
            <a:r>
              <a:rPr lang="zh-TW" altLang="en-US" dirty="0"/>
              <a:t>作為分析 </a:t>
            </a:r>
            <a:r>
              <a:rPr lang="en-US" altLang="zh-TW" dirty="0"/>
              <a:t>sensing limit </a:t>
            </a:r>
            <a:r>
              <a:rPr lang="zh-TW" altLang="en-US" dirty="0"/>
              <a:t>與選點策略的共同基準。</a:t>
            </a:r>
          </a:p>
        </p:txBody>
      </p:sp>
    </p:spTree>
    <p:extLst>
      <p:ext uri="{BB962C8B-B14F-4D97-AF65-F5344CB8AC3E}">
        <p14:creationId xmlns:p14="http://schemas.microsoft.com/office/powerpoint/2010/main" val="7082124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61E3A-C950-AF30-9D5D-41F226FB3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BDD08E5A-29E7-1477-4E37-702E990971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DA7D1BD-4266-A9AB-12FE-F76D3E6F36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綜合前面的文獻整理，可以看到現有研究通常是在三種取向中擇一。</a:t>
            </a:r>
            <a:br>
              <a:rPr lang="zh-TW" altLang="en-US" dirty="0"/>
            </a:br>
            <a:r>
              <a:rPr lang="zh-TW" altLang="en-US" dirty="0"/>
              <a:t>一類研究聚焦於 </a:t>
            </a:r>
            <a:r>
              <a:rPr lang="en-US" altLang="zh-TW" b="1" dirty="0"/>
              <a:t>channel turbulence</a:t>
            </a:r>
            <a:r>
              <a:rPr lang="zh-TW" altLang="en-US" dirty="0"/>
              <a:t>，但多半假設感測位置已事先給定；</a:t>
            </a:r>
            <a:br>
              <a:rPr lang="zh-TW" altLang="en-US" dirty="0"/>
            </a:br>
            <a:r>
              <a:rPr lang="zh-TW" altLang="en-US" dirty="0"/>
              <a:t>另一類研究引入 </a:t>
            </a:r>
            <a:r>
              <a:rPr lang="en-US" altLang="zh-TW" b="1" dirty="0"/>
              <a:t>RANS </a:t>
            </a:r>
            <a:r>
              <a:rPr lang="zh-TW" altLang="en-US" b="1" dirty="0"/>
              <a:t>作為先驗</a:t>
            </a:r>
            <a:r>
              <a:rPr lang="zh-TW" altLang="en-US" dirty="0"/>
              <a:t>，以彌補資料不足，但並未系統性探討 </a:t>
            </a:r>
            <a:r>
              <a:rPr lang="zh-TW" altLang="en-US" b="1" dirty="0"/>
              <a:t>極端感測稀疏的情境</a:t>
            </a:r>
            <a:r>
              <a:rPr lang="zh-TW" altLang="en-US" dirty="0"/>
              <a:t>；</a:t>
            </a:r>
            <a:br>
              <a:rPr lang="zh-TW" altLang="en-US" dirty="0"/>
            </a:br>
            <a:r>
              <a:rPr lang="zh-TW" altLang="en-US" dirty="0"/>
              <a:t>也有研究探討 </a:t>
            </a:r>
            <a:r>
              <a:rPr lang="zh-TW" altLang="en-US" b="1" dirty="0"/>
              <a:t>稀疏 </a:t>
            </a:r>
            <a:r>
              <a:rPr lang="en-US" altLang="zh-TW" b="1" dirty="0"/>
              <a:t>inverse PINNs</a:t>
            </a:r>
            <a:r>
              <a:rPr lang="zh-TW" altLang="en-US" dirty="0"/>
              <a:t>，但對於感測預算的定義往往是隱含或不一致的。</a:t>
            </a:r>
          </a:p>
          <a:p>
            <a:r>
              <a:rPr lang="zh-TW" altLang="en-US" dirty="0"/>
              <a:t>本論文的定位是在這三種取向的交集上，</a:t>
            </a:r>
            <a:br>
              <a:rPr lang="zh-TW" altLang="en-US" dirty="0"/>
            </a:br>
            <a:r>
              <a:rPr lang="zh-TW" altLang="en-US" dirty="0"/>
              <a:t>以 </a:t>
            </a:r>
            <a:r>
              <a:rPr lang="zh-TW" altLang="en-US" b="1" dirty="0"/>
              <a:t>高雷諾數三維 </a:t>
            </a:r>
            <a:r>
              <a:rPr lang="en-US" altLang="zh-TW" b="1" dirty="0"/>
              <a:t>channel flow</a:t>
            </a:r>
            <a:r>
              <a:rPr lang="en-US" altLang="zh-TW" dirty="0"/>
              <a:t> </a:t>
            </a:r>
            <a:r>
              <a:rPr lang="zh-TW" altLang="en-US" dirty="0"/>
              <a:t>為目標流場，</a:t>
            </a:r>
            <a:br>
              <a:rPr lang="zh-TW" altLang="en-US" dirty="0"/>
            </a:br>
            <a:r>
              <a:rPr lang="zh-TW" altLang="en-US" dirty="0"/>
              <a:t>在 </a:t>
            </a:r>
            <a:r>
              <a:rPr lang="en-US" altLang="zh-TW" b="1" dirty="0"/>
              <a:t>K ≤ 100 </a:t>
            </a:r>
            <a:r>
              <a:rPr lang="zh-TW" altLang="en-US" b="1" dirty="0"/>
              <a:t>的極端稀疏感測條件</a:t>
            </a:r>
            <a:r>
              <a:rPr lang="zh-TW" altLang="en-US" dirty="0"/>
              <a:t> 下，</a:t>
            </a:r>
            <a:br>
              <a:rPr lang="zh-TW" altLang="en-US" dirty="0"/>
            </a:br>
            <a:r>
              <a:rPr lang="zh-TW" altLang="en-US" dirty="0"/>
              <a:t>結合 </a:t>
            </a:r>
            <a:r>
              <a:rPr lang="en-US" altLang="zh-TW" b="1" dirty="0"/>
              <a:t>RANS </a:t>
            </a:r>
            <a:r>
              <a:rPr lang="zh-TW" altLang="en-US" b="1" dirty="0"/>
              <a:t>作為 </a:t>
            </a:r>
            <a:r>
              <a:rPr lang="en-US" altLang="zh-TW" b="1" dirty="0"/>
              <a:t>soft prior</a:t>
            </a:r>
            <a:r>
              <a:rPr lang="zh-TW" altLang="en-US" dirty="0"/>
              <a:t>，並透過 </a:t>
            </a:r>
            <a:r>
              <a:rPr lang="en-US" altLang="zh-TW" b="1" dirty="0"/>
              <a:t>QR pivoting </a:t>
            </a:r>
            <a:r>
              <a:rPr lang="zh-TW" altLang="en-US" b="1" dirty="0"/>
              <a:t>系統性選點</a:t>
            </a:r>
            <a:r>
              <a:rPr lang="zh-TW" altLang="en-US" dirty="0"/>
              <a:t>，</a:t>
            </a:r>
            <a:br>
              <a:rPr lang="zh-TW" altLang="en-US" dirty="0"/>
            </a:br>
            <a:r>
              <a:rPr lang="zh-TW" altLang="en-US" dirty="0"/>
              <a:t>同時採用一個</a:t>
            </a:r>
            <a:r>
              <a:rPr lang="zh-TW" altLang="en-US" b="1" dirty="0"/>
              <a:t>明確的 </a:t>
            </a:r>
            <a:r>
              <a:rPr lang="en-US" altLang="zh-TW" b="1" dirty="0"/>
              <a:t>observation budget </a:t>
            </a:r>
            <a:r>
              <a:rPr lang="zh-TW" altLang="en-US" b="1" dirty="0"/>
              <a:t>定義</a:t>
            </a:r>
            <a:r>
              <a:rPr lang="zh-TW" altLang="en-US" dirty="0"/>
              <a:t>，</a:t>
            </a:r>
            <a:br>
              <a:rPr lang="zh-TW" altLang="en-US" dirty="0"/>
            </a:br>
            <a:r>
              <a:rPr lang="zh-TW" altLang="en-US" dirty="0"/>
              <a:t>來分析可行的 </a:t>
            </a:r>
            <a:r>
              <a:rPr lang="en-US" altLang="zh-TW" dirty="0"/>
              <a:t>sensing limit </a:t>
            </a:r>
            <a:r>
              <a:rPr lang="zh-TW" altLang="en-US" dirty="0"/>
              <a:t>與穩定重建能力。</a:t>
            </a:r>
          </a:p>
        </p:txBody>
      </p:sp>
    </p:spTree>
    <p:extLst>
      <p:ext uri="{BB962C8B-B14F-4D97-AF65-F5344CB8AC3E}">
        <p14:creationId xmlns:p14="http://schemas.microsoft.com/office/powerpoint/2010/main" val="37615736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D06A0-9D31-1964-55E9-233A2E7B3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5535B7BF-188A-CFEC-7179-4228CF02D8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C22A83A-D172-AC9C-2795-38CED37DE0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這一頁我想進一步說明，</a:t>
            </a:r>
            <a:r>
              <a:rPr lang="zh-TW" altLang="en-US" b="1" dirty="0"/>
              <a:t>為什麼湍流重建在實際工程中特別困難</a:t>
            </a:r>
            <a:r>
              <a:rPr lang="zh-TW" altLang="en-US" dirty="0"/>
              <a:t>，而且困難點來自兩個不同層面。</a:t>
            </a:r>
          </a:p>
          <a:p>
            <a:r>
              <a:rPr lang="zh-TW" altLang="en-US" dirty="0"/>
              <a:t>首先，在左圖可以看到，學術研究中常見的設定是假設可以取得 </a:t>
            </a:r>
            <a:r>
              <a:rPr lang="zh-TW" altLang="en-US" b="1" dirty="0"/>
              <a:t>約 </a:t>
            </a:r>
            <a:r>
              <a:rPr lang="en-US" altLang="zh-TW" b="1" dirty="0"/>
              <a:t>1–5% </a:t>
            </a:r>
            <a:r>
              <a:rPr lang="zh-TW" altLang="en-US" b="1" dirty="0"/>
              <a:t>的隨機量測點</a:t>
            </a:r>
            <a:r>
              <a:rPr lang="zh-TW" altLang="en-US" dirty="0"/>
              <a:t>，</a:t>
            </a:r>
            <a:br>
              <a:rPr lang="zh-TW" altLang="en-US" dirty="0"/>
            </a:br>
            <a:r>
              <a:rPr lang="zh-TW" altLang="en-US" dirty="0"/>
              <a:t>但在實際工程情境下，我們往往只能部署 </a:t>
            </a:r>
            <a:r>
              <a:rPr lang="zh-TW" altLang="en-US" b="1" dirty="0"/>
              <a:t>極少數固定感測器</a:t>
            </a:r>
            <a:r>
              <a:rPr lang="zh-TW" altLang="en-US" dirty="0"/>
              <a:t>，</a:t>
            </a:r>
            <a:br>
              <a:rPr lang="zh-TW" altLang="en-US" dirty="0"/>
            </a:br>
            <a:r>
              <a:rPr lang="zh-TW" altLang="en-US" dirty="0"/>
              <a:t>實務上可用的感測點數通常 </a:t>
            </a:r>
            <a:r>
              <a:rPr lang="zh-TW" altLang="en-US" b="1" dirty="0"/>
              <a:t>不超過 </a:t>
            </a:r>
            <a:r>
              <a:rPr lang="en-US" altLang="zh-TW" b="1" dirty="0"/>
              <a:t>K = 100</a:t>
            </a:r>
            <a:r>
              <a:rPr lang="zh-TW" altLang="en-US" dirty="0"/>
              <a:t>。</a:t>
            </a:r>
            <a:br>
              <a:rPr lang="zh-TW" altLang="en-US" dirty="0"/>
            </a:br>
            <a:r>
              <a:rPr lang="zh-TW" altLang="en-US" dirty="0"/>
              <a:t>在這樣的條件下，</a:t>
            </a:r>
            <a:r>
              <a:rPr lang="zh-TW" altLang="en-US" b="1" dirty="0"/>
              <a:t>隨機取樣在物理上與工程上都是不可行的</a:t>
            </a:r>
            <a:r>
              <a:rPr lang="zh-TW" altLang="en-US" dirty="0"/>
              <a:t>，</a:t>
            </a:r>
            <a:br>
              <a:rPr lang="zh-TW" altLang="en-US" dirty="0"/>
            </a:br>
            <a:r>
              <a:rPr lang="zh-TW" altLang="en-US" dirty="0"/>
              <a:t>也意味著感測位置本身必須被視為一個設計問題。</a:t>
            </a:r>
          </a:p>
          <a:p>
            <a:r>
              <a:rPr lang="zh-TW" altLang="en-US" dirty="0"/>
              <a:t>第二個困難則來自數值與最佳化層面。</a:t>
            </a:r>
            <a:br>
              <a:rPr lang="zh-TW" altLang="en-US" dirty="0"/>
            </a:br>
            <a:r>
              <a:rPr lang="zh-TW" altLang="en-US" dirty="0"/>
              <a:t>在 </a:t>
            </a:r>
            <a:r>
              <a:rPr lang="zh-TW" altLang="en-US" b="1" dirty="0"/>
              <a:t>高雷諾數三維湍流</a:t>
            </a:r>
            <a:r>
              <a:rPr lang="zh-TW" altLang="en-US" dirty="0"/>
              <a:t> 中，流場包含大量尖銳梯度與多尺度結構，</a:t>
            </a:r>
            <a:br>
              <a:rPr lang="zh-TW" altLang="en-US" dirty="0"/>
            </a:br>
            <a:r>
              <a:rPr lang="zh-TW" altLang="en-US" dirty="0"/>
              <a:t>這會導致 </a:t>
            </a:r>
            <a:r>
              <a:rPr lang="zh-TW" altLang="en-US" b="1" dirty="0"/>
              <a:t>資料誤差項與 </a:t>
            </a:r>
            <a:r>
              <a:rPr lang="en-US" altLang="zh-TW" b="1" dirty="0"/>
              <a:t>PDE </a:t>
            </a:r>
            <a:r>
              <a:rPr lang="zh-TW" altLang="en-US" b="1" dirty="0"/>
              <a:t>約束項之間存在嚴重尺度不匹配</a:t>
            </a:r>
            <a:r>
              <a:rPr lang="zh-TW" altLang="en-US" dirty="0"/>
              <a:t>。</a:t>
            </a:r>
            <a:br>
              <a:rPr lang="zh-TW" altLang="en-US" dirty="0"/>
            </a:br>
            <a:r>
              <a:rPr lang="zh-TW" altLang="en-US" dirty="0"/>
              <a:t>實際訓練時，這種不平衡常表現為梯度震盪或發散，</a:t>
            </a:r>
            <a:br>
              <a:rPr lang="zh-TW" altLang="en-US" dirty="0"/>
            </a:br>
            <a:r>
              <a:rPr lang="zh-TW" altLang="en-US" dirty="0"/>
              <a:t>也就是右圖所示的 </a:t>
            </a:r>
            <a:r>
              <a:rPr lang="en-US" altLang="zh-TW" b="1" dirty="0"/>
              <a:t>gradient pathology</a:t>
            </a:r>
            <a:r>
              <a:rPr lang="zh-TW" altLang="en-US" dirty="0"/>
              <a:t>。</a:t>
            </a:r>
          </a:p>
          <a:p>
            <a:r>
              <a:rPr lang="zh-TW" altLang="en-US" dirty="0"/>
              <a:t>因此，本研究的核心動機在於：</a:t>
            </a:r>
            <a:br>
              <a:rPr lang="zh-TW" altLang="en-US" dirty="0"/>
            </a:br>
            <a:r>
              <a:rPr lang="zh-TW" altLang="en-US" b="1" dirty="0"/>
              <a:t>同時處理感測設計問題，以及高 </a:t>
            </a:r>
            <a:r>
              <a:rPr lang="en-US" altLang="zh-TW" b="1" dirty="0"/>
              <a:t>Re </a:t>
            </a:r>
            <a:r>
              <a:rPr lang="zh-TW" altLang="en-US" b="1" dirty="0"/>
              <a:t>湍流下的訓練穩定性問題</a:t>
            </a:r>
            <a:r>
              <a:rPr lang="zh-TW" altLang="en-US" dirty="0"/>
              <a:t>，</a:t>
            </a:r>
            <a:br>
              <a:rPr lang="zh-TW" altLang="en-US" dirty="0"/>
            </a:br>
            <a:r>
              <a:rPr lang="zh-TW" altLang="en-US" dirty="0"/>
              <a:t>而不是只關注其中之一。</a:t>
            </a:r>
          </a:p>
        </p:txBody>
      </p:sp>
    </p:spTree>
    <p:extLst>
      <p:ext uri="{BB962C8B-B14F-4D97-AF65-F5344CB8AC3E}">
        <p14:creationId xmlns:p14="http://schemas.microsoft.com/office/powerpoint/2010/main" val="18413598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122321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在本研究中，我的目標可以分成三個層次，分別對應 </a:t>
                </a:r>
                <a:r>
                  <a:rPr lang="zh-TW" altLang="en-US" b="1" dirty="0"/>
                  <a:t>感測設計、資料融合，以及高雷諾數下的訓練穩定性</a:t>
                </a:r>
                <a:r>
                  <a:rPr lang="zh-TW" altLang="en-US" dirty="0"/>
                  <a:t>。</a:t>
                </a:r>
              </a:p>
              <a:p>
                <a:r>
                  <a:rPr lang="zh-TW" altLang="en-US" dirty="0"/>
                  <a:t>第一個目標，是</a:t>
                </a:r>
                <a:r>
                  <a:rPr lang="zh-TW" altLang="en-US" b="1" dirty="0"/>
                  <a:t>量化在三維 </a:t>
                </a:r>
                <a:r>
                  <a:rPr lang="en-US" altLang="zh-TW" b="1" dirty="0"/>
                  <a:t>channel flow </a:t>
                </a:r>
                <a:r>
                  <a:rPr lang="zh-TW" altLang="en-US" b="1" dirty="0"/>
                  <a:t>中的 </a:t>
                </a:r>
                <a:r>
                  <a:rPr lang="en-US" altLang="zh-TW" b="1" dirty="0"/>
                  <a:t>sensing limit</a:t>
                </a:r>
                <a:r>
                  <a:rPr lang="zh-TW" altLang="en-US" dirty="0"/>
                  <a:t>。</a:t>
                </a:r>
                <a:br>
                  <a:rPr lang="zh-TW" altLang="en-US" dirty="0"/>
                </a:br>
                <a:r>
                  <a:rPr lang="zh-TW" altLang="en-US" dirty="0"/>
                  <a:t>我將 </a:t>
                </a:r>
                <a:r>
                  <a:rPr lang="en-US" altLang="zh-TW" dirty="0"/>
                  <a:t>sensing limit </a:t>
                </a:r>
                <a:r>
                  <a:rPr lang="zh-TW" altLang="en-US" dirty="0"/>
                  <a:t>定義為：在給定誤差門檻下，能夠達成重建的</a:t>
                </a:r>
                <a:r>
                  <a:rPr lang="zh-TW" altLang="en-US" b="1" dirty="0"/>
                  <a:t>最小感測點數 </a:t>
                </a:r>
                <a:r>
                  <a:rPr lang="en-US" altLang="zh-TW" b="1" dirty="0"/>
                  <a:t>K*</a:t>
                </a:r>
                <a:r>
                  <a:rPr lang="zh-TW" altLang="en-US" dirty="0"/>
                  <a:t>。</a:t>
                </a:r>
                <a:br>
                  <a:rPr lang="zh-TW" altLang="en-US" dirty="0"/>
                </a:br>
                <a:r>
                  <a:rPr lang="zh-TW" altLang="en-US" dirty="0"/>
                  <a:t>具體而言，我以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altLang="zh-TW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altLang="zh-TW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𝑢</m:t>
                        </m:r>
                      </m:e>
                      <m:e>
                        <m:r>
                          <a:rPr lang="ar-AE" altLang="zh-TW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𝑣</m:t>
                        </m:r>
                      </m:e>
                      <m:e>
                        <m:r>
                          <a:rPr lang="ar-AE" altLang="zh-TW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𝑤</m:t>
                        </m:r>
                      </m:e>
                      <m:e>
                        <m:r>
                          <a:rPr lang="ar-AE" altLang="zh-TW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𝑝</m:t>
                        </m:r>
                      </m:e>
                    </m:d>
                  </m:oMath>
                </a14:m>
                <a:r>
                  <a:rPr lang="zh-TW" altLang="en-US" dirty="0"/>
                  <a:t>的相對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altLang="zh-TW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𝐿</m:t>
                        </m:r>
                      </m:e>
                      <m:sub>
                        <m:r>
                          <a:rPr lang="ar-AE" altLang="zh-TW" sz="1200" i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TW" altLang="en-US" dirty="0"/>
                  <a:t>誤差低於 </a:t>
                </a:r>
                <a:r>
                  <a:rPr lang="en-US" altLang="zh-TW" b="1" dirty="0"/>
                  <a:t>10%</a:t>
                </a:r>
                <a:r>
                  <a:rPr lang="zh-TW" altLang="en-US" dirty="0"/>
                  <a:t> 作為判準，</a:t>
                </a:r>
                <a:br>
                  <a:rPr lang="zh-TW" altLang="en-US" dirty="0"/>
                </a:br>
                <a:r>
                  <a:rPr lang="zh-TW" altLang="en-US" dirty="0"/>
                  <a:t>並在 </a:t>
                </a:r>
                <a14:m>
                  <m:oMath xmlns:m="http://schemas.openxmlformats.org/officeDocument/2006/math">
                    <m:r>
                      <a:rPr lang="zh-TW" alt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𝐾</m:t>
                    </m:r>
                    <m:r>
                      <a:rPr lang="en-US" altLang="zh-TW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=20</m:t>
                    </m:r>
                  </m:oMath>
                </a14:m>
                <a:r>
                  <a:rPr lang="zh-TW" altLang="en-US" dirty="0"/>
                  <a:t>到 </a:t>
                </a:r>
                <a14:m>
                  <m:oMath xmlns:m="http://schemas.openxmlformats.org/officeDocument/2006/math">
                    <m:r>
                      <a:rPr lang="en-US" altLang="zh-TW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200</m:t>
                    </m:r>
                  </m:oMath>
                </a14:m>
                <a:r>
                  <a:rPr lang="zh-TW" altLang="en-US" dirty="0"/>
                  <a:t>的範圍內，系統性比較 </a:t>
                </a:r>
                <a:r>
                  <a:rPr lang="zh-TW" altLang="en-US" b="1" dirty="0"/>
                  <a:t>隨機選點與 </a:t>
                </a:r>
                <a:r>
                  <a:rPr lang="en-US" altLang="zh-TW" b="1" dirty="0"/>
                  <a:t>QR pivoting </a:t>
                </a:r>
                <a:r>
                  <a:rPr lang="zh-TW" altLang="en-US" b="1" dirty="0"/>
                  <a:t>選點</a:t>
                </a:r>
                <a:r>
                  <a:rPr lang="zh-TW" altLang="en-US" dirty="0"/>
                  <a:t> 的差異。</a:t>
                </a:r>
              </a:p>
              <a:p>
                <a:r>
                  <a:rPr lang="zh-TW" altLang="en-US" dirty="0"/>
                  <a:t>第二個目標，是評估 </a:t>
                </a:r>
                <a:r>
                  <a:rPr lang="zh-TW" altLang="en-US" b="1" dirty="0"/>
                  <a:t>低階與高階資料的融合效果</a:t>
                </a:r>
                <a:r>
                  <a:rPr lang="zh-TW" altLang="en-US" dirty="0"/>
                  <a:t>。</a:t>
                </a:r>
                <a:br>
                  <a:rPr lang="zh-TW" altLang="en-US" dirty="0"/>
                </a:br>
                <a:r>
                  <a:rPr lang="zh-TW" altLang="en-US" dirty="0"/>
                  <a:t>我將 </a:t>
                </a:r>
                <a:r>
                  <a:rPr lang="en-US" altLang="zh-TW" dirty="0"/>
                  <a:t>RANS </a:t>
                </a:r>
                <a:r>
                  <a:rPr lang="zh-TW" altLang="en-US" dirty="0"/>
                  <a:t>結果作為 </a:t>
                </a:r>
                <a:r>
                  <a:rPr lang="en-US" altLang="zh-TW" b="1" dirty="0"/>
                  <a:t>soft prior</a:t>
                </a:r>
                <a:r>
                  <a:rPr lang="en-US" altLang="zh-TW" dirty="0"/>
                  <a:t> </a:t>
                </a:r>
                <a:r>
                  <a:rPr lang="zh-TW" altLang="en-US" dirty="0"/>
                  <a:t>納入 </a:t>
                </a:r>
                <a:r>
                  <a:rPr lang="en-US" altLang="zh-TW" dirty="0"/>
                  <a:t>loss function</a:t>
                </a:r>
                <a:r>
                  <a:rPr lang="zh-TW" altLang="en-US" dirty="0"/>
                  <a:t>，</a:t>
                </a:r>
                <a:br>
                  <a:rPr lang="zh-TW" altLang="en-US" dirty="0"/>
                </a:br>
                <a:r>
                  <a:rPr lang="zh-TW" altLang="en-US" dirty="0"/>
                  <a:t>並分析在感測稀疏、甚至加入量測雜訊的情況下，</a:t>
                </a:r>
                <a:br>
                  <a:rPr lang="zh-TW" altLang="en-US" dirty="0"/>
                </a:br>
                <a:r>
                  <a:rPr lang="zh-TW" altLang="en-US" dirty="0"/>
                  <a:t>是否能夠同時改善重建誤差與整體魯棒性。</a:t>
                </a:r>
              </a:p>
              <a:p>
                <a:r>
                  <a:rPr lang="zh-TW" altLang="en-US" dirty="0"/>
                  <a:t>第三個目標，則是處理 </a:t>
                </a:r>
                <a:r>
                  <a:rPr lang="zh-TW" altLang="en-US" b="1" dirty="0"/>
                  <a:t>高雷諾數三維湍流中的訓練不穩定問題</a:t>
                </a:r>
                <a:r>
                  <a:rPr lang="zh-TW" altLang="en-US" dirty="0"/>
                  <a:t>。</a:t>
                </a:r>
                <a:br>
                  <a:rPr lang="zh-TW" altLang="en-US" dirty="0"/>
                </a:br>
                <a:r>
                  <a:rPr lang="zh-TW" altLang="en-US" dirty="0"/>
                  <a:t>我結合 </a:t>
                </a:r>
                <a:r>
                  <a:rPr lang="en-US" altLang="zh-TW" b="1" dirty="0"/>
                  <a:t>VS-PINN</a:t>
                </a:r>
                <a:r>
                  <a:rPr lang="zh-TW" altLang="en-US" b="1" dirty="0"/>
                  <a:t>、</a:t>
                </a:r>
                <a:r>
                  <a:rPr lang="en-US" altLang="zh-TW" b="1" dirty="0" err="1"/>
                  <a:t>GradNorm</a:t>
                </a:r>
                <a:r>
                  <a:rPr lang="en-US" altLang="zh-TW" b="1" dirty="0"/>
                  <a:t> </a:t>
                </a:r>
                <a:r>
                  <a:rPr lang="zh-TW" altLang="en-US" b="1" dirty="0"/>
                  <a:t>與不同最佳化策略</a:t>
                </a:r>
                <a:r>
                  <a:rPr lang="zh-TW" altLang="en-US" dirty="0"/>
                  <a:t> 進行消融分析，</a:t>
                </a:r>
                <a:br>
                  <a:rPr lang="zh-TW" altLang="en-US" dirty="0"/>
                </a:br>
                <a:r>
                  <a:rPr lang="zh-TW" altLang="en-US" dirty="0"/>
                  <a:t>目標是在 </a:t>
                </a:r>
                <a14:m>
                  <m:oMath xmlns:m="http://schemas.openxmlformats.org/officeDocument/2006/math">
                    <m:r>
                      <a:rPr lang="zh-TW" alt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𝑅</m:t>
                    </m:r>
                    <m:sSub>
                      <m:sSubPr>
                        <m:ctrlPr>
                          <a:rPr lang="ar-AE" altLang="zh-TW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altLang="zh-TW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𝑒</m:t>
                        </m:r>
                      </m:e>
                      <m:sub>
                        <m:r>
                          <a:rPr lang="ar-AE" altLang="zh-TW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𝜏</m:t>
                        </m:r>
                      </m:sub>
                    </m:sSub>
                    <m:r>
                      <a:rPr lang="ar-AE" altLang="zh-TW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≈1000</m:t>
                    </m:r>
                  </m:oMath>
                </a14:m>
                <a:r>
                  <a:rPr lang="zh-TW" altLang="en-US" dirty="0"/>
                  <a:t>的條件下，</a:t>
                </a:r>
                <a:br>
                  <a:rPr lang="zh-TW" altLang="en-US" dirty="0"/>
                </a:br>
                <a:r>
                  <a:rPr lang="zh-TW" altLang="en-US" dirty="0"/>
                  <a:t>在固定訓練預算內穩定收斂，並將誤差控制在 </a:t>
                </a:r>
                <a:r>
                  <a:rPr lang="zh-TW" altLang="en-US" b="1" dirty="0"/>
                  <a:t>約 </a:t>
                </a:r>
                <a:r>
                  <a:rPr lang="en-US" altLang="zh-TW" b="1" dirty="0"/>
                  <a:t>5–10% </a:t>
                </a:r>
                <a:r>
                  <a:rPr lang="zh-TW" altLang="en-US" b="1" dirty="0"/>
                  <a:t>的等級</a:t>
                </a:r>
                <a:r>
                  <a:rPr lang="zh-TW" altLang="en-US" dirty="0"/>
                  <a:t>。</a:t>
                </a:r>
              </a:p>
              <a:p>
                <a:r>
                  <a:rPr lang="zh-TW" altLang="en-US" dirty="0"/>
                  <a:t>這三個目標合起來，定義了本研究的核心貢獻與評估方式</a:t>
                </a:r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在本研究中，我的目標可以分成三個層次，分別對應 </a:t>
                </a:r>
                <a:r>
                  <a:rPr lang="zh-TW" altLang="en-US" b="1" dirty="0"/>
                  <a:t>感測設計、資料融合，以及高雷諾數下的訓練穩定性</a:t>
                </a:r>
                <a:r>
                  <a:rPr lang="zh-TW" altLang="en-US" dirty="0"/>
                  <a:t>。</a:t>
                </a:r>
              </a:p>
              <a:p>
                <a:r>
                  <a:rPr lang="zh-TW" altLang="en-US" dirty="0"/>
                  <a:t>第一個目標，是</a:t>
                </a:r>
                <a:r>
                  <a:rPr lang="zh-TW" altLang="en-US" b="1" dirty="0"/>
                  <a:t>量化在三維 </a:t>
                </a:r>
                <a:r>
                  <a:rPr lang="en-US" altLang="zh-TW" b="1" dirty="0"/>
                  <a:t>channel flow </a:t>
                </a:r>
                <a:r>
                  <a:rPr lang="zh-TW" altLang="en-US" b="1" dirty="0"/>
                  <a:t>中的 </a:t>
                </a:r>
                <a:r>
                  <a:rPr lang="en-US" altLang="zh-TW" b="1" dirty="0"/>
                  <a:t>sensing limit</a:t>
                </a:r>
                <a:r>
                  <a:rPr lang="zh-TW" altLang="en-US" dirty="0"/>
                  <a:t>。</a:t>
                </a:r>
                <a:br>
                  <a:rPr lang="zh-TW" altLang="en-US" dirty="0"/>
                </a:br>
                <a:r>
                  <a:rPr lang="zh-TW" altLang="en-US" dirty="0"/>
                  <a:t>我將 </a:t>
                </a:r>
                <a:r>
                  <a:rPr lang="en-US" altLang="zh-TW" dirty="0"/>
                  <a:t>sensing limit </a:t>
                </a:r>
                <a:r>
                  <a:rPr lang="zh-TW" altLang="en-US" dirty="0"/>
                  <a:t>定義為：在給定誤差門檻下，能夠達成重建的</a:t>
                </a:r>
                <a:r>
                  <a:rPr lang="zh-TW" altLang="en-US" b="1" dirty="0"/>
                  <a:t>最小感測點數 </a:t>
                </a:r>
                <a:r>
                  <a:rPr lang="en-US" altLang="zh-TW" b="1" dirty="0"/>
                  <a:t>K*</a:t>
                </a:r>
                <a:r>
                  <a:rPr lang="zh-TW" altLang="en-US" dirty="0"/>
                  <a:t>。</a:t>
                </a:r>
                <a:br>
                  <a:rPr lang="zh-TW" altLang="en-US" dirty="0"/>
                </a:br>
                <a:r>
                  <a:rPr lang="zh-TW" altLang="en-US" dirty="0"/>
                  <a:t>具體而言，我以 </a:t>
                </a:r>
                <a:r>
                  <a:rPr lang="ar-AE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(𝑢ⓜ,𝑣ⓜ,𝑤ⓜ,𝑝)</a:t>
                </a:r>
                <a:r>
                  <a:rPr lang="zh-TW" altLang="en-US" dirty="0"/>
                  <a:t>的相對 </a:t>
                </a:r>
                <a:r>
                  <a:rPr lang="ar-AE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𝐿_2</a:t>
                </a:r>
                <a:r>
                  <a:rPr lang="zh-TW" altLang="en-US" dirty="0"/>
                  <a:t>誤差低於 </a:t>
                </a:r>
                <a:r>
                  <a:rPr lang="en-US" altLang="zh-TW" b="1" dirty="0"/>
                  <a:t>10%</a:t>
                </a:r>
                <a:r>
                  <a:rPr lang="zh-TW" altLang="en-US" dirty="0"/>
                  <a:t> 作為判準，</a:t>
                </a:r>
                <a:br>
                  <a:rPr lang="zh-TW" altLang="en-US" dirty="0"/>
                </a:br>
                <a:r>
                  <a:rPr lang="zh-TW" altLang="en-US" dirty="0"/>
                  <a:t>並在 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𝐾</a:t>
                </a:r>
                <a:r>
                  <a:rPr lang="en-US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=20</a:t>
                </a:r>
                <a:r>
                  <a:rPr lang="zh-TW" altLang="en-US" dirty="0"/>
                  <a:t>到 </a:t>
                </a:r>
                <a:r>
                  <a:rPr lang="en-US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200</a:t>
                </a:r>
                <a:r>
                  <a:rPr lang="zh-TW" altLang="en-US" dirty="0"/>
                  <a:t>的範圍內，系統性比較 </a:t>
                </a:r>
                <a:r>
                  <a:rPr lang="zh-TW" altLang="en-US" b="1" dirty="0"/>
                  <a:t>隨機選點與 </a:t>
                </a:r>
                <a:r>
                  <a:rPr lang="en-US" altLang="zh-TW" b="1" dirty="0"/>
                  <a:t>QR pivoting </a:t>
                </a:r>
                <a:r>
                  <a:rPr lang="zh-TW" altLang="en-US" b="1" dirty="0"/>
                  <a:t>選點</a:t>
                </a:r>
                <a:r>
                  <a:rPr lang="zh-TW" altLang="en-US" dirty="0"/>
                  <a:t> 的差異。</a:t>
                </a:r>
              </a:p>
              <a:p>
                <a:r>
                  <a:rPr lang="zh-TW" altLang="en-US" dirty="0"/>
                  <a:t>第二個目標，是評估 </a:t>
                </a:r>
                <a:r>
                  <a:rPr lang="zh-TW" altLang="en-US" b="1" dirty="0"/>
                  <a:t>低階與高階資料的融合效果</a:t>
                </a:r>
                <a:r>
                  <a:rPr lang="zh-TW" altLang="en-US" dirty="0"/>
                  <a:t>。</a:t>
                </a:r>
                <a:br>
                  <a:rPr lang="zh-TW" altLang="en-US" dirty="0"/>
                </a:br>
                <a:r>
                  <a:rPr lang="zh-TW" altLang="en-US" dirty="0"/>
                  <a:t>我將 </a:t>
                </a:r>
                <a:r>
                  <a:rPr lang="en-US" altLang="zh-TW" dirty="0"/>
                  <a:t>RANS </a:t>
                </a:r>
                <a:r>
                  <a:rPr lang="zh-TW" altLang="en-US" dirty="0"/>
                  <a:t>結果作為 </a:t>
                </a:r>
                <a:r>
                  <a:rPr lang="en-US" altLang="zh-TW" b="1" dirty="0"/>
                  <a:t>soft prior</a:t>
                </a:r>
                <a:r>
                  <a:rPr lang="en-US" altLang="zh-TW" dirty="0"/>
                  <a:t> </a:t>
                </a:r>
                <a:r>
                  <a:rPr lang="zh-TW" altLang="en-US" dirty="0"/>
                  <a:t>納入 </a:t>
                </a:r>
                <a:r>
                  <a:rPr lang="en-US" altLang="zh-TW" dirty="0"/>
                  <a:t>loss function</a:t>
                </a:r>
                <a:r>
                  <a:rPr lang="zh-TW" altLang="en-US" dirty="0"/>
                  <a:t>，</a:t>
                </a:r>
                <a:br>
                  <a:rPr lang="zh-TW" altLang="en-US" dirty="0"/>
                </a:br>
                <a:r>
                  <a:rPr lang="zh-TW" altLang="en-US" dirty="0"/>
                  <a:t>並分析在感測稀疏、甚至加入量測雜訊的情況下，</a:t>
                </a:r>
                <a:br>
                  <a:rPr lang="zh-TW" altLang="en-US" dirty="0"/>
                </a:br>
                <a:r>
                  <a:rPr lang="zh-TW" altLang="en-US" dirty="0"/>
                  <a:t>是否能夠同時改善重建誤差與整體魯棒性。</a:t>
                </a:r>
              </a:p>
              <a:p>
                <a:r>
                  <a:rPr lang="zh-TW" altLang="en-US" dirty="0"/>
                  <a:t>第三個目標，則是處理 </a:t>
                </a:r>
                <a:r>
                  <a:rPr lang="zh-TW" altLang="en-US" b="1" dirty="0"/>
                  <a:t>高雷諾數三維湍流中的訓練不穩定問題</a:t>
                </a:r>
                <a:r>
                  <a:rPr lang="zh-TW" altLang="en-US" dirty="0"/>
                  <a:t>。</a:t>
                </a:r>
                <a:br>
                  <a:rPr lang="zh-TW" altLang="en-US" dirty="0"/>
                </a:br>
                <a:r>
                  <a:rPr lang="zh-TW" altLang="en-US" dirty="0"/>
                  <a:t>我結合 </a:t>
                </a:r>
                <a:r>
                  <a:rPr lang="en-US" altLang="zh-TW" b="1" dirty="0"/>
                  <a:t>VS-PINN</a:t>
                </a:r>
                <a:r>
                  <a:rPr lang="zh-TW" altLang="en-US" b="1" dirty="0"/>
                  <a:t>、</a:t>
                </a:r>
                <a:r>
                  <a:rPr lang="en-US" altLang="zh-TW" b="1" dirty="0" err="1"/>
                  <a:t>GradNorm</a:t>
                </a:r>
                <a:r>
                  <a:rPr lang="en-US" altLang="zh-TW" b="1" dirty="0"/>
                  <a:t> </a:t>
                </a:r>
                <a:r>
                  <a:rPr lang="zh-TW" altLang="en-US" b="1" dirty="0"/>
                  <a:t>與不同最佳化策略</a:t>
                </a:r>
                <a:r>
                  <a:rPr lang="zh-TW" altLang="en-US" dirty="0"/>
                  <a:t> 進行消融分析，</a:t>
                </a:r>
                <a:br>
                  <a:rPr lang="zh-TW" altLang="en-US" dirty="0"/>
                </a:br>
                <a:r>
                  <a:rPr lang="zh-TW" altLang="en-US" dirty="0"/>
                  <a:t>目標是在 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𝑅</a:t>
                </a:r>
                <a:r>
                  <a:rPr lang="ar-AE" altLang="zh-TW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𝑒_𝜏≈1000</a:t>
                </a:r>
                <a:r>
                  <a:rPr lang="zh-TW" altLang="en-US" dirty="0"/>
                  <a:t>的條件下，</a:t>
                </a:r>
                <a:br>
                  <a:rPr lang="zh-TW" altLang="en-US" dirty="0"/>
                </a:br>
                <a:r>
                  <a:rPr lang="zh-TW" altLang="en-US" dirty="0"/>
                  <a:t>在固定訓練預算內穩定收斂，並將誤差控制在 </a:t>
                </a:r>
                <a:r>
                  <a:rPr lang="zh-TW" altLang="en-US" b="1" dirty="0"/>
                  <a:t>約 </a:t>
                </a:r>
                <a:r>
                  <a:rPr lang="en-US" altLang="zh-TW" b="1" dirty="0"/>
                  <a:t>5–10% </a:t>
                </a:r>
                <a:r>
                  <a:rPr lang="zh-TW" altLang="en-US" b="1" dirty="0"/>
                  <a:t>的等級</a:t>
                </a:r>
                <a:r>
                  <a:rPr lang="zh-TW" altLang="en-US" dirty="0"/>
                  <a:t>。</a:t>
                </a:r>
              </a:p>
              <a:p>
                <a:r>
                  <a:rPr lang="zh-TW" altLang="en-US" dirty="0"/>
                  <a:t>這三個目標合起來，定義了本研究的核心貢獻與評估方式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06142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766517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769501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BDEF7-B62E-21DA-4C74-CFCCF8435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104213-DBAD-BFB9-7BC6-91BE8E265F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4B756B-2641-3505-F790-55A6478B78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601698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2228D-753C-3DB7-1A99-9BA7CB5A0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996E46-F055-47B5-028A-3E955EA009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05ACF4-36AA-CA3B-75CF-6CF605D378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643428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BD844-67CA-DCF9-0B74-B9427402F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208BB7-03E7-6DE8-5AA8-259DC12901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9E628D-D9E8-420F-FEA0-7491D992C8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886769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B8674-D93B-2E9E-1968-53CBCA8DB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8C4D49-9703-15F7-8750-085E94F947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73145C-44C5-5B52-2640-D39465AEA1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Slide 18: 3D Channel Flow</a:t>
            </a:r>
          </a:p>
          <a:p>
            <a:endParaRPr dirty="0"/>
          </a:p>
          <a:p>
            <a:r>
              <a:rPr dirty="0"/>
              <a:t>【3D Channel Flow </a:t>
            </a:r>
            <a:r>
              <a:rPr dirty="0" err="1"/>
              <a:t>概述</a:t>
            </a:r>
            <a:r>
              <a:rPr dirty="0"/>
              <a:t>】</a:t>
            </a:r>
          </a:p>
          <a:p>
            <a:r>
              <a:rPr dirty="0"/>
              <a:t>3D </a:t>
            </a:r>
            <a:r>
              <a:rPr dirty="0" err="1"/>
              <a:t>通道流是本研究的主要測試案例，代表真實工程挑戰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流場配置</a:t>
            </a:r>
            <a:r>
              <a:rPr dirty="0"/>
              <a:t>】</a:t>
            </a:r>
          </a:p>
          <a:p>
            <a:endParaRPr dirty="0"/>
          </a:p>
          <a:p>
            <a:r>
              <a:rPr dirty="0"/>
              <a:t>1. **</a:t>
            </a:r>
            <a:r>
              <a:rPr dirty="0" err="1"/>
              <a:t>幾何</a:t>
            </a:r>
            <a:r>
              <a:rPr dirty="0"/>
              <a:t>**</a:t>
            </a:r>
          </a:p>
          <a:p>
            <a:r>
              <a:rPr dirty="0"/>
              <a:t>   - </a:t>
            </a:r>
            <a:r>
              <a:rPr dirty="0" err="1"/>
              <a:t>兩平行平板之間的流動</a:t>
            </a:r>
            <a:endParaRPr dirty="0"/>
          </a:p>
          <a:p>
            <a:r>
              <a:rPr dirty="0"/>
              <a:t>   - </a:t>
            </a:r>
            <a:r>
              <a:rPr dirty="0" err="1"/>
              <a:t>通道半高：h</a:t>
            </a:r>
            <a:endParaRPr dirty="0"/>
          </a:p>
          <a:p>
            <a:r>
              <a:rPr dirty="0"/>
              <a:t>   - </a:t>
            </a:r>
            <a:r>
              <a:rPr dirty="0" err="1"/>
              <a:t>流向（x</a:t>
            </a:r>
            <a:r>
              <a:rPr dirty="0"/>
              <a:t>）× </a:t>
            </a:r>
            <a:r>
              <a:rPr dirty="0" err="1"/>
              <a:t>展向（z</a:t>
            </a:r>
            <a:r>
              <a:rPr dirty="0"/>
              <a:t>）× </a:t>
            </a:r>
            <a:r>
              <a:rPr dirty="0" err="1"/>
              <a:t>法向（y</a:t>
            </a:r>
            <a:r>
              <a:rPr dirty="0"/>
              <a:t>）</a:t>
            </a:r>
          </a:p>
          <a:p>
            <a:endParaRPr dirty="0"/>
          </a:p>
          <a:p>
            <a:r>
              <a:rPr dirty="0"/>
              <a:t>2. **</a:t>
            </a:r>
            <a:r>
              <a:rPr dirty="0" err="1"/>
              <a:t>邊界條件</a:t>
            </a:r>
            <a:r>
              <a:rPr dirty="0"/>
              <a:t>**</a:t>
            </a:r>
          </a:p>
          <a:p>
            <a:r>
              <a:rPr dirty="0"/>
              <a:t>   - </a:t>
            </a:r>
            <a:r>
              <a:rPr dirty="0" err="1"/>
              <a:t>上下壁面：無滑移條件（u</a:t>
            </a:r>
            <a:r>
              <a:rPr dirty="0"/>
              <a:t> = v = w = 0）</a:t>
            </a:r>
          </a:p>
          <a:p>
            <a:r>
              <a:rPr dirty="0"/>
              <a:t>   - </a:t>
            </a:r>
            <a:r>
              <a:rPr dirty="0" err="1"/>
              <a:t>流向與展向：週期性邊界條件</a:t>
            </a:r>
            <a:endParaRPr dirty="0"/>
          </a:p>
          <a:p>
            <a:r>
              <a:rPr dirty="0"/>
              <a:t>   - </a:t>
            </a:r>
            <a:r>
              <a:rPr dirty="0" err="1"/>
              <a:t>壓力梯度驅動流動</a:t>
            </a:r>
            <a:endParaRPr dirty="0"/>
          </a:p>
          <a:p>
            <a:endParaRPr dirty="0"/>
          </a:p>
          <a:p>
            <a:r>
              <a:rPr dirty="0"/>
              <a:t>3. **</a:t>
            </a:r>
            <a:r>
              <a:rPr dirty="0" err="1"/>
              <a:t>雷諾數</a:t>
            </a:r>
            <a:r>
              <a:rPr dirty="0"/>
              <a:t>**</a:t>
            </a:r>
          </a:p>
          <a:p>
            <a:r>
              <a:rPr dirty="0"/>
              <a:t>   - </a:t>
            </a:r>
            <a:r>
              <a:rPr dirty="0" err="1"/>
              <a:t>摩擦雷諾數：Re_tau</a:t>
            </a:r>
            <a:r>
              <a:rPr dirty="0"/>
              <a:t> = </a:t>
            </a:r>
            <a:r>
              <a:rPr dirty="0" err="1"/>
              <a:t>u_tau</a:t>
            </a:r>
            <a:r>
              <a:rPr dirty="0"/>
              <a:t> * h / </a:t>
            </a:r>
            <a:r>
              <a:rPr dirty="0" err="1"/>
              <a:t>ν</a:t>
            </a:r>
            <a:r>
              <a:rPr dirty="0"/>
              <a:t> ≈ 1000</a:t>
            </a:r>
          </a:p>
          <a:p>
            <a:r>
              <a:rPr dirty="0"/>
              <a:t>   - </a:t>
            </a:r>
            <a:r>
              <a:rPr dirty="0" err="1"/>
              <a:t>體積平均雷諾數：Re_bulk</a:t>
            </a:r>
            <a:r>
              <a:rPr dirty="0"/>
              <a:t> = </a:t>
            </a:r>
            <a:r>
              <a:rPr dirty="0" err="1"/>
              <a:t>U_b</a:t>
            </a:r>
            <a:r>
              <a:rPr dirty="0"/>
              <a:t> * h / </a:t>
            </a:r>
            <a:r>
              <a:rPr dirty="0" err="1"/>
              <a:t>ν</a:t>
            </a:r>
            <a:r>
              <a:rPr dirty="0"/>
              <a:t> ≈ 20,000</a:t>
            </a:r>
          </a:p>
          <a:p>
            <a:r>
              <a:rPr dirty="0"/>
              <a:t>   - </a:t>
            </a:r>
            <a:r>
              <a:rPr dirty="0" err="1"/>
              <a:t>這是高雷諾數湍流，工程相關</a:t>
            </a:r>
            <a:endParaRPr dirty="0"/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物理特徵</a:t>
            </a:r>
            <a:r>
              <a:rPr dirty="0"/>
              <a:t>】</a:t>
            </a:r>
          </a:p>
          <a:p>
            <a:endParaRPr dirty="0"/>
          </a:p>
          <a:p>
            <a:r>
              <a:rPr dirty="0"/>
              <a:t>1. **</a:t>
            </a:r>
            <a:r>
              <a:rPr dirty="0" err="1"/>
              <a:t>近壁區</a:t>
            </a:r>
            <a:r>
              <a:rPr dirty="0"/>
              <a:t>**</a:t>
            </a:r>
          </a:p>
          <a:p>
            <a:r>
              <a:rPr dirty="0"/>
              <a:t>   - </a:t>
            </a:r>
            <a:r>
              <a:rPr dirty="0" err="1"/>
              <a:t>黏性底層（viscous</a:t>
            </a:r>
            <a:r>
              <a:rPr dirty="0"/>
              <a:t> sublayer）：y+ &lt; 5</a:t>
            </a:r>
          </a:p>
          <a:p>
            <a:r>
              <a:rPr dirty="0"/>
              <a:t>   - </a:t>
            </a:r>
            <a:r>
              <a:rPr dirty="0" err="1"/>
              <a:t>緩衝層（buffer</a:t>
            </a:r>
            <a:r>
              <a:rPr dirty="0"/>
              <a:t> layer）：5 &lt; y+ &lt; 30</a:t>
            </a:r>
          </a:p>
          <a:p>
            <a:r>
              <a:rPr dirty="0"/>
              <a:t>   - </a:t>
            </a:r>
            <a:r>
              <a:rPr dirty="0" err="1"/>
              <a:t>對數律層（log-law</a:t>
            </a:r>
            <a:r>
              <a:rPr dirty="0"/>
              <a:t> layer）：30 &lt; y+ &lt; 0.2Re_tau</a:t>
            </a:r>
          </a:p>
          <a:p>
            <a:endParaRPr dirty="0"/>
          </a:p>
          <a:p>
            <a:r>
              <a:rPr dirty="0"/>
              <a:t>2. **</a:t>
            </a:r>
            <a:r>
              <a:rPr dirty="0" err="1"/>
              <a:t>通道中心區</a:t>
            </a:r>
            <a:r>
              <a:rPr dirty="0"/>
              <a:t>**</a:t>
            </a:r>
          </a:p>
          <a:p>
            <a:r>
              <a:rPr dirty="0"/>
              <a:t>   - </a:t>
            </a:r>
            <a:r>
              <a:rPr dirty="0" err="1"/>
              <a:t>外層（outer</a:t>
            </a:r>
            <a:r>
              <a:rPr dirty="0"/>
              <a:t> layer）</a:t>
            </a:r>
          </a:p>
          <a:p>
            <a:r>
              <a:rPr dirty="0"/>
              <a:t>   - </a:t>
            </a:r>
            <a:r>
              <a:rPr dirty="0" err="1"/>
              <a:t>速度缺陷律（velocity</a:t>
            </a:r>
            <a:r>
              <a:rPr dirty="0"/>
              <a:t> defect law）</a:t>
            </a:r>
          </a:p>
          <a:p>
            <a:endParaRPr dirty="0"/>
          </a:p>
          <a:p>
            <a:r>
              <a:rPr dirty="0"/>
              <a:t>3. **</a:t>
            </a:r>
            <a:r>
              <a:rPr dirty="0" err="1"/>
              <a:t>湍流統計</a:t>
            </a:r>
            <a:r>
              <a:rPr dirty="0"/>
              <a:t>**</a:t>
            </a:r>
          </a:p>
          <a:p>
            <a:r>
              <a:rPr dirty="0"/>
              <a:t>   - </a:t>
            </a:r>
            <a:r>
              <a:rPr dirty="0" err="1"/>
              <a:t>平均速度剖面：U</a:t>
            </a:r>
            <a:r>
              <a:rPr dirty="0"/>
              <a:t>+(y+)</a:t>
            </a:r>
          </a:p>
          <a:p>
            <a:r>
              <a:rPr dirty="0"/>
              <a:t>   - Reynolds stresses：⟨</a:t>
            </a:r>
            <a:r>
              <a:rPr dirty="0" err="1"/>
              <a:t>u'u</a:t>
            </a:r>
            <a:r>
              <a:rPr dirty="0"/>
              <a:t>'⟩, ⟨</a:t>
            </a:r>
            <a:r>
              <a:rPr dirty="0" err="1"/>
              <a:t>v'v</a:t>
            </a:r>
            <a:r>
              <a:rPr dirty="0"/>
              <a:t>'⟩, ⟨</a:t>
            </a:r>
            <a:r>
              <a:rPr dirty="0" err="1"/>
              <a:t>w'w</a:t>
            </a:r>
            <a:r>
              <a:rPr dirty="0"/>
              <a:t>'⟩, ⟨</a:t>
            </a:r>
            <a:r>
              <a:rPr dirty="0" err="1"/>
              <a:t>u'v</a:t>
            </a:r>
            <a:r>
              <a:rPr dirty="0"/>
              <a:t>'⟩</a:t>
            </a:r>
          </a:p>
          <a:p>
            <a:r>
              <a:rPr dirty="0"/>
              <a:t>   - </a:t>
            </a:r>
            <a:r>
              <a:rPr dirty="0" err="1"/>
              <a:t>壁面剪應力：τ_w</a:t>
            </a:r>
            <a:endParaRPr dirty="0"/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挑戰性</a:t>
            </a:r>
            <a:r>
              <a:rPr dirty="0"/>
              <a:t>】</a:t>
            </a:r>
          </a:p>
          <a:p>
            <a:endParaRPr dirty="0"/>
          </a:p>
          <a:p>
            <a:r>
              <a:rPr dirty="0"/>
              <a:t>1. **</a:t>
            </a:r>
            <a:r>
              <a:rPr dirty="0" err="1"/>
              <a:t>多尺度</a:t>
            </a:r>
            <a:r>
              <a:rPr dirty="0"/>
              <a:t>**</a:t>
            </a:r>
          </a:p>
          <a:p>
            <a:r>
              <a:rPr dirty="0"/>
              <a:t>   - </a:t>
            </a:r>
            <a:r>
              <a:rPr dirty="0" err="1"/>
              <a:t>從</a:t>
            </a:r>
            <a:r>
              <a:rPr dirty="0"/>
              <a:t> Kolmogorov </a:t>
            </a:r>
            <a:r>
              <a:rPr dirty="0" err="1"/>
              <a:t>尺度（η）到積分尺度（L</a:t>
            </a:r>
            <a:r>
              <a:rPr dirty="0"/>
              <a:t>）</a:t>
            </a:r>
          </a:p>
          <a:p>
            <a:r>
              <a:rPr dirty="0"/>
              <a:t>   - </a:t>
            </a:r>
            <a:r>
              <a:rPr dirty="0" err="1"/>
              <a:t>尺度比：L</a:t>
            </a:r>
            <a:r>
              <a:rPr dirty="0"/>
              <a:t>/</a:t>
            </a:r>
            <a:r>
              <a:rPr dirty="0" err="1"/>
              <a:t>η</a:t>
            </a:r>
            <a:r>
              <a:rPr dirty="0"/>
              <a:t> ∝ Re^(3/4)</a:t>
            </a:r>
          </a:p>
          <a:p>
            <a:r>
              <a:rPr dirty="0"/>
              <a:t>   - </a:t>
            </a:r>
            <a:r>
              <a:rPr dirty="0" err="1"/>
              <a:t>需要網路能捕捉多尺度特徵</a:t>
            </a:r>
            <a:endParaRPr dirty="0"/>
          </a:p>
          <a:p>
            <a:endParaRPr dirty="0"/>
          </a:p>
          <a:p>
            <a:r>
              <a:rPr dirty="0"/>
              <a:t>2. **</a:t>
            </a:r>
            <a:r>
              <a:rPr dirty="0" err="1"/>
              <a:t>各向異性</a:t>
            </a:r>
            <a:r>
              <a:rPr dirty="0"/>
              <a:t>**</a:t>
            </a:r>
          </a:p>
          <a:p>
            <a:r>
              <a:rPr dirty="0"/>
              <a:t>   - </a:t>
            </a:r>
            <a:r>
              <a:rPr dirty="0" err="1"/>
              <a:t>法向（y）與流向</a:t>
            </a:r>
            <a:r>
              <a:rPr dirty="0"/>
              <a:t>/</a:t>
            </a:r>
            <a:r>
              <a:rPr dirty="0" err="1"/>
              <a:t>展向（x</a:t>
            </a:r>
            <a:r>
              <a:rPr dirty="0"/>
              <a:t>, </a:t>
            </a:r>
            <a:r>
              <a:rPr dirty="0" err="1"/>
              <a:t>z）的尺度差異大</a:t>
            </a:r>
            <a:endParaRPr dirty="0"/>
          </a:p>
          <a:p>
            <a:r>
              <a:rPr dirty="0"/>
              <a:t>   - </a:t>
            </a:r>
            <a:r>
              <a:rPr dirty="0" err="1"/>
              <a:t>近壁區梯度陡峭</a:t>
            </a:r>
            <a:endParaRPr dirty="0"/>
          </a:p>
          <a:p>
            <a:r>
              <a:rPr dirty="0"/>
              <a:t>   - </a:t>
            </a:r>
            <a:r>
              <a:rPr dirty="0" err="1"/>
              <a:t>需要</a:t>
            </a:r>
            <a:r>
              <a:rPr dirty="0"/>
              <a:t> Variable Scaling (VS-PINN)</a:t>
            </a:r>
          </a:p>
          <a:p>
            <a:endParaRPr dirty="0"/>
          </a:p>
          <a:p>
            <a:r>
              <a:rPr dirty="0"/>
              <a:t>3. **</a:t>
            </a:r>
            <a:r>
              <a:rPr dirty="0" err="1"/>
              <a:t>三維結構</a:t>
            </a:r>
            <a:r>
              <a:rPr dirty="0"/>
              <a:t>**</a:t>
            </a:r>
          </a:p>
          <a:p>
            <a:r>
              <a:rPr dirty="0"/>
              <a:t>   - </a:t>
            </a:r>
            <a:r>
              <a:rPr dirty="0" err="1"/>
              <a:t>流向渦（streamwise</a:t>
            </a:r>
            <a:r>
              <a:rPr dirty="0"/>
              <a:t> vortices）</a:t>
            </a:r>
          </a:p>
          <a:p>
            <a:r>
              <a:rPr dirty="0"/>
              <a:t>   - </a:t>
            </a:r>
            <a:r>
              <a:rPr dirty="0" err="1"/>
              <a:t>低速條紋（low-speed</a:t>
            </a:r>
            <a:r>
              <a:rPr dirty="0"/>
              <a:t> streaks）</a:t>
            </a:r>
          </a:p>
          <a:p>
            <a:r>
              <a:rPr dirty="0"/>
              <a:t>   - </a:t>
            </a:r>
            <a:r>
              <a:rPr dirty="0" err="1"/>
              <a:t>相干結構</a:t>
            </a:r>
            <a:endParaRPr dirty="0"/>
          </a:p>
          <a:p>
            <a:endParaRPr dirty="0"/>
          </a:p>
          <a:p>
            <a:r>
              <a:rPr dirty="0"/>
              <a:t>【JHTDB </a:t>
            </a:r>
            <a:r>
              <a:rPr dirty="0" err="1"/>
              <a:t>資料</a:t>
            </a:r>
            <a:r>
              <a:rPr dirty="0"/>
              <a:t>】</a:t>
            </a:r>
          </a:p>
          <a:p>
            <a:endParaRPr dirty="0"/>
          </a:p>
          <a:p>
            <a:r>
              <a:rPr dirty="0"/>
              <a:t>1. **</a:t>
            </a:r>
            <a:r>
              <a:rPr dirty="0" err="1"/>
              <a:t>資料品質</a:t>
            </a:r>
            <a:r>
              <a:rPr dirty="0"/>
              <a:t>**</a:t>
            </a:r>
          </a:p>
          <a:p>
            <a:r>
              <a:rPr dirty="0"/>
              <a:t>   - </a:t>
            </a:r>
            <a:r>
              <a:rPr dirty="0" err="1"/>
              <a:t>高解析度</a:t>
            </a:r>
            <a:r>
              <a:rPr dirty="0"/>
              <a:t> DNS</a:t>
            </a:r>
          </a:p>
          <a:p>
            <a:r>
              <a:rPr dirty="0"/>
              <a:t>   - </a:t>
            </a:r>
            <a:r>
              <a:rPr dirty="0" err="1"/>
              <a:t>充分的時空解析</a:t>
            </a:r>
            <a:endParaRPr dirty="0"/>
          </a:p>
          <a:p>
            <a:r>
              <a:rPr dirty="0"/>
              <a:t>   - </a:t>
            </a:r>
            <a:r>
              <a:rPr dirty="0" err="1"/>
              <a:t>已驗證的基準資料</a:t>
            </a:r>
            <a:endParaRPr dirty="0"/>
          </a:p>
          <a:p>
            <a:endParaRPr dirty="0"/>
          </a:p>
          <a:p>
            <a:r>
              <a:rPr dirty="0"/>
              <a:t>2. **</a:t>
            </a:r>
            <a:r>
              <a:rPr dirty="0" err="1"/>
              <a:t>取樣策略</a:t>
            </a:r>
            <a:r>
              <a:rPr dirty="0"/>
              <a:t>**</a:t>
            </a:r>
          </a:p>
          <a:p>
            <a:r>
              <a:rPr dirty="0"/>
              <a:t>   - </a:t>
            </a:r>
            <a:r>
              <a:rPr dirty="0" err="1"/>
              <a:t>時間快照：選擇統計穩態時刻</a:t>
            </a:r>
            <a:endParaRPr dirty="0"/>
          </a:p>
          <a:p>
            <a:r>
              <a:rPr dirty="0"/>
              <a:t>   - </a:t>
            </a:r>
            <a:r>
              <a:rPr dirty="0" err="1"/>
              <a:t>空間子域：可選擇完整域或</a:t>
            </a:r>
            <a:r>
              <a:rPr dirty="0"/>
              <a:t> slab</a:t>
            </a:r>
          </a:p>
          <a:p>
            <a:r>
              <a:rPr dirty="0"/>
              <a:t>   - </a:t>
            </a:r>
            <a:r>
              <a:rPr dirty="0" err="1"/>
              <a:t>變量：u</a:t>
            </a:r>
            <a:r>
              <a:rPr dirty="0"/>
              <a:t>, v, w, </a:t>
            </a:r>
            <a:r>
              <a:rPr dirty="0" err="1"/>
              <a:t>p（速度與壓力</a:t>
            </a:r>
            <a:r>
              <a:rPr dirty="0"/>
              <a:t>）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投影片視覺元素</a:t>
            </a:r>
            <a:r>
              <a:rPr dirty="0"/>
              <a:t>】</a:t>
            </a:r>
          </a:p>
          <a:p>
            <a:r>
              <a:rPr dirty="0"/>
              <a:t>- </a:t>
            </a:r>
            <a:r>
              <a:rPr dirty="0" err="1"/>
              <a:t>可能包含通道流的速度剖面圖</a:t>
            </a:r>
            <a:endParaRPr dirty="0"/>
          </a:p>
          <a:p>
            <a:r>
              <a:rPr dirty="0"/>
              <a:t>- </a:t>
            </a:r>
            <a:r>
              <a:rPr dirty="0" err="1"/>
              <a:t>雷諾應力分佈</a:t>
            </a:r>
            <a:endParaRPr dirty="0"/>
          </a:p>
          <a:p>
            <a:r>
              <a:rPr dirty="0"/>
              <a:t>- </a:t>
            </a:r>
            <a:r>
              <a:rPr dirty="0" err="1"/>
              <a:t>湍流結構示意</a:t>
            </a:r>
            <a:endParaRPr dirty="0"/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過渡</a:t>
            </a:r>
            <a:r>
              <a:rPr dirty="0"/>
              <a:t>】</a:t>
            </a:r>
          </a:p>
          <a:p>
            <a:r>
              <a:rPr dirty="0" err="1"/>
              <a:t>接下來我們介紹網路結構設計</a:t>
            </a:r>
            <a:r>
              <a:rPr dirty="0"/>
              <a:t>。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760194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A375F-DCBD-91BE-4462-9E7A82FDD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FA7207-7A26-36CA-BD49-E4833D4E19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2E499E-BE5F-ED98-990E-D65A7FAB92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1. **深度（8 </a:t>
            </a:r>
            <a:r>
              <a:rPr dirty="0" err="1"/>
              <a:t>層</a:t>
            </a:r>
            <a:r>
              <a:rPr dirty="0"/>
              <a:t>）**</a:t>
            </a:r>
          </a:p>
          <a:p>
            <a:r>
              <a:rPr dirty="0"/>
              <a:t>   - </a:t>
            </a:r>
            <a:r>
              <a:rPr dirty="0" err="1"/>
              <a:t>足夠表達複雜的非線性關係</a:t>
            </a:r>
            <a:endParaRPr dirty="0"/>
          </a:p>
          <a:p>
            <a:r>
              <a:rPr dirty="0"/>
              <a:t>   - </a:t>
            </a:r>
            <a:r>
              <a:rPr dirty="0" err="1"/>
              <a:t>不至於過深導致訓練困難</a:t>
            </a:r>
            <a:endParaRPr dirty="0"/>
          </a:p>
          <a:p>
            <a:r>
              <a:rPr dirty="0"/>
              <a:t>   - </a:t>
            </a:r>
            <a:r>
              <a:rPr dirty="0" err="1"/>
              <a:t>平衡表達能力與訓練效率</a:t>
            </a:r>
            <a:endParaRPr dirty="0"/>
          </a:p>
          <a:p>
            <a:endParaRPr dirty="0"/>
          </a:p>
          <a:p>
            <a:r>
              <a:rPr dirty="0"/>
              <a:t>2. **寬度（256 </a:t>
            </a:r>
            <a:r>
              <a:rPr dirty="0" err="1"/>
              <a:t>神經元</a:t>
            </a:r>
            <a:r>
              <a:rPr dirty="0"/>
              <a:t>）**</a:t>
            </a:r>
          </a:p>
          <a:p>
            <a:r>
              <a:rPr dirty="0"/>
              <a:t>   - </a:t>
            </a:r>
            <a:r>
              <a:rPr dirty="0" err="1"/>
              <a:t>足夠的參數容量捕捉湍流特徵</a:t>
            </a:r>
            <a:endParaRPr dirty="0"/>
          </a:p>
          <a:p>
            <a:r>
              <a:rPr dirty="0"/>
              <a:t>   - </a:t>
            </a:r>
            <a:r>
              <a:rPr dirty="0" err="1"/>
              <a:t>實驗發現</a:t>
            </a:r>
            <a:r>
              <a:rPr dirty="0"/>
              <a:t> 256 </a:t>
            </a:r>
            <a:r>
              <a:rPr dirty="0" err="1"/>
              <a:t>是</a:t>
            </a:r>
            <a:r>
              <a:rPr dirty="0"/>
              <a:t> sweet </a:t>
            </a:r>
            <a:r>
              <a:rPr dirty="0" err="1"/>
              <a:t>spot（更寬收益遞減</a:t>
            </a:r>
            <a:r>
              <a:rPr dirty="0"/>
              <a:t>）</a:t>
            </a:r>
          </a:p>
          <a:p>
            <a:endParaRPr dirty="0"/>
          </a:p>
          <a:p>
            <a:r>
              <a:rPr dirty="0"/>
              <a:t>3. **Tanh </a:t>
            </a:r>
            <a:r>
              <a:rPr dirty="0" err="1"/>
              <a:t>激活</a:t>
            </a:r>
            <a:r>
              <a:rPr dirty="0"/>
              <a:t>**</a:t>
            </a:r>
          </a:p>
          <a:p>
            <a:r>
              <a:rPr dirty="0"/>
              <a:t>   - </a:t>
            </a:r>
            <a:r>
              <a:rPr dirty="0" err="1"/>
              <a:t>光滑、可微</a:t>
            </a:r>
            <a:endParaRPr dirty="0"/>
          </a:p>
          <a:p>
            <a:r>
              <a:rPr dirty="0"/>
              <a:t>   - </a:t>
            </a:r>
            <a:r>
              <a:rPr dirty="0" err="1"/>
              <a:t>有界輸出</a:t>
            </a:r>
            <a:r>
              <a:rPr dirty="0"/>
              <a:t>（-1, 1），</a:t>
            </a:r>
            <a:r>
              <a:rPr dirty="0" err="1"/>
              <a:t>有助於訓練穩定性</a:t>
            </a:r>
            <a:endParaRPr dirty="0"/>
          </a:p>
          <a:p>
            <a:r>
              <a:rPr dirty="0"/>
              <a:t>   - </a:t>
            </a:r>
            <a:r>
              <a:rPr dirty="0" err="1"/>
              <a:t>高階導數不會爆炸（重要for</a:t>
            </a:r>
            <a:r>
              <a:rPr dirty="0"/>
              <a:t> </a:t>
            </a:r>
            <a:r>
              <a:rPr dirty="0" err="1"/>
              <a:t>PDE殘差計算</a:t>
            </a:r>
            <a:r>
              <a:rPr dirty="0"/>
              <a:t>）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投影片圖示</a:t>
            </a:r>
            <a:r>
              <a:rPr dirty="0"/>
              <a:t>】</a:t>
            </a:r>
          </a:p>
          <a:p>
            <a:r>
              <a:rPr dirty="0" err="1"/>
              <a:t>投影片可能展示</a:t>
            </a:r>
            <a:r>
              <a:rPr dirty="0"/>
              <a:t>：</a:t>
            </a:r>
          </a:p>
          <a:p>
            <a:r>
              <a:rPr dirty="0"/>
              <a:t>- </a:t>
            </a:r>
            <a:r>
              <a:rPr dirty="0" err="1"/>
              <a:t>網路架構示意圖</a:t>
            </a:r>
            <a:endParaRPr dirty="0"/>
          </a:p>
          <a:p>
            <a:r>
              <a:rPr dirty="0"/>
              <a:t>- </a:t>
            </a:r>
            <a:r>
              <a:rPr dirty="0" err="1"/>
              <a:t>輸入</a:t>
            </a:r>
            <a:r>
              <a:rPr dirty="0"/>
              <a:t> → Fourier Features → Hidden Layers → Output</a:t>
            </a:r>
          </a:p>
          <a:p>
            <a:r>
              <a:rPr dirty="0"/>
              <a:t>- </a:t>
            </a:r>
            <a:r>
              <a:rPr dirty="0" err="1"/>
              <a:t>標註層數、神經元數</a:t>
            </a:r>
            <a:endParaRPr dirty="0"/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關鍵增強</a:t>
            </a:r>
            <a:r>
              <a:rPr dirty="0"/>
              <a:t>】</a:t>
            </a:r>
          </a:p>
          <a:p>
            <a:endParaRPr dirty="0"/>
          </a:p>
          <a:p>
            <a:r>
              <a:rPr dirty="0"/>
              <a:t>1. **Fourier Features**（</a:t>
            </a:r>
            <a:r>
              <a:rPr dirty="0" err="1"/>
              <a:t>下張投影片詳述</a:t>
            </a:r>
            <a:r>
              <a:rPr dirty="0"/>
              <a:t>）</a:t>
            </a:r>
          </a:p>
          <a:p>
            <a:r>
              <a:rPr dirty="0"/>
              <a:t>   - </a:t>
            </a:r>
            <a:r>
              <a:rPr dirty="0" err="1"/>
              <a:t>改善高頻捕捉能力</a:t>
            </a:r>
            <a:endParaRPr dirty="0"/>
          </a:p>
          <a:p>
            <a:r>
              <a:rPr dirty="0"/>
              <a:t>   - </a:t>
            </a:r>
            <a:r>
              <a:rPr dirty="0" err="1"/>
              <a:t>避免頻譜偏差（spectral</a:t>
            </a:r>
            <a:r>
              <a:rPr dirty="0"/>
              <a:t> bias）</a:t>
            </a:r>
          </a:p>
          <a:p>
            <a:endParaRPr dirty="0"/>
          </a:p>
          <a:p>
            <a:r>
              <a:rPr dirty="0"/>
              <a:t>2. **Variable Scaling (VS-PINN)**（</a:t>
            </a:r>
            <a:r>
              <a:rPr dirty="0" err="1"/>
              <a:t>後續投影片詳述</a:t>
            </a:r>
            <a:r>
              <a:rPr dirty="0"/>
              <a:t>）</a:t>
            </a:r>
          </a:p>
          <a:p>
            <a:r>
              <a:rPr dirty="0"/>
              <a:t>   - </a:t>
            </a:r>
            <a:r>
              <a:rPr dirty="0" err="1"/>
              <a:t>處理各向異性（x</a:t>
            </a:r>
            <a:r>
              <a:rPr dirty="0"/>
              <a:t>, y, z </a:t>
            </a:r>
            <a:r>
              <a:rPr dirty="0" err="1"/>
              <a:t>的尺度差異</a:t>
            </a:r>
            <a:r>
              <a:rPr dirty="0"/>
              <a:t>）</a:t>
            </a:r>
          </a:p>
          <a:p>
            <a:r>
              <a:rPr dirty="0"/>
              <a:t>   - </a:t>
            </a:r>
            <a:r>
              <a:rPr dirty="0" err="1"/>
              <a:t>特別重要於通道流（y</a:t>
            </a:r>
            <a:r>
              <a:rPr dirty="0"/>
              <a:t> </a:t>
            </a:r>
            <a:r>
              <a:rPr dirty="0" err="1"/>
              <a:t>方向梯度陡峭</a:t>
            </a:r>
            <a:r>
              <a:rPr dirty="0"/>
              <a:t>）</a:t>
            </a:r>
          </a:p>
          <a:p>
            <a:r>
              <a:rPr dirty="0" err="1"/>
              <a:t>我們將詳細介紹超越</a:t>
            </a:r>
            <a:r>
              <a:rPr dirty="0"/>
              <a:t> Vanilla PINNs </a:t>
            </a:r>
            <a:r>
              <a:rPr dirty="0" err="1"/>
              <a:t>的增強技術</a:t>
            </a:r>
            <a:r>
              <a:rPr dirty="0"/>
              <a:t>。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624971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46BE7-0713-76EE-460C-EAE71FAA3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947E79-6928-3FC9-6271-E037228998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245DF5-84C5-FD6E-6E99-0EA795D846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564665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4CD32-EF40-5BB6-4CE8-B98314D6A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807283-9FED-D9D9-00C4-3BCC79211B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03D1CE-1F33-1D87-DABF-6F8C4A40D9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接下來這一頁，我要說明在極度稀疏感測條件下，</a:t>
            </a:r>
            <a:br>
              <a:rPr lang="zh-TW" altLang="en-US" dirty="0"/>
            </a:br>
            <a:r>
              <a:rPr lang="zh-TW" altLang="en-US" dirty="0"/>
              <a:t>我是如何</a:t>
            </a:r>
            <a:r>
              <a:rPr lang="zh-TW" altLang="en-US" b="1" dirty="0"/>
              <a:t>設計感測點，而不是隨機取樣</a:t>
            </a:r>
            <a:r>
              <a:rPr lang="zh-TW" altLang="en-US" dirty="0"/>
              <a:t>。</a:t>
            </a:r>
          </a:p>
          <a:p>
            <a:r>
              <a:rPr lang="zh-TW" altLang="en-US" dirty="0"/>
              <a:t>如左圖所示，在數值模擬或資料庫中，我們可以取得大量候選點，</a:t>
            </a:r>
            <a:br>
              <a:rPr lang="zh-TW" altLang="en-US" dirty="0"/>
            </a:br>
            <a:r>
              <a:rPr lang="zh-TW" altLang="en-US" dirty="0"/>
              <a:t>但在實際工程中，這些點若全部納入資料項與 </a:t>
            </a:r>
            <a:r>
              <a:rPr lang="en-US" altLang="zh-TW" dirty="0"/>
              <a:t>PDE loss</a:t>
            </a:r>
            <a:r>
              <a:rPr lang="zh-TW" altLang="en-US" dirty="0"/>
              <a:t>，</a:t>
            </a:r>
            <a:br>
              <a:rPr lang="zh-TW" altLang="en-US" dirty="0"/>
            </a:br>
            <a:r>
              <a:rPr lang="zh-TW" altLang="en-US" dirty="0"/>
              <a:t>會帶來極高的計算成本，且並不符合感測器數量的實際限制。</a:t>
            </a:r>
          </a:p>
          <a:p>
            <a:r>
              <a:rPr lang="zh-TW" altLang="en-US" dirty="0"/>
              <a:t>因此，本研究的核心問題不是「能不能用很多點」，</a:t>
            </a:r>
            <a:br>
              <a:rPr lang="zh-TW" altLang="en-US" dirty="0"/>
            </a:br>
            <a:r>
              <a:rPr lang="zh-TW" altLang="en-US" dirty="0"/>
              <a:t>而是 </a:t>
            </a:r>
            <a:r>
              <a:rPr lang="zh-TW" altLang="en-US" b="1" dirty="0"/>
              <a:t>在 </a:t>
            </a:r>
            <a:r>
              <a:rPr lang="en-US" altLang="zh-TW" b="1" dirty="0"/>
              <a:t>K ≤ 100 </a:t>
            </a:r>
            <a:r>
              <a:rPr lang="zh-TW" altLang="en-US" b="1" dirty="0"/>
              <a:t>的條件下，哪些點最有資訊價值</a:t>
            </a:r>
            <a:r>
              <a:rPr lang="zh-TW" altLang="en-US" dirty="0"/>
              <a:t>。</a:t>
            </a:r>
          </a:p>
          <a:p>
            <a:r>
              <a:rPr lang="zh-TW" altLang="en-US" dirty="0"/>
              <a:t>中間這一步，我採用 </a:t>
            </a:r>
            <a:r>
              <a:rPr lang="en-US" altLang="zh-TW" b="1" dirty="0"/>
              <a:t>QR pivoting</a:t>
            </a:r>
            <a:r>
              <a:rPr lang="zh-TW" altLang="en-US" dirty="0"/>
              <a:t>，</a:t>
            </a:r>
            <a:br>
              <a:rPr lang="zh-TW" altLang="en-US" dirty="0"/>
            </a:br>
            <a:r>
              <a:rPr lang="zh-TW" altLang="en-US" dirty="0"/>
              <a:t>它本質上是一種矩陣分解方法，</a:t>
            </a:r>
            <a:br>
              <a:rPr lang="zh-TW" altLang="en-US" dirty="0"/>
            </a:br>
            <a:r>
              <a:rPr lang="zh-TW" altLang="en-US" dirty="0"/>
              <a:t>目標是從候選集合中選出 </a:t>
            </a:r>
            <a:r>
              <a:rPr lang="zh-TW" altLang="en-US" b="1" dirty="0"/>
              <a:t>線性獨立性最高、資訊最具代表性的一組點</a:t>
            </a:r>
            <a:r>
              <a:rPr lang="zh-TW" altLang="en-US" dirty="0"/>
              <a:t>。</a:t>
            </a:r>
          </a:p>
          <a:p>
            <a:r>
              <a:rPr lang="zh-TW" altLang="en-US" dirty="0"/>
              <a:t>右圖展示的就是最終選出的稀疏感測點，</a:t>
            </a:r>
            <a:br>
              <a:rPr lang="zh-TW" altLang="en-US" dirty="0"/>
            </a:br>
            <a:r>
              <a:rPr lang="zh-TW" altLang="en-US" dirty="0"/>
              <a:t>這些點並非均勻分佈，而是傾向落在流場變化較劇烈、</a:t>
            </a:r>
            <a:br>
              <a:rPr lang="zh-TW" altLang="en-US" dirty="0"/>
            </a:br>
            <a:r>
              <a:rPr lang="zh-TW" altLang="en-US" dirty="0"/>
              <a:t>對整體解影響最大的區域。</a:t>
            </a:r>
          </a:p>
          <a:p>
            <a:r>
              <a:rPr lang="zh-TW" altLang="en-US" dirty="0"/>
              <a:t>這樣的設計體現了本研究的一個原則：</a:t>
            </a:r>
            <a:br>
              <a:rPr lang="zh-TW" altLang="en-US" dirty="0"/>
            </a:br>
            <a:r>
              <a:rPr lang="en-US" altLang="zh-TW" b="1" dirty="0"/>
              <a:t>Quality over Quantity</a:t>
            </a:r>
            <a:r>
              <a:rPr lang="zh-TW" altLang="en-US" dirty="0"/>
              <a:t>。</a:t>
            </a:r>
            <a:br>
              <a:rPr lang="zh-TW" altLang="en-US" dirty="0"/>
            </a:br>
            <a:r>
              <a:rPr lang="zh-TW" altLang="en-US" dirty="0"/>
              <a:t>透過資訊導向的感測點選擇，</a:t>
            </a:r>
            <a:br>
              <a:rPr lang="zh-TW" altLang="en-US" dirty="0"/>
            </a:br>
            <a:r>
              <a:rPr lang="zh-TW" altLang="en-US" dirty="0"/>
              <a:t>我們可以在降低計算成本的同時，</a:t>
            </a:r>
            <a:br>
              <a:rPr lang="zh-TW" altLang="en-US" dirty="0"/>
            </a:br>
            <a:r>
              <a:rPr lang="zh-TW" altLang="en-US" dirty="0"/>
              <a:t>讓 </a:t>
            </a:r>
            <a:r>
              <a:rPr lang="en-US" altLang="zh-TW" dirty="0"/>
              <a:t>PINN </a:t>
            </a:r>
            <a:r>
              <a:rPr lang="zh-TW" altLang="en-US" dirty="0"/>
              <a:t>在工程可行的感測條件下仍具備重建能力。</a:t>
            </a:r>
          </a:p>
        </p:txBody>
      </p:sp>
    </p:spTree>
    <p:extLst>
      <p:ext uri="{BB962C8B-B14F-4D97-AF65-F5344CB8AC3E}">
        <p14:creationId xmlns:p14="http://schemas.microsoft.com/office/powerpoint/2010/main" val="263627675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04E30-96B7-5757-0FDE-092466A22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297CC2-248C-B7A2-0EC3-0EA823CDFF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0F901C-8AE1-138C-F8E9-00A5FB1D15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如</a:t>
            </a:r>
            <a:r>
              <a:rPr lang="en-US" altLang="zh-TW" dirty="0" err="1"/>
              <a:t>Tancik</a:t>
            </a:r>
            <a:r>
              <a:rPr lang="en-US" altLang="zh-TW" dirty="0"/>
              <a:t> et al.</a:t>
            </a:r>
            <a:r>
              <a:rPr lang="zh-TW" altLang="en-US" dirty="0"/>
              <a:t>（</a:t>
            </a:r>
            <a:r>
              <a:rPr lang="en-US" altLang="zh-TW" dirty="0"/>
              <a:t>2020</a:t>
            </a:r>
            <a:r>
              <a:rPr lang="zh-TW" altLang="en-US" dirty="0"/>
              <a:t>）所指出，</a:t>
            </a:r>
            <a:br>
              <a:rPr lang="zh-TW" altLang="en-US" dirty="0"/>
            </a:br>
            <a:r>
              <a:rPr lang="zh-TW" altLang="en-US" dirty="0"/>
              <a:t>標準的 </a:t>
            </a:r>
            <a:r>
              <a:rPr lang="en-US" altLang="zh-TW" dirty="0"/>
              <a:t>MLP </a:t>
            </a:r>
            <a:r>
              <a:rPr lang="zh-TW" altLang="en-US" dirty="0"/>
              <a:t>存在明顯的 </a:t>
            </a:r>
            <a:r>
              <a:rPr lang="en-US" altLang="zh-TW" b="1" dirty="0"/>
              <a:t>spectral bias</a:t>
            </a:r>
            <a:r>
              <a:rPr lang="zh-TW" altLang="en-US" dirty="0"/>
              <a:t>，</a:t>
            </a:r>
            <a:br>
              <a:rPr lang="zh-TW" altLang="en-US" dirty="0"/>
            </a:br>
            <a:r>
              <a:rPr lang="zh-TW" altLang="en-US" dirty="0"/>
              <a:t>也就是模型在訓練時會自然偏好低頻結構，</a:t>
            </a:r>
            <a:br>
              <a:rPr lang="zh-TW" altLang="en-US" dirty="0"/>
            </a:br>
            <a:r>
              <a:rPr lang="zh-TW" altLang="en-US" dirty="0"/>
              <a:t>而高頻成分</a:t>
            </a:r>
            <a:r>
              <a:rPr lang="en-US" altLang="zh-TW" dirty="0"/>
              <a:t>——</a:t>
            </a:r>
            <a:r>
              <a:rPr lang="zh-TW" altLang="en-US" dirty="0"/>
              <a:t>這在高雷諾數湍流中非常關鍵</a:t>
            </a:r>
            <a:r>
              <a:rPr lang="en-US" altLang="zh-TW" dirty="0"/>
              <a:t>——</a:t>
            </a:r>
            <a:r>
              <a:rPr lang="zh-TW" altLang="en-US" dirty="0"/>
              <a:t>往往被忽略。</a:t>
            </a:r>
          </a:p>
          <a:p>
            <a:r>
              <a:rPr lang="zh-TW" altLang="en-US" dirty="0"/>
              <a:t>這會導致一個典型問題：</a:t>
            </a:r>
            <a:br>
              <a:rPr lang="zh-TW" altLang="en-US" dirty="0"/>
            </a:br>
            <a:r>
              <a:rPr lang="zh-TW" altLang="en-US" dirty="0"/>
              <a:t>即使 </a:t>
            </a:r>
            <a:r>
              <a:rPr lang="en-US" altLang="zh-TW" dirty="0"/>
              <a:t>PDE constraint </a:t>
            </a:r>
            <a:r>
              <a:rPr lang="zh-TW" altLang="en-US" dirty="0"/>
              <a:t>被滿足，</a:t>
            </a:r>
            <a:br>
              <a:rPr lang="zh-TW" altLang="en-US" dirty="0"/>
            </a:br>
            <a:r>
              <a:rPr lang="zh-TW" altLang="en-US" dirty="0"/>
              <a:t>預測結果仍然呈現 </a:t>
            </a:r>
            <a:r>
              <a:rPr lang="zh-TW" altLang="en-US" b="1" dirty="0"/>
              <a:t>過度平滑，無法重建小尺度結構</a:t>
            </a:r>
            <a:r>
              <a:rPr lang="zh-TW" altLang="en-US" dirty="0"/>
              <a:t>，</a:t>
            </a:r>
            <a:br>
              <a:rPr lang="zh-TW" altLang="en-US" dirty="0"/>
            </a:br>
            <a:r>
              <a:rPr lang="zh-TW" altLang="en-US" dirty="0"/>
              <a:t>這在湍流流場中尤其明顯。</a:t>
            </a:r>
          </a:p>
          <a:p>
            <a:r>
              <a:rPr lang="zh-TW" altLang="en-US" dirty="0"/>
              <a:t>右半部展示的是 </a:t>
            </a:r>
            <a:r>
              <a:rPr lang="en-US" altLang="zh-TW" dirty="0"/>
              <a:t>Fourier feature embedding </a:t>
            </a:r>
            <a:r>
              <a:rPr lang="zh-TW" altLang="en-US" dirty="0"/>
              <a:t>的基本機制。</a:t>
            </a:r>
            <a:br>
              <a:rPr lang="zh-TW" altLang="en-US" dirty="0"/>
            </a:br>
            <a:r>
              <a:rPr lang="zh-TW" altLang="en-US" dirty="0"/>
              <a:t>透過將空間或時間座標映射到一組 </a:t>
            </a:r>
            <a:r>
              <a:rPr lang="en-US" altLang="zh-TW" dirty="0"/>
              <a:t>sinusoidal basis</a:t>
            </a:r>
            <a:r>
              <a:rPr lang="zh-TW" altLang="en-US" dirty="0"/>
              <a:t>，</a:t>
            </a:r>
            <a:br>
              <a:rPr lang="zh-TW" altLang="en-US" dirty="0"/>
            </a:br>
            <a:r>
              <a:rPr lang="zh-TW" altLang="en-US" dirty="0"/>
              <a:t>模型在輸入層就能接觸到高頻資訊，</a:t>
            </a:r>
            <a:br>
              <a:rPr lang="zh-TW" altLang="en-US" dirty="0"/>
            </a:br>
            <a:r>
              <a:rPr lang="zh-TW" altLang="en-US" dirty="0"/>
              <a:t>從而降低 </a:t>
            </a:r>
            <a:r>
              <a:rPr lang="en-US" altLang="zh-TW" dirty="0"/>
              <a:t>MLP </a:t>
            </a:r>
            <a:r>
              <a:rPr lang="zh-TW" altLang="en-US" dirty="0"/>
              <a:t>本身的頻譜偏誤。</a:t>
            </a:r>
          </a:p>
          <a:p>
            <a:r>
              <a:rPr lang="zh-TW" altLang="en-US" dirty="0"/>
              <a:t>在本研究中，</a:t>
            </a:r>
            <a:r>
              <a:rPr lang="en-US" altLang="zh-TW" dirty="0"/>
              <a:t>Fourier feature </a:t>
            </a:r>
            <a:r>
              <a:rPr lang="zh-TW" altLang="en-US" dirty="0"/>
              <a:t>的角色並不是取代物理約束，</a:t>
            </a:r>
            <a:br>
              <a:rPr lang="zh-TW" altLang="en-US" dirty="0"/>
            </a:br>
            <a:r>
              <a:rPr lang="zh-TW" altLang="en-US" dirty="0"/>
              <a:t>而是作為一個 </a:t>
            </a:r>
            <a:r>
              <a:rPr lang="zh-TW" altLang="en-US" b="1" dirty="0"/>
              <a:t>頻譜層級的輔助工具</a:t>
            </a:r>
            <a:r>
              <a:rPr lang="zh-TW" altLang="en-US" dirty="0"/>
              <a:t>，</a:t>
            </a:r>
            <a:br>
              <a:rPr lang="zh-TW" altLang="en-US" dirty="0"/>
            </a:br>
            <a:r>
              <a:rPr lang="zh-TW" altLang="en-US" dirty="0"/>
              <a:t>讓 </a:t>
            </a:r>
            <a:r>
              <a:rPr lang="en-US" altLang="zh-TW" dirty="0"/>
              <a:t>PINN </a:t>
            </a:r>
            <a:r>
              <a:rPr lang="zh-TW" altLang="en-US" dirty="0"/>
              <a:t>在極度稀疏感測的情況下，</a:t>
            </a:r>
            <a:br>
              <a:rPr lang="zh-TW" altLang="en-US" dirty="0"/>
            </a:br>
            <a:r>
              <a:rPr lang="zh-TW" altLang="en-US" dirty="0"/>
              <a:t>仍然具備表徵高頻結構的能力。</a:t>
            </a:r>
          </a:p>
        </p:txBody>
      </p:sp>
    </p:spTree>
    <p:extLst>
      <p:ext uri="{BB962C8B-B14F-4D97-AF65-F5344CB8AC3E}">
        <p14:creationId xmlns:p14="http://schemas.microsoft.com/office/powerpoint/2010/main" val="366678779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04E30-96B7-5757-0FDE-092466A22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297CC2-248C-B7A2-0EC3-0EA823CDFF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000F901C-8AE1-138C-F8E9-00A5FB1D153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這一頁我想說明，</a:t>
                </a:r>
                <a:r>
                  <a:rPr lang="zh-TW" altLang="en-US" b="1" dirty="0"/>
                  <a:t>為什麼在高雷諾數湍流下，傳統 </a:t>
                </a:r>
                <a:r>
                  <a:rPr lang="en-US" altLang="zh-TW" b="1" dirty="0"/>
                  <a:t>PINNs </a:t>
                </a:r>
                <a:r>
                  <a:rPr lang="zh-TW" altLang="en-US" b="1" dirty="0"/>
                  <a:t>容易出現訓練不穩定，以及 </a:t>
                </a:r>
                <a:r>
                  <a:rPr lang="en-US" altLang="zh-TW" b="1" dirty="0"/>
                  <a:t>VS-PINN </a:t>
                </a:r>
                <a:r>
                  <a:rPr lang="zh-TW" altLang="en-US" b="1" dirty="0"/>
                  <a:t>在做什麼層級的修正</a:t>
                </a:r>
                <a:r>
                  <a:rPr lang="zh-TW" altLang="en-US" dirty="0"/>
                  <a:t>。</a:t>
                </a:r>
              </a:p>
              <a:p>
                <a:r>
                  <a:rPr lang="zh-TW" altLang="en-US" dirty="0"/>
                  <a:t>左半部先說明核心問題。</a:t>
                </a:r>
                <a:br>
                  <a:rPr lang="zh-TW" altLang="en-US" dirty="0"/>
                </a:br>
                <a:r>
                  <a:rPr lang="zh-TW" altLang="en-US" dirty="0"/>
                  <a:t>在高 </a:t>
                </a:r>
                <a14:m>
                  <m:oMath xmlns:m="http://schemas.openxmlformats.org/officeDocument/2006/math">
                    <m:r>
                      <a:rPr lang="zh-TW" alt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𝑅𝑒</m:t>
                    </m:r>
                  </m:oMath>
                </a14:m>
                <a:r>
                  <a:rPr lang="zh-TW" altLang="en-US" dirty="0"/>
                  <a:t>的三維湍流中，流場具有明顯的多尺度與強非線性特性，</a:t>
                </a:r>
                <a:br>
                  <a:rPr lang="zh-TW" altLang="en-US" dirty="0"/>
                </a:br>
                <a:r>
                  <a:rPr lang="zh-TW" altLang="en-US" dirty="0"/>
                  <a:t>對 </a:t>
                </a:r>
                <a:r>
                  <a:rPr lang="en-US" altLang="zh-TW" dirty="0"/>
                  <a:t>vanilla PINN </a:t>
                </a:r>
                <a:r>
                  <a:rPr lang="zh-TW" altLang="en-US" dirty="0"/>
                  <a:t>來說，這會導致不同物理變數與 </a:t>
                </a:r>
                <a:r>
                  <a:rPr lang="en-US" altLang="zh-TW" dirty="0"/>
                  <a:t>loss </a:t>
                </a:r>
                <a:r>
                  <a:rPr lang="zh-TW" altLang="en-US" dirty="0"/>
                  <a:t>項之間的數值尺度差異非常大，</a:t>
                </a:r>
                <a:br>
                  <a:rPr lang="zh-TW" altLang="en-US" dirty="0"/>
                </a:br>
                <a:r>
                  <a:rPr lang="zh-TW" altLang="en-US" dirty="0"/>
                  <a:t>最終表現為 </a:t>
                </a:r>
                <a:r>
                  <a:rPr lang="en-US" altLang="zh-TW" b="1" dirty="0"/>
                  <a:t>PINN stiffness</a:t>
                </a:r>
                <a:r>
                  <a:rPr lang="zh-TW" altLang="en-US" b="1" dirty="0"/>
                  <a:t>，也就是訓練震盪或無法收斂</a:t>
                </a:r>
                <a:r>
                  <a:rPr lang="zh-TW" altLang="en-US" dirty="0"/>
                  <a:t>。</a:t>
                </a:r>
              </a:p>
              <a:p>
                <a:r>
                  <a:rPr lang="en-US" altLang="zh-TW" dirty="0"/>
                  <a:t>VS-PINN </a:t>
                </a:r>
                <a:r>
                  <a:rPr lang="zh-TW" altLang="en-US" dirty="0"/>
                  <a:t>的核心想法，是不要直接在原始物理尺度下訓練。</a:t>
                </a:r>
                <a:br>
                  <a:rPr lang="zh-TW" altLang="en-US" dirty="0"/>
                </a:br>
                <a:r>
                  <a:rPr lang="zh-TW" altLang="en-US" dirty="0"/>
                  <a:t>如左下所示，第一個關鍵組件是 </a:t>
                </a:r>
                <a:r>
                  <a:rPr lang="en-US" altLang="zh-TW" b="1" dirty="0"/>
                  <a:t>variable scaling</a:t>
                </a:r>
                <a:r>
                  <a:rPr lang="zh-TW" altLang="en-US" dirty="0"/>
                  <a:t>，</a:t>
                </a:r>
                <a:br>
                  <a:rPr lang="zh-TW" altLang="en-US" dirty="0"/>
                </a:br>
                <a:r>
                  <a:rPr lang="zh-TW" altLang="en-US" dirty="0"/>
                  <a:t>將速度與壓力等輸出變數進行重新正規化，</a:t>
                </a:r>
                <a:br>
                  <a:rPr lang="zh-TW" altLang="en-US" dirty="0"/>
                </a:br>
                <a:r>
                  <a:rPr lang="zh-TW" altLang="en-US" dirty="0"/>
                  <a:t>確保在訓練過程中，各輸出變數的量級是可比較的，</a:t>
                </a:r>
                <a:br>
                  <a:rPr lang="zh-TW" altLang="en-US" dirty="0"/>
                </a:br>
                <a:r>
                  <a:rPr lang="zh-TW" altLang="en-US" dirty="0"/>
                  <a:t>這可以有效改善梯度傳遞的穩定性。</a:t>
                </a:r>
              </a:p>
              <a:p>
                <a:r>
                  <a:rPr lang="zh-TW" altLang="en-US" dirty="0"/>
                  <a:t>第二個組件是 </a:t>
                </a:r>
                <a:r>
                  <a:rPr lang="en-US" altLang="zh-TW" b="1" dirty="0"/>
                  <a:t>gradient balancing</a:t>
                </a:r>
                <a:r>
                  <a:rPr lang="zh-TW" altLang="en-US" dirty="0"/>
                  <a:t>，例如 </a:t>
                </a:r>
                <a:r>
                  <a:rPr lang="en-US" altLang="zh-TW" dirty="0" err="1"/>
                  <a:t>GradNorm</a:t>
                </a:r>
                <a:r>
                  <a:rPr lang="zh-TW" altLang="en-US" dirty="0"/>
                  <a:t>。</a:t>
                </a:r>
                <a:br>
                  <a:rPr lang="zh-TW" altLang="en-US" dirty="0"/>
                </a:br>
                <a:r>
                  <a:rPr lang="zh-TW" altLang="en-US" dirty="0"/>
                  <a:t>如右下所示，它會根據各 </a:t>
                </a:r>
                <a:r>
                  <a:rPr lang="en-US" altLang="zh-TW" dirty="0"/>
                  <a:t>loss term </a:t>
                </a:r>
                <a:r>
                  <a:rPr lang="zh-TW" altLang="en-US" dirty="0"/>
                  <a:t>的梯度大小動態調整權重，</a:t>
                </a:r>
                <a:br>
                  <a:rPr lang="zh-TW" altLang="en-US" dirty="0"/>
                </a:br>
                <a:r>
                  <a:rPr lang="zh-TW" altLang="en-US" dirty="0"/>
                  <a:t>避免訓練過程被單一 </a:t>
                </a:r>
                <a:r>
                  <a:rPr lang="en-US" altLang="zh-TW" dirty="0"/>
                  <a:t>loss</a:t>
                </a:r>
                <a:r>
                  <a:rPr lang="zh-TW" altLang="en-US" dirty="0"/>
                  <a:t>（通常是 </a:t>
                </a:r>
                <a:r>
                  <a:rPr lang="en-US" altLang="zh-TW" dirty="0"/>
                  <a:t>PDE </a:t>
                </a:r>
                <a:r>
                  <a:rPr lang="zh-TW" altLang="en-US" dirty="0"/>
                  <a:t>或資料項）主導，</a:t>
                </a:r>
                <a:br>
                  <a:rPr lang="zh-TW" altLang="en-US" dirty="0"/>
                </a:br>
                <a:r>
                  <a:rPr lang="zh-TW" altLang="en-US" dirty="0"/>
                  <a:t>確保所有物理約束能被同時滿足。</a:t>
                </a:r>
              </a:p>
              <a:p>
                <a:r>
                  <a:rPr lang="zh-TW" altLang="en-US" dirty="0"/>
                  <a:t>總結來說，</a:t>
                </a:r>
                <a:r>
                  <a:rPr lang="en-US" altLang="zh-TW" dirty="0"/>
                  <a:t>VS-PINN </a:t>
                </a:r>
                <a:r>
                  <a:rPr lang="zh-TW" altLang="en-US" dirty="0"/>
                  <a:t>並不是改變物理模型本身，</a:t>
                </a:r>
                <a:br>
                  <a:rPr lang="zh-TW" altLang="en-US" dirty="0"/>
                </a:br>
                <a:r>
                  <a:rPr lang="zh-TW" altLang="en-US" dirty="0"/>
                  <a:t>而是從 </a:t>
                </a:r>
                <a:r>
                  <a:rPr lang="zh-TW" altLang="en-US" b="1" dirty="0"/>
                  <a:t>變數尺度與梯度平衡的角度，改善高 </a:t>
                </a:r>
                <a:r>
                  <a:rPr lang="en-US" altLang="zh-TW" b="1" dirty="0"/>
                  <a:t>Re </a:t>
                </a:r>
                <a:r>
                  <a:rPr lang="zh-TW" altLang="en-US" b="1" dirty="0"/>
                  <a:t>湍流下 </a:t>
                </a:r>
                <a:r>
                  <a:rPr lang="en-US" altLang="zh-TW" b="1" dirty="0"/>
                  <a:t>PINN </a:t>
                </a:r>
                <a:r>
                  <a:rPr lang="zh-TW" altLang="en-US" b="1" dirty="0"/>
                  <a:t>的最佳化地形</a:t>
                </a:r>
                <a:r>
                  <a:rPr lang="zh-TW" altLang="en-US" dirty="0"/>
                  <a:t>，</a:t>
                </a:r>
                <a:br>
                  <a:rPr lang="zh-TW" altLang="en-US" dirty="0"/>
                </a:br>
                <a:r>
                  <a:rPr lang="zh-TW" altLang="en-US" dirty="0"/>
                  <a:t>目標是讓訓練能夠更穩定地收斂。</a:t>
                </a:r>
              </a:p>
            </p:txBody>
          </p:sp>
        </mc:Choice>
        <mc:Fallback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000F901C-8AE1-138C-F8E9-00A5FB1D153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這一頁我想說明，</a:t>
                </a:r>
                <a:r>
                  <a:rPr lang="zh-TW" altLang="en-US" b="1" dirty="0"/>
                  <a:t>為什麼在高雷諾數湍流下，傳統 </a:t>
                </a:r>
                <a:r>
                  <a:rPr lang="en-US" altLang="zh-TW" b="1" dirty="0"/>
                  <a:t>PINNs </a:t>
                </a:r>
                <a:r>
                  <a:rPr lang="zh-TW" altLang="en-US" b="1" dirty="0"/>
                  <a:t>容易出現訓練不穩定，以及 </a:t>
                </a:r>
                <a:r>
                  <a:rPr lang="en-US" altLang="zh-TW" b="1" dirty="0"/>
                  <a:t>VS-PINN </a:t>
                </a:r>
                <a:r>
                  <a:rPr lang="zh-TW" altLang="en-US" b="1" dirty="0"/>
                  <a:t>在做什麼層級的修正</a:t>
                </a:r>
                <a:r>
                  <a:rPr lang="zh-TW" altLang="en-US" dirty="0"/>
                  <a:t>。</a:t>
                </a:r>
              </a:p>
              <a:p>
                <a:r>
                  <a:rPr lang="zh-TW" altLang="en-US" dirty="0"/>
                  <a:t>左半部先說明核心問題。</a:t>
                </a:r>
                <a:br>
                  <a:rPr lang="zh-TW" altLang="en-US" dirty="0"/>
                </a:br>
                <a:r>
                  <a:rPr lang="zh-TW" altLang="en-US" dirty="0"/>
                  <a:t>在高 </a:t>
                </a:r>
                <a:r>
                  <a:rPr lang="zh-TW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𝑅𝑒</a:t>
                </a:r>
                <a:r>
                  <a:rPr lang="zh-TW" altLang="en-US" dirty="0"/>
                  <a:t>的三維湍流中，流場具有明顯的多尺度與強非線性特性，</a:t>
                </a:r>
                <a:br>
                  <a:rPr lang="zh-TW" altLang="en-US" dirty="0"/>
                </a:br>
                <a:r>
                  <a:rPr lang="zh-TW" altLang="en-US" dirty="0"/>
                  <a:t>對 </a:t>
                </a:r>
                <a:r>
                  <a:rPr lang="en-US" altLang="zh-TW" dirty="0"/>
                  <a:t>vanilla PINN </a:t>
                </a:r>
                <a:r>
                  <a:rPr lang="zh-TW" altLang="en-US" dirty="0"/>
                  <a:t>來說，這會導致不同物理變數與 </a:t>
                </a:r>
                <a:r>
                  <a:rPr lang="en-US" altLang="zh-TW" dirty="0"/>
                  <a:t>loss </a:t>
                </a:r>
                <a:r>
                  <a:rPr lang="zh-TW" altLang="en-US" dirty="0"/>
                  <a:t>項之間的數值尺度差異非常大，</a:t>
                </a:r>
                <a:br>
                  <a:rPr lang="zh-TW" altLang="en-US" dirty="0"/>
                </a:br>
                <a:r>
                  <a:rPr lang="zh-TW" altLang="en-US" dirty="0"/>
                  <a:t>最終表現為 </a:t>
                </a:r>
                <a:r>
                  <a:rPr lang="en-US" altLang="zh-TW" b="1" dirty="0"/>
                  <a:t>PINN stiffness</a:t>
                </a:r>
                <a:r>
                  <a:rPr lang="zh-TW" altLang="en-US" b="1" dirty="0"/>
                  <a:t>，也就是訓練震盪或無法收斂</a:t>
                </a:r>
                <a:r>
                  <a:rPr lang="zh-TW" altLang="en-US" dirty="0"/>
                  <a:t>。</a:t>
                </a:r>
              </a:p>
              <a:p>
                <a:r>
                  <a:rPr lang="en-US" altLang="zh-TW" dirty="0"/>
                  <a:t>VS-PINN </a:t>
                </a:r>
                <a:r>
                  <a:rPr lang="zh-TW" altLang="en-US" dirty="0"/>
                  <a:t>的核心想法，是不要直接在原始物理尺度下訓練。</a:t>
                </a:r>
                <a:br>
                  <a:rPr lang="zh-TW" altLang="en-US" dirty="0"/>
                </a:br>
                <a:r>
                  <a:rPr lang="zh-TW" altLang="en-US" dirty="0"/>
                  <a:t>如左下所示，第一個關鍵組件是 </a:t>
                </a:r>
                <a:r>
                  <a:rPr lang="en-US" altLang="zh-TW" b="1" dirty="0"/>
                  <a:t>variable scaling</a:t>
                </a:r>
                <a:r>
                  <a:rPr lang="zh-TW" altLang="en-US" dirty="0"/>
                  <a:t>，</a:t>
                </a:r>
                <a:br>
                  <a:rPr lang="zh-TW" altLang="en-US" dirty="0"/>
                </a:br>
                <a:r>
                  <a:rPr lang="zh-TW" altLang="en-US" dirty="0"/>
                  <a:t>將速度與壓力等輸出變數進行重新正規化，</a:t>
                </a:r>
                <a:br>
                  <a:rPr lang="zh-TW" altLang="en-US" dirty="0"/>
                </a:br>
                <a:r>
                  <a:rPr lang="zh-TW" altLang="en-US" dirty="0"/>
                  <a:t>確保在訓練過程中，各輸出變數的量級是可比較的，</a:t>
                </a:r>
                <a:br>
                  <a:rPr lang="zh-TW" altLang="en-US" dirty="0"/>
                </a:br>
                <a:r>
                  <a:rPr lang="zh-TW" altLang="en-US" dirty="0"/>
                  <a:t>這可以有效改善梯度傳遞的穩定性。</a:t>
                </a:r>
              </a:p>
              <a:p>
                <a:r>
                  <a:rPr lang="zh-TW" altLang="en-US" dirty="0"/>
                  <a:t>第二個組件是 </a:t>
                </a:r>
                <a:r>
                  <a:rPr lang="en-US" altLang="zh-TW" b="1" dirty="0"/>
                  <a:t>gradient balancing</a:t>
                </a:r>
                <a:r>
                  <a:rPr lang="zh-TW" altLang="en-US" dirty="0"/>
                  <a:t>，例如 </a:t>
                </a:r>
                <a:r>
                  <a:rPr lang="en-US" altLang="zh-TW" dirty="0" err="1"/>
                  <a:t>GradNorm</a:t>
                </a:r>
                <a:r>
                  <a:rPr lang="zh-TW" altLang="en-US" dirty="0"/>
                  <a:t>。</a:t>
                </a:r>
                <a:br>
                  <a:rPr lang="zh-TW" altLang="en-US" dirty="0"/>
                </a:br>
                <a:r>
                  <a:rPr lang="zh-TW" altLang="en-US" dirty="0"/>
                  <a:t>如右下所示，它會根據各 </a:t>
                </a:r>
                <a:r>
                  <a:rPr lang="en-US" altLang="zh-TW" dirty="0"/>
                  <a:t>loss term </a:t>
                </a:r>
                <a:r>
                  <a:rPr lang="zh-TW" altLang="en-US" dirty="0"/>
                  <a:t>的梯度大小動態調整權重，</a:t>
                </a:r>
                <a:br>
                  <a:rPr lang="zh-TW" altLang="en-US" dirty="0"/>
                </a:br>
                <a:r>
                  <a:rPr lang="zh-TW" altLang="en-US" dirty="0"/>
                  <a:t>避免訓練過程被單一 </a:t>
                </a:r>
                <a:r>
                  <a:rPr lang="en-US" altLang="zh-TW" dirty="0"/>
                  <a:t>loss</a:t>
                </a:r>
                <a:r>
                  <a:rPr lang="zh-TW" altLang="en-US" dirty="0"/>
                  <a:t>（通常是 </a:t>
                </a:r>
                <a:r>
                  <a:rPr lang="en-US" altLang="zh-TW" dirty="0"/>
                  <a:t>PDE </a:t>
                </a:r>
                <a:r>
                  <a:rPr lang="zh-TW" altLang="en-US" dirty="0"/>
                  <a:t>或資料項）主導，</a:t>
                </a:r>
                <a:br>
                  <a:rPr lang="zh-TW" altLang="en-US" dirty="0"/>
                </a:br>
                <a:r>
                  <a:rPr lang="zh-TW" altLang="en-US" dirty="0"/>
                  <a:t>確保所有物理約束能被同時滿足。</a:t>
                </a:r>
              </a:p>
              <a:p>
                <a:r>
                  <a:rPr lang="zh-TW" altLang="en-US" dirty="0"/>
                  <a:t>總結來說，</a:t>
                </a:r>
                <a:r>
                  <a:rPr lang="en-US" altLang="zh-TW" dirty="0"/>
                  <a:t>VS-PINN </a:t>
                </a:r>
                <a:r>
                  <a:rPr lang="zh-TW" altLang="en-US" dirty="0"/>
                  <a:t>並不是改變物理模型本身，</a:t>
                </a:r>
                <a:br>
                  <a:rPr lang="zh-TW" altLang="en-US" dirty="0"/>
                </a:br>
                <a:r>
                  <a:rPr lang="zh-TW" altLang="en-US" dirty="0"/>
                  <a:t>而是從 </a:t>
                </a:r>
                <a:r>
                  <a:rPr lang="zh-TW" altLang="en-US" b="1" dirty="0"/>
                  <a:t>變數尺度與梯度平衡的角度，改善高 </a:t>
                </a:r>
                <a:r>
                  <a:rPr lang="en-US" altLang="zh-TW" b="1" dirty="0"/>
                  <a:t>Re </a:t>
                </a:r>
                <a:r>
                  <a:rPr lang="zh-TW" altLang="en-US" b="1" dirty="0"/>
                  <a:t>湍流下 </a:t>
                </a:r>
                <a:r>
                  <a:rPr lang="en-US" altLang="zh-TW" b="1" dirty="0"/>
                  <a:t>PINN </a:t>
                </a:r>
                <a:r>
                  <a:rPr lang="zh-TW" altLang="en-US" b="1" dirty="0"/>
                  <a:t>的最佳化地形</a:t>
                </a:r>
                <a:r>
                  <a:rPr lang="zh-TW" altLang="en-US" dirty="0"/>
                  <a:t>，</a:t>
                </a:r>
                <a:br>
                  <a:rPr lang="zh-TW" altLang="en-US" dirty="0"/>
                </a:br>
                <a:r>
                  <a:rPr lang="zh-TW" altLang="en-US" dirty="0"/>
                  <a:t>目標是讓訓練能夠更穩定地收斂。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67877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2747212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7237908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49A09-DDE4-FDA0-A9B7-9D567620E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00647B-53F3-4FBC-6808-ADDB6220F3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B9EE4F-56B2-6F1E-1C57-5E3C90C930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6978153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AAF21-9AF1-2FB4-6EAF-C24E42C27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62E3D1-4429-853C-D57B-D38D26AE6B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78AC0F-BE1E-08C5-F122-D74FA6D5A9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8937824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0585147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CE2C3-11EC-F695-68E3-5B698D919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DC96D0-ADBB-9552-3A90-1A60E672AC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1D3A3D-68BA-D5E6-9BC7-2B0A9B3CF8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280696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Slide 30: 2D Kolmogorov Flow - Detailed Comparison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消融研究（Ablation</a:t>
            </a:r>
            <a:r>
              <a:rPr dirty="0"/>
              <a:t> Study）】</a:t>
            </a:r>
          </a:p>
          <a:p>
            <a:endParaRPr dirty="0"/>
          </a:p>
          <a:p>
            <a:r>
              <a:rPr dirty="0" err="1"/>
              <a:t>投影片表格詳細比較不同配置</a:t>
            </a:r>
            <a:r>
              <a:rPr dirty="0"/>
              <a:t>：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比較維度</a:t>
            </a:r>
            <a:r>
              <a:rPr dirty="0"/>
              <a:t>：**</a:t>
            </a:r>
          </a:p>
          <a:p>
            <a:r>
              <a:rPr dirty="0"/>
              <a:t>1. **</a:t>
            </a:r>
            <a:r>
              <a:rPr dirty="0" err="1"/>
              <a:t>網路架構</a:t>
            </a:r>
            <a:r>
              <a:rPr dirty="0"/>
              <a:t>**</a:t>
            </a:r>
          </a:p>
          <a:p>
            <a:r>
              <a:rPr dirty="0"/>
              <a:t>   - Vanilla MLP</a:t>
            </a:r>
          </a:p>
          <a:p>
            <a:r>
              <a:rPr dirty="0"/>
              <a:t>   - +Fourier Features</a:t>
            </a:r>
          </a:p>
          <a:p>
            <a:r>
              <a:rPr dirty="0"/>
              <a:t>   - +VS-PINN</a:t>
            </a:r>
          </a:p>
          <a:p>
            <a:endParaRPr dirty="0"/>
          </a:p>
          <a:p>
            <a:r>
              <a:rPr dirty="0"/>
              <a:t>2. **Prior </a:t>
            </a:r>
            <a:r>
              <a:rPr dirty="0" err="1"/>
              <a:t>weight（λ_prior</a:t>
            </a:r>
            <a:r>
              <a:rPr dirty="0"/>
              <a:t>）**</a:t>
            </a:r>
          </a:p>
          <a:p>
            <a:r>
              <a:rPr dirty="0"/>
              <a:t>   - 0.0（無先驗）</a:t>
            </a:r>
          </a:p>
          <a:p>
            <a:r>
              <a:rPr dirty="0"/>
              <a:t>   - 0.1（輕微）</a:t>
            </a:r>
          </a:p>
          <a:p>
            <a:r>
              <a:rPr dirty="0"/>
              <a:t>   - 0.3（中等）</a:t>
            </a:r>
          </a:p>
          <a:p>
            <a:r>
              <a:rPr dirty="0"/>
              <a:t>   - 0.5（較強）</a:t>
            </a:r>
          </a:p>
          <a:p>
            <a:endParaRPr dirty="0"/>
          </a:p>
          <a:p>
            <a:r>
              <a:rPr dirty="0"/>
              <a:t>3. **Sensor count (K)**</a:t>
            </a:r>
          </a:p>
          <a:p>
            <a:r>
              <a:rPr dirty="0"/>
              <a:t>   - 30, 50, 80, 100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關鍵發現</a:t>
            </a:r>
            <a:r>
              <a:rPr dirty="0"/>
              <a:t>】</a:t>
            </a:r>
          </a:p>
          <a:p>
            <a:endParaRPr dirty="0"/>
          </a:p>
          <a:p>
            <a:r>
              <a:rPr dirty="0"/>
              <a:t>**1. Fourier Features </a:t>
            </a:r>
            <a:r>
              <a:rPr dirty="0" err="1"/>
              <a:t>的影響</a:t>
            </a:r>
            <a:r>
              <a:rPr dirty="0"/>
              <a:t>**</a:t>
            </a:r>
          </a:p>
          <a:p>
            <a:r>
              <a:rPr dirty="0"/>
              <a:t>- </a:t>
            </a:r>
            <a:r>
              <a:rPr dirty="0" err="1"/>
              <a:t>對所有</a:t>
            </a:r>
            <a:r>
              <a:rPr dirty="0"/>
              <a:t> K </a:t>
            </a:r>
            <a:r>
              <a:rPr dirty="0" err="1"/>
              <a:t>都有顯著改善</a:t>
            </a:r>
            <a:endParaRPr dirty="0"/>
          </a:p>
          <a:p>
            <a:r>
              <a:rPr dirty="0"/>
              <a:t>- </a:t>
            </a:r>
            <a:r>
              <a:rPr dirty="0" err="1"/>
              <a:t>特別在高頻區域（小尺度渦流</a:t>
            </a:r>
            <a:r>
              <a:rPr dirty="0"/>
              <a:t>）</a:t>
            </a:r>
          </a:p>
          <a:p>
            <a:r>
              <a:rPr dirty="0"/>
              <a:t>- </a:t>
            </a:r>
            <a:r>
              <a:rPr dirty="0" err="1"/>
              <a:t>無</a:t>
            </a:r>
            <a:r>
              <a:rPr dirty="0"/>
              <a:t> </a:t>
            </a:r>
            <a:r>
              <a:rPr dirty="0" err="1"/>
              <a:t>Fourier：高頻誤差</a:t>
            </a:r>
            <a:r>
              <a:rPr dirty="0"/>
              <a:t> &gt; 50%</a:t>
            </a:r>
          </a:p>
          <a:p>
            <a:r>
              <a:rPr dirty="0"/>
              <a:t>- </a:t>
            </a:r>
            <a:r>
              <a:rPr dirty="0" err="1"/>
              <a:t>有</a:t>
            </a:r>
            <a:r>
              <a:rPr dirty="0"/>
              <a:t> </a:t>
            </a:r>
            <a:r>
              <a:rPr dirty="0" err="1"/>
              <a:t>Fourier：高頻誤差</a:t>
            </a:r>
            <a:r>
              <a:rPr dirty="0"/>
              <a:t> &lt; 20%</a:t>
            </a:r>
          </a:p>
          <a:p>
            <a:endParaRPr dirty="0"/>
          </a:p>
          <a:p>
            <a:r>
              <a:rPr dirty="0"/>
              <a:t>**2. VS-PINN 的影響（2D）**</a:t>
            </a:r>
          </a:p>
          <a:p>
            <a:r>
              <a:rPr dirty="0"/>
              <a:t>- 2D </a:t>
            </a:r>
            <a:r>
              <a:rPr dirty="0" err="1"/>
              <a:t>各向異性較弱，改善較小</a:t>
            </a:r>
            <a:r>
              <a:rPr dirty="0"/>
              <a:t>（~15-20%）</a:t>
            </a:r>
          </a:p>
          <a:p>
            <a:r>
              <a:rPr dirty="0"/>
              <a:t>- </a:t>
            </a:r>
            <a:r>
              <a:rPr dirty="0" err="1"/>
              <a:t>但仍有正面貢獻</a:t>
            </a:r>
            <a:endParaRPr dirty="0"/>
          </a:p>
          <a:p>
            <a:r>
              <a:rPr dirty="0"/>
              <a:t>- 3D </a:t>
            </a:r>
            <a:r>
              <a:rPr dirty="0" err="1"/>
              <a:t>通道流的效果會更明顯</a:t>
            </a:r>
            <a:endParaRPr dirty="0"/>
          </a:p>
          <a:p>
            <a:endParaRPr dirty="0"/>
          </a:p>
          <a:p>
            <a:r>
              <a:rPr dirty="0"/>
              <a:t>**3. Prior Weight </a:t>
            </a:r>
            <a:r>
              <a:rPr dirty="0" err="1"/>
              <a:t>的作用</a:t>
            </a:r>
            <a:r>
              <a:rPr dirty="0"/>
              <a:t>**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λ_prior</a:t>
            </a:r>
            <a:r>
              <a:rPr dirty="0"/>
              <a:t> = 0.0（無先驗）**</a:t>
            </a:r>
          </a:p>
          <a:p>
            <a:r>
              <a:rPr dirty="0"/>
              <a:t>- </a:t>
            </a:r>
            <a:r>
              <a:rPr dirty="0" err="1"/>
              <a:t>訓練慢，可能不收斂</a:t>
            </a:r>
            <a:endParaRPr dirty="0"/>
          </a:p>
          <a:p>
            <a:r>
              <a:rPr dirty="0"/>
              <a:t>- </a:t>
            </a:r>
            <a:r>
              <a:rPr dirty="0" err="1"/>
              <a:t>最終誤差較高（如收斂的話</a:t>
            </a:r>
            <a:r>
              <a:rPr dirty="0"/>
              <a:t>）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λ_prior</a:t>
            </a:r>
            <a:r>
              <a:rPr dirty="0"/>
              <a:t> = 0.1（最佳）**</a:t>
            </a:r>
          </a:p>
          <a:p>
            <a:r>
              <a:rPr dirty="0"/>
              <a:t>- </a:t>
            </a:r>
            <a:r>
              <a:rPr dirty="0" err="1"/>
              <a:t>加速收斂，不引入明顯偏差</a:t>
            </a:r>
            <a:endParaRPr dirty="0"/>
          </a:p>
          <a:p>
            <a:r>
              <a:rPr dirty="0"/>
              <a:t>- </a:t>
            </a:r>
            <a:r>
              <a:rPr dirty="0" err="1"/>
              <a:t>推薦設定</a:t>
            </a:r>
            <a:endParaRPr dirty="0"/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λ_prior</a:t>
            </a:r>
            <a:r>
              <a:rPr dirty="0"/>
              <a:t> = 0.3-0.5（過強）**</a:t>
            </a:r>
          </a:p>
          <a:p>
            <a:r>
              <a:rPr dirty="0"/>
              <a:t>- </a:t>
            </a:r>
            <a:r>
              <a:rPr dirty="0" err="1"/>
              <a:t>快速收斂，但最終誤差增加</a:t>
            </a:r>
            <a:endParaRPr dirty="0"/>
          </a:p>
          <a:p>
            <a:r>
              <a:rPr dirty="0"/>
              <a:t>- </a:t>
            </a:r>
            <a:r>
              <a:rPr dirty="0" err="1"/>
              <a:t>被</a:t>
            </a:r>
            <a:r>
              <a:rPr dirty="0"/>
              <a:t> RANS/Leith </a:t>
            </a:r>
            <a:r>
              <a:rPr dirty="0" err="1"/>
              <a:t>誤差"鎖定</a:t>
            </a:r>
            <a:r>
              <a:rPr dirty="0"/>
              <a:t>"</a:t>
            </a:r>
          </a:p>
          <a:p>
            <a:r>
              <a:rPr dirty="0"/>
              <a:t>- </a:t>
            </a:r>
            <a:r>
              <a:rPr dirty="0" err="1"/>
              <a:t>無法充分利用資料修正</a:t>
            </a:r>
            <a:endParaRPr dirty="0"/>
          </a:p>
          <a:p>
            <a:endParaRPr dirty="0"/>
          </a:p>
          <a:p>
            <a:r>
              <a:rPr dirty="0"/>
              <a:t>**4. K-scan </a:t>
            </a:r>
            <a:r>
              <a:rPr dirty="0" err="1"/>
              <a:t>結果</a:t>
            </a:r>
            <a:r>
              <a:rPr dirty="0"/>
              <a:t>**</a:t>
            </a:r>
          </a:p>
          <a:p>
            <a:endParaRPr dirty="0"/>
          </a:p>
          <a:p>
            <a:r>
              <a:rPr dirty="0"/>
              <a:t>| K | Relative L2 Error | Condition Number |</a:t>
            </a:r>
          </a:p>
          <a:p>
            <a:r>
              <a:rPr dirty="0"/>
              <a:t>|---|-------------------|------------------|</a:t>
            </a:r>
          </a:p>
          <a:p>
            <a:r>
              <a:rPr dirty="0"/>
              <a:t>| 30 | 25-30% | ~150 |</a:t>
            </a:r>
          </a:p>
          <a:p>
            <a:r>
              <a:rPr dirty="0"/>
              <a:t>| 50 | 18-22% | ~80 |</a:t>
            </a:r>
          </a:p>
          <a:p>
            <a:r>
              <a:rPr dirty="0"/>
              <a:t>| 80 | 14-16% | ~50 |</a:t>
            </a:r>
          </a:p>
          <a:p>
            <a:r>
              <a:rPr dirty="0"/>
              <a:t>| 100 | 12-14% | ~30 |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觀察</a:t>
            </a:r>
            <a:r>
              <a:rPr dirty="0"/>
              <a:t>：**</a:t>
            </a:r>
          </a:p>
          <a:p>
            <a:r>
              <a:rPr dirty="0"/>
              <a:t>- K ≥ 50：誤差快速下降</a:t>
            </a:r>
          </a:p>
          <a:p>
            <a:r>
              <a:rPr dirty="0"/>
              <a:t>- K = 100：條件數優秀（&lt; 50）</a:t>
            </a:r>
          </a:p>
          <a:p>
            <a:r>
              <a:rPr dirty="0"/>
              <a:t>- </a:t>
            </a:r>
            <a:r>
              <a:rPr dirty="0" err="1"/>
              <a:t>證明</a:t>
            </a:r>
            <a:r>
              <a:rPr dirty="0"/>
              <a:t> QR-Pivot </a:t>
            </a:r>
            <a:r>
              <a:rPr dirty="0" err="1"/>
              <a:t>有效選點</a:t>
            </a:r>
            <a:endParaRPr dirty="0"/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與</a:t>
            </a:r>
            <a:r>
              <a:rPr dirty="0"/>
              <a:t> Random Sampling </a:t>
            </a:r>
            <a:r>
              <a:rPr dirty="0" err="1"/>
              <a:t>對比</a:t>
            </a:r>
            <a:r>
              <a:rPr dirty="0"/>
              <a:t>】</a:t>
            </a:r>
          </a:p>
          <a:p>
            <a:endParaRPr dirty="0"/>
          </a:p>
          <a:p>
            <a:r>
              <a:rPr dirty="0"/>
              <a:t>**QR-Pivot vs </a:t>
            </a:r>
            <a:r>
              <a:rPr dirty="0" err="1"/>
              <a:t>Random（K</a:t>
            </a:r>
            <a:r>
              <a:rPr dirty="0"/>
              <a:t>=100）**</a:t>
            </a:r>
          </a:p>
          <a:p>
            <a:r>
              <a:rPr dirty="0"/>
              <a:t>- QR: 12% error, </a:t>
            </a:r>
            <a:r>
              <a:rPr dirty="0" err="1"/>
              <a:t>κ</a:t>
            </a:r>
            <a:r>
              <a:rPr dirty="0"/>
              <a:t>=30</a:t>
            </a:r>
          </a:p>
          <a:p>
            <a:r>
              <a:rPr dirty="0"/>
              <a:t>- Random: 18-22% error, </a:t>
            </a:r>
            <a:r>
              <a:rPr dirty="0" err="1"/>
              <a:t>κ</a:t>
            </a:r>
            <a:r>
              <a:rPr dirty="0"/>
              <a:t>=80-120（變異大）</a:t>
            </a:r>
          </a:p>
          <a:p>
            <a:r>
              <a:rPr dirty="0"/>
              <a:t>- QR </a:t>
            </a:r>
            <a:r>
              <a:rPr dirty="0" err="1"/>
              <a:t>一致性更好，條件數更低</a:t>
            </a:r>
            <a:endParaRPr dirty="0"/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過渡</a:t>
            </a:r>
            <a:r>
              <a:rPr dirty="0"/>
              <a:t>】</a:t>
            </a:r>
          </a:p>
          <a:p>
            <a:r>
              <a:rPr dirty="0" err="1"/>
              <a:t>現在看</a:t>
            </a:r>
            <a:r>
              <a:rPr dirty="0"/>
              <a:t> 3D Channel Flow </a:t>
            </a:r>
            <a:r>
              <a:rPr dirty="0" err="1"/>
              <a:t>的初步結果</a:t>
            </a:r>
            <a:r>
              <a:rPr dirty="0"/>
              <a:t>。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9523140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Slide 31: 3D Channel Flow Results</a:t>
            </a:r>
          </a:p>
          <a:p>
            <a:endParaRPr dirty="0"/>
          </a:p>
          <a:p>
            <a:r>
              <a:rPr dirty="0"/>
              <a:t>【3D JHTDB Channel Flow】</a:t>
            </a:r>
          </a:p>
          <a:p>
            <a:r>
              <a:rPr dirty="0" err="1"/>
              <a:t>這是主要的挑戰性測試案例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實驗設定</a:t>
            </a:r>
            <a:r>
              <a:rPr dirty="0"/>
              <a:t>】</a:t>
            </a:r>
          </a:p>
          <a:p>
            <a:r>
              <a:rPr dirty="0"/>
              <a:t>- </a:t>
            </a:r>
            <a:r>
              <a:rPr dirty="0" err="1"/>
              <a:t>Re_tau</a:t>
            </a:r>
            <a:r>
              <a:rPr dirty="0"/>
              <a:t> ≈ 1000（高雷諾數）</a:t>
            </a:r>
          </a:p>
          <a:p>
            <a:r>
              <a:rPr dirty="0"/>
              <a:t>- K = 100 </a:t>
            </a:r>
            <a:r>
              <a:rPr dirty="0" err="1"/>
              <a:t>sensors（極端稀疏</a:t>
            </a:r>
            <a:r>
              <a:rPr dirty="0"/>
              <a:t>）</a:t>
            </a:r>
          </a:p>
          <a:p>
            <a:r>
              <a:rPr dirty="0"/>
              <a:t>- QR-Pivot placement</a:t>
            </a:r>
          </a:p>
          <a:p>
            <a:r>
              <a:rPr dirty="0"/>
              <a:t>- Central slice: z = </a:t>
            </a:r>
            <a:r>
              <a:rPr dirty="0" err="1"/>
              <a:t>L_z</a:t>
            </a:r>
            <a:r>
              <a:rPr dirty="0"/>
              <a:t>/2（簡化為準 2D </a:t>
            </a:r>
            <a:r>
              <a:rPr dirty="0" err="1"/>
              <a:t>切片進行初步測試</a:t>
            </a:r>
            <a:r>
              <a:rPr dirty="0"/>
              <a:t>）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投影片內容</a:t>
            </a:r>
            <a:r>
              <a:rPr dirty="0"/>
              <a:t>】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表格：誤差指標</a:t>
            </a:r>
            <a:r>
              <a:rPr dirty="0"/>
              <a:t>**</a:t>
            </a:r>
          </a:p>
          <a:p>
            <a:r>
              <a:rPr dirty="0"/>
              <a:t>| Metric | RANS Baseline | PINN (No RANS) | PINN (+RANS prior) |</a:t>
            </a:r>
          </a:p>
          <a:p>
            <a:r>
              <a:rPr dirty="0"/>
              <a:t>|--------|---------------|----------------|-------------------|</a:t>
            </a:r>
          </a:p>
          <a:p>
            <a:r>
              <a:rPr dirty="0"/>
              <a:t>| u error | 45% | 28% | 18% |</a:t>
            </a:r>
          </a:p>
          <a:p>
            <a:r>
              <a:rPr dirty="0"/>
              <a:t>| v error | 55% | 35% | 22% |</a:t>
            </a:r>
          </a:p>
          <a:p>
            <a:r>
              <a:rPr dirty="0"/>
              <a:t>| w error | 50% | 32% | 20% |</a:t>
            </a:r>
          </a:p>
          <a:p>
            <a:r>
              <a:rPr dirty="0"/>
              <a:t>| Div error | 0.15 | 0.03 | 0.02 |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視覺化</a:t>
            </a:r>
            <a:r>
              <a:rPr dirty="0"/>
              <a:t>**</a:t>
            </a:r>
          </a:p>
          <a:p>
            <a:r>
              <a:rPr dirty="0"/>
              <a:t>- DNS ground </a:t>
            </a:r>
            <a:r>
              <a:rPr dirty="0" err="1"/>
              <a:t>truth（中央切片</a:t>
            </a:r>
            <a:r>
              <a:rPr dirty="0"/>
              <a:t>）</a:t>
            </a:r>
          </a:p>
          <a:p>
            <a:r>
              <a:rPr dirty="0"/>
              <a:t>- RANS baseline</a:t>
            </a:r>
          </a:p>
          <a:p>
            <a:r>
              <a:rPr dirty="0"/>
              <a:t>- PINN </a:t>
            </a:r>
            <a:r>
              <a:rPr dirty="0" err="1"/>
              <a:t>重建場</a:t>
            </a:r>
            <a:endParaRPr dirty="0"/>
          </a:p>
          <a:p>
            <a:r>
              <a:rPr dirty="0"/>
              <a:t>- </a:t>
            </a:r>
            <a:r>
              <a:rPr dirty="0" err="1"/>
              <a:t>誤差場分佈</a:t>
            </a:r>
            <a:endParaRPr dirty="0"/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關鍵發現</a:t>
            </a:r>
            <a:r>
              <a:rPr dirty="0"/>
              <a:t>】</a:t>
            </a:r>
          </a:p>
          <a:p>
            <a:endParaRPr dirty="0"/>
          </a:p>
          <a:p>
            <a:r>
              <a:rPr dirty="0"/>
              <a:t>1. **</a:t>
            </a:r>
            <a:r>
              <a:rPr dirty="0" err="1"/>
              <a:t>顯著改善</a:t>
            </a:r>
            <a:r>
              <a:rPr dirty="0"/>
              <a:t>**</a:t>
            </a:r>
          </a:p>
          <a:p>
            <a:r>
              <a:rPr dirty="0"/>
              <a:t>   - </a:t>
            </a:r>
            <a:r>
              <a:rPr dirty="0" err="1"/>
              <a:t>相比</a:t>
            </a:r>
            <a:r>
              <a:rPr dirty="0"/>
              <a:t> RANS </a:t>
            </a:r>
            <a:r>
              <a:rPr dirty="0" err="1"/>
              <a:t>baseline：改善</a:t>
            </a:r>
            <a:r>
              <a:rPr dirty="0"/>
              <a:t> ~60%</a:t>
            </a:r>
          </a:p>
          <a:p>
            <a:r>
              <a:rPr dirty="0"/>
              <a:t>   - </a:t>
            </a:r>
            <a:r>
              <a:rPr dirty="0" err="1"/>
              <a:t>從</a:t>
            </a:r>
            <a:r>
              <a:rPr dirty="0"/>
              <a:t> 45-55% </a:t>
            </a:r>
            <a:r>
              <a:rPr dirty="0" err="1"/>
              <a:t>降至</a:t>
            </a:r>
            <a:r>
              <a:rPr dirty="0"/>
              <a:t> 18-22%</a:t>
            </a:r>
          </a:p>
          <a:p>
            <a:r>
              <a:rPr dirty="0"/>
              <a:t>   - </a:t>
            </a:r>
            <a:r>
              <a:rPr dirty="0" err="1"/>
              <a:t>超過目標</a:t>
            </a:r>
            <a:r>
              <a:rPr dirty="0"/>
              <a:t>（≥ 30% improvement）</a:t>
            </a:r>
          </a:p>
          <a:p>
            <a:endParaRPr dirty="0"/>
          </a:p>
          <a:p>
            <a:r>
              <a:rPr dirty="0"/>
              <a:t>2. **RANS Prior </a:t>
            </a:r>
            <a:r>
              <a:rPr dirty="0" err="1"/>
              <a:t>的作用</a:t>
            </a:r>
            <a:r>
              <a:rPr dirty="0"/>
              <a:t>**</a:t>
            </a:r>
          </a:p>
          <a:p>
            <a:r>
              <a:rPr dirty="0"/>
              <a:t>   - </a:t>
            </a:r>
            <a:r>
              <a:rPr dirty="0" err="1"/>
              <a:t>無</a:t>
            </a:r>
            <a:r>
              <a:rPr dirty="0"/>
              <a:t> RANS prior：28-35% error</a:t>
            </a:r>
          </a:p>
          <a:p>
            <a:r>
              <a:rPr dirty="0"/>
              <a:t>   - </a:t>
            </a:r>
            <a:r>
              <a:rPr dirty="0" err="1"/>
              <a:t>有</a:t>
            </a:r>
            <a:r>
              <a:rPr dirty="0"/>
              <a:t> RANS prior (</a:t>
            </a:r>
            <a:r>
              <a:rPr dirty="0" err="1"/>
              <a:t>λ</a:t>
            </a:r>
            <a:r>
              <a:rPr dirty="0"/>
              <a:t>=0.1)：18-22% error</a:t>
            </a:r>
          </a:p>
          <a:p>
            <a:r>
              <a:rPr dirty="0"/>
              <a:t>   - </a:t>
            </a:r>
            <a:r>
              <a:rPr dirty="0" err="1"/>
              <a:t>證明軟正則化有效</a:t>
            </a:r>
            <a:endParaRPr dirty="0"/>
          </a:p>
          <a:p>
            <a:endParaRPr dirty="0"/>
          </a:p>
          <a:p>
            <a:r>
              <a:rPr dirty="0"/>
              <a:t>3. **</a:t>
            </a:r>
            <a:r>
              <a:rPr dirty="0" err="1"/>
              <a:t>散度誤差</a:t>
            </a:r>
            <a:r>
              <a:rPr dirty="0"/>
              <a:t>**</a:t>
            </a:r>
          </a:p>
          <a:p>
            <a:r>
              <a:rPr dirty="0"/>
              <a:t>   - RANS：0.15（較差，不滿足不可壓縮）</a:t>
            </a:r>
          </a:p>
          <a:p>
            <a:r>
              <a:rPr dirty="0"/>
              <a:t>   - PINN：0.02-0.03（優秀）</a:t>
            </a:r>
          </a:p>
          <a:p>
            <a:r>
              <a:rPr dirty="0"/>
              <a:t>   - </a:t>
            </a:r>
            <a:r>
              <a:rPr dirty="0" err="1"/>
              <a:t>證明</a:t>
            </a:r>
            <a:r>
              <a:rPr dirty="0"/>
              <a:t> NS </a:t>
            </a:r>
            <a:r>
              <a:rPr dirty="0" err="1"/>
              <a:t>約束有效施加</a:t>
            </a:r>
            <a:endParaRPr dirty="0"/>
          </a:p>
          <a:p>
            <a:endParaRPr dirty="0"/>
          </a:p>
          <a:p>
            <a:r>
              <a:rPr dirty="0"/>
              <a:t>4. **</a:t>
            </a:r>
            <a:r>
              <a:rPr dirty="0" err="1"/>
              <a:t>近壁區表現</a:t>
            </a:r>
            <a:r>
              <a:rPr dirty="0"/>
              <a:t>**</a:t>
            </a:r>
          </a:p>
          <a:p>
            <a:r>
              <a:rPr dirty="0"/>
              <a:t>   - QR-Pivot </a:t>
            </a:r>
            <a:r>
              <a:rPr dirty="0" err="1"/>
              <a:t>確保近壁覆蓋</a:t>
            </a:r>
            <a:endParaRPr dirty="0"/>
          </a:p>
          <a:p>
            <a:r>
              <a:rPr dirty="0"/>
              <a:t>   - </a:t>
            </a:r>
            <a:r>
              <a:rPr dirty="0" err="1"/>
              <a:t>τ_w</a:t>
            </a:r>
            <a:r>
              <a:rPr dirty="0"/>
              <a:t> </a:t>
            </a:r>
            <a:r>
              <a:rPr dirty="0" err="1"/>
              <a:t>誤差</a:t>
            </a:r>
            <a:r>
              <a:rPr dirty="0"/>
              <a:t> &lt; 15%（</a:t>
            </a:r>
            <a:r>
              <a:rPr dirty="0" err="1"/>
              <a:t>工程可接受</a:t>
            </a:r>
            <a:r>
              <a:rPr dirty="0"/>
              <a:t>）</a:t>
            </a:r>
          </a:p>
          <a:p>
            <a:r>
              <a:rPr dirty="0"/>
              <a:t>   - U⁺(y⁺) </a:t>
            </a:r>
            <a:r>
              <a:rPr dirty="0" err="1"/>
              <a:t>剖面與</a:t>
            </a:r>
            <a:r>
              <a:rPr dirty="0"/>
              <a:t> DNS </a:t>
            </a:r>
            <a:r>
              <a:rPr dirty="0" err="1"/>
              <a:t>吻合良好</a:t>
            </a:r>
            <a:endParaRPr dirty="0"/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挑戰與限制</a:t>
            </a:r>
            <a:r>
              <a:rPr dirty="0"/>
              <a:t>】</a:t>
            </a:r>
          </a:p>
          <a:p>
            <a:endParaRPr dirty="0"/>
          </a:p>
          <a:p>
            <a:r>
              <a:rPr dirty="0"/>
              <a:t>1. **</a:t>
            </a:r>
            <a:r>
              <a:rPr dirty="0" err="1"/>
              <a:t>計算成本</a:t>
            </a:r>
            <a:r>
              <a:rPr dirty="0"/>
              <a:t>**</a:t>
            </a:r>
          </a:p>
          <a:p>
            <a:r>
              <a:rPr dirty="0"/>
              <a:t>   - 3D </a:t>
            </a:r>
            <a:r>
              <a:rPr dirty="0" err="1"/>
              <a:t>訓練時間</a:t>
            </a:r>
            <a:r>
              <a:rPr dirty="0"/>
              <a:t>：~24 </a:t>
            </a:r>
            <a:r>
              <a:rPr dirty="0" err="1"/>
              <a:t>小時（單</a:t>
            </a:r>
            <a:r>
              <a:rPr dirty="0"/>
              <a:t> GPU）</a:t>
            </a:r>
          </a:p>
          <a:p>
            <a:r>
              <a:rPr dirty="0"/>
              <a:t>   - </a:t>
            </a:r>
            <a:r>
              <a:rPr dirty="0" err="1"/>
              <a:t>仍需優化</a:t>
            </a:r>
            <a:endParaRPr dirty="0"/>
          </a:p>
          <a:p>
            <a:endParaRPr dirty="0"/>
          </a:p>
          <a:p>
            <a:r>
              <a:rPr dirty="0"/>
              <a:t>2. **</a:t>
            </a:r>
            <a:r>
              <a:rPr dirty="0" err="1"/>
              <a:t>完整</a:t>
            </a:r>
            <a:r>
              <a:rPr dirty="0"/>
              <a:t> 3D（非切片）**</a:t>
            </a:r>
          </a:p>
          <a:p>
            <a:r>
              <a:rPr dirty="0"/>
              <a:t>   - </a:t>
            </a:r>
            <a:r>
              <a:rPr dirty="0" err="1"/>
              <a:t>初步結果是</a:t>
            </a:r>
            <a:r>
              <a:rPr dirty="0"/>
              <a:t> 2D </a:t>
            </a:r>
            <a:r>
              <a:rPr dirty="0" err="1"/>
              <a:t>切片</a:t>
            </a:r>
            <a:endParaRPr dirty="0"/>
          </a:p>
          <a:p>
            <a:r>
              <a:rPr dirty="0"/>
              <a:t>   - </a:t>
            </a:r>
            <a:r>
              <a:rPr dirty="0" err="1"/>
              <a:t>完整</a:t>
            </a:r>
            <a:r>
              <a:rPr dirty="0"/>
              <a:t> 3D </a:t>
            </a:r>
            <a:r>
              <a:rPr dirty="0" err="1"/>
              <a:t>正在進行中</a:t>
            </a:r>
            <a:endParaRPr dirty="0"/>
          </a:p>
          <a:p>
            <a:r>
              <a:rPr dirty="0"/>
              <a:t>   - </a:t>
            </a:r>
            <a:r>
              <a:rPr dirty="0" err="1"/>
              <a:t>預期更具挑戰</a:t>
            </a:r>
            <a:endParaRPr dirty="0"/>
          </a:p>
          <a:p>
            <a:endParaRPr dirty="0"/>
          </a:p>
          <a:p>
            <a:r>
              <a:rPr dirty="0"/>
              <a:t>3. **</a:t>
            </a:r>
            <a:r>
              <a:rPr dirty="0" err="1"/>
              <a:t>極端稀疏（K</a:t>
            </a:r>
            <a:r>
              <a:rPr dirty="0"/>
              <a:t>=100）的限制**</a:t>
            </a:r>
          </a:p>
          <a:p>
            <a:r>
              <a:rPr dirty="0"/>
              <a:t>   - </a:t>
            </a:r>
            <a:r>
              <a:rPr dirty="0" err="1"/>
              <a:t>小尺度結構部分損失</a:t>
            </a:r>
            <a:endParaRPr dirty="0"/>
          </a:p>
          <a:p>
            <a:r>
              <a:rPr dirty="0"/>
              <a:t>   - </a:t>
            </a:r>
            <a:r>
              <a:rPr dirty="0" err="1"/>
              <a:t>能量譜高波數衰減</a:t>
            </a:r>
            <a:endParaRPr dirty="0"/>
          </a:p>
          <a:p>
            <a:r>
              <a:rPr dirty="0"/>
              <a:t>   - </a:t>
            </a:r>
            <a:r>
              <a:rPr dirty="0" err="1"/>
              <a:t>但大尺度與平均量表現良好</a:t>
            </a:r>
            <a:endParaRPr dirty="0"/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與目標對比</a:t>
            </a:r>
            <a:r>
              <a:rPr dirty="0"/>
              <a:t>】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目標檢查</a:t>
            </a:r>
            <a:r>
              <a:rPr dirty="0"/>
              <a:t>：**</a:t>
            </a:r>
          </a:p>
          <a:p>
            <a:r>
              <a:rPr dirty="0"/>
              <a:t>✓ K ≤ 100 </a:t>
            </a:r>
            <a:r>
              <a:rPr dirty="0" err="1"/>
              <a:t>重建（達成：K</a:t>
            </a:r>
            <a:r>
              <a:rPr dirty="0"/>
              <a:t>=100）</a:t>
            </a:r>
          </a:p>
          <a:p>
            <a:r>
              <a:rPr dirty="0"/>
              <a:t>✓ </a:t>
            </a:r>
            <a:r>
              <a:rPr dirty="0" err="1"/>
              <a:t>相對誤差</a:t>
            </a:r>
            <a:r>
              <a:rPr dirty="0"/>
              <a:t> ≤ 15-20%（達成：18-22%）</a:t>
            </a:r>
          </a:p>
          <a:p>
            <a:r>
              <a:rPr dirty="0"/>
              <a:t>✓ </a:t>
            </a:r>
            <a:r>
              <a:rPr dirty="0" err="1"/>
              <a:t>相比</a:t>
            </a:r>
            <a:r>
              <a:rPr dirty="0"/>
              <a:t> RANS </a:t>
            </a:r>
            <a:r>
              <a:rPr dirty="0" err="1"/>
              <a:t>改善</a:t>
            </a:r>
            <a:r>
              <a:rPr dirty="0"/>
              <a:t> ≥ 30%（</a:t>
            </a:r>
            <a:r>
              <a:rPr dirty="0" err="1"/>
              <a:t>達成</a:t>
            </a:r>
            <a:r>
              <a:rPr dirty="0"/>
              <a:t>：~60%）</a:t>
            </a:r>
          </a:p>
          <a:p>
            <a:r>
              <a:rPr dirty="0"/>
              <a:t>✓ QR-Pivot </a:t>
            </a:r>
            <a:r>
              <a:rPr dirty="0" err="1"/>
              <a:t>有效性（達成：條件數良好</a:t>
            </a:r>
            <a:r>
              <a:rPr dirty="0"/>
              <a:t>）</a:t>
            </a:r>
          </a:p>
          <a:p>
            <a:r>
              <a:rPr dirty="0"/>
              <a:t>✓ VS-PINN for 3D（達成：N=(2,12,2)）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下一步</a:t>
            </a:r>
            <a:r>
              <a:rPr dirty="0"/>
              <a:t>】</a:t>
            </a:r>
          </a:p>
          <a:p>
            <a:endParaRPr dirty="0"/>
          </a:p>
          <a:p>
            <a:r>
              <a:rPr dirty="0"/>
              <a:t>1. **</a:t>
            </a:r>
            <a:r>
              <a:rPr dirty="0" err="1"/>
              <a:t>完整</a:t>
            </a:r>
            <a:r>
              <a:rPr dirty="0"/>
              <a:t> 3D </a:t>
            </a:r>
            <a:r>
              <a:rPr dirty="0" err="1"/>
              <a:t>驗證</a:t>
            </a:r>
            <a:r>
              <a:rPr dirty="0"/>
              <a:t>**</a:t>
            </a:r>
          </a:p>
          <a:p>
            <a:r>
              <a:rPr dirty="0"/>
              <a:t>   - </a:t>
            </a:r>
            <a:r>
              <a:rPr dirty="0" err="1"/>
              <a:t>非切片，完整計算域</a:t>
            </a:r>
            <a:endParaRPr dirty="0"/>
          </a:p>
          <a:p>
            <a:r>
              <a:rPr dirty="0"/>
              <a:t>   - </a:t>
            </a:r>
            <a:r>
              <a:rPr dirty="0" err="1"/>
              <a:t>更多時間快照</a:t>
            </a:r>
            <a:endParaRPr dirty="0"/>
          </a:p>
          <a:p>
            <a:endParaRPr dirty="0"/>
          </a:p>
          <a:p>
            <a:r>
              <a:rPr dirty="0"/>
              <a:t>2. **</a:t>
            </a:r>
            <a:r>
              <a:rPr dirty="0" err="1"/>
              <a:t>更極端稀疏</a:t>
            </a:r>
            <a:r>
              <a:rPr dirty="0"/>
              <a:t>**</a:t>
            </a:r>
          </a:p>
          <a:p>
            <a:r>
              <a:rPr dirty="0"/>
              <a:t>   - K = 50, 30 </a:t>
            </a:r>
            <a:r>
              <a:rPr dirty="0" err="1"/>
              <a:t>測試</a:t>
            </a:r>
            <a:endParaRPr dirty="0"/>
          </a:p>
          <a:p>
            <a:r>
              <a:rPr dirty="0"/>
              <a:t>   - </a:t>
            </a:r>
            <a:r>
              <a:rPr dirty="0" err="1"/>
              <a:t>找到"極限</a:t>
            </a:r>
            <a:r>
              <a:rPr dirty="0"/>
              <a:t>"</a:t>
            </a:r>
          </a:p>
          <a:p>
            <a:endParaRPr dirty="0"/>
          </a:p>
          <a:p>
            <a:r>
              <a:rPr dirty="0"/>
              <a:t>3. **Reynolds Stresses**</a:t>
            </a:r>
          </a:p>
          <a:p>
            <a:r>
              <a:rPr dirty="0"/>
              <a:t>   - </a:t>
            </a:r>
            <a:r>
              <a:rPr dirty="0" err="1"/>
              <a:t>評估湍流統計量重建</a:t>
            </a:r>
            <a:endParaRPr dirty="0"/>
          </a:p>
          <a:p>
            <a:r>
              <a:rPr dirty="0"/>
              <a:t>   - </a:t>
            </a:r>
            <a:r>
              <a:rPr dirty="0" err="1"/>
              <a:t>不只平均場</a:t>
            </a:r>
            <a:endParaRPr dirty="0"/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過渡</a:t>
            </a:r>
            <a:r>
              <a:rPr dirty="0"/>
              <a:t>】</a:t>
            </a:r>
          </a:p>
          <a:p>
            <a:r>
              <a:rPr dirty="0" err="1"/>
              <a:t>最後討論未來工作方向</a:t>
            </a:r>
            <a:r>
              <a:rPr dirty="0"/>
              <a:t>。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7792598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最後，我想說明幾個</a:t>
            </a:r>
            <a:r>
              <a:rPr lang="zh-TW" altLang="en-US" b="1" dirty="0"/>
              <a:t>對於進一步改善目前重建結果而言相當關鍵的後續工作方向</a:t>
            </a:r>
            <a:r>
              <a:rPr lang="zh-TW" altLang="en-US" dirty="0"/>
              <a:t>。</a:t>
            </a:r>
            <a:br>
              <a:rPr lang="zh-TW" altLang="en-US" dirty="0"/>
            </a:br>
            <a:r>
              <a:rPr lang="zh-TW" altLang="en-US" dirty="0"/>
              <a:t>也可以說，這些方向反映了本研究在極端稀疏與高雷諾數條件下，</a:t>
            </a:r>
            <a:br>
              <a:rPr lang="zh-TW" altLang="en-US" dirty="0"/>
            </a:br>
            <a:r>
              <a:rPr lang="zh-TW" altLang="en-US" b="1" dirty="0"/>
              <a:t>目前所識別出的主要瓶頸</a:t>
            </a:r>
            <a:r>
              <a:rPr lang="zh-TW" altLang="en-US" dirty="0"/>
              <a:t>。</a:t>
            </a:r>
          </a:p>
          <a:p>
            <a:r>
              <a:rPr lang="zh-TW" altLang="en-US" dirty="0"/>
              <a:t>第一個也是最重要的，是 </a:t>
            </a:r>
            <a:r>
              <a:rPr lang="en-US" altLang="zh-TW" b="1" dirty="0"/>
              <a:t>loss balancing </a:t>
            </a:r>
            <a:r>
              <a:rPr lang="zh-TW" altLang="en-US" b="1" dirty="0"/>
              <a:t>與最佳化穩定性問題</a:t>
            </a:r>
            <a:r>
              <a:rPr lang="zh-TW" altLang="en-US" dirty="0"/>
              <a:t>。</a:t>
            </a:r>
            <a:br>
              <a:rPr lang="zh-TW" altLang="en-US" dirty="0"/>
            </a:br>
            <a:r>
              <a:rPr lang="zh-TW" altLang="en-US" dirty="0"/>
              <a:t>在目前的結果中可以觀察到，不同 </a:t>
            </a:r>
            <a:r>
              <a:rPr lang="en-US" altLang="zh-TW" dirty="0"/>
              <a:t>loss </a:t>
            </a:r>
            <a:r>
              <a:rPr lang="zh-TW" altLang="en-US" dirty="0"/>
              <a:t>項之間的尺度差異，</a:t>
            </a:r>
            <a:br>
              <a:rPr lang="zh-TW" altLang="en-US" dirty="0"/>
            </a:br>
            <a:r>
              <a:rPr lang="zh-TW" altLang="en-US" dirty="0"/>
              <a:t>對訓練收斂與最終重建品質有顯著影響。</a:t>
            </a:r>
            <a:br>
              <a:rPr lang="zh-TW" altLang="en-US" dirty="0"/>
            </a:br>
            <a:r>
              <a:rPr lang="zh-TW" altLang="en-US" dirty="0"/>
              <a:t>未來需要更系統性地比較 </a:t>
            </a:r>
            <a:r>
              <a:rPr lang="en-US" altLang="zh-TW" b="1" dirty="0" err="1"/>
              <a:t>GradNorm</a:t>
            </a:r>
            <a:r>
              <a:rPr lang="zh-TW" altLang="en-US" b="1" dirty="0"/>
              <a:t>、</a:t>
            </a:r>
            <a:r>
              <a:rPr lang="en-US" altLang="zh-TW" b="1" dirty="0"/>
              <a:t>likelihood-based </a:t>
            </a:r>
            <a:r>
              <a:rPr lang="zh-TW" altLang="en-US" b="1" dirty="0"/>
              <a:t>方法與手動權重調整</a:t>
            </a:r>
            <a:r>
              <a:rPr lang="zh-TW" altLang="en-US" dirty="0"/>
              <a:t>，</a:t>
            </a:r>
            <a:br>
              <a:rPr lang="zh-TW" altLang="en-US" dirty="0"/>
            </a:br>
            <a:r>
              <a:rPr lang="zh-TW" altLang="en-US" dirty="0"/>
              <a:t>以釐清各 </a:t>
            </a:r>
            <a:r>
              <a:rPr lang="en-US" altLang="zh-TW" dirty="0"/>
              <a:t>loss term </a:t>
            </a:r>
            <a:r>
              <a:rPr lang="zh-TW" altLang="en-US" dirty="0"/>
              <a:t>對重建誤差的實際貢獻，</a:t>
            </a:r>
            <a:br>
              <a:rPr lang="zh-TW" altLang="en-US" dirty="0"/>
            </a:br>
            <a:r>
              <a:rPr lang="zh-TW" altLang="en-US" dirty="0"/>
              <a:t>這被認為是改善結果的關鍵一步。</a:t>
            </a:r>
          </a:p>
          <a:p>
            <a:r>
              <a:rPr lang="zh-TW" altLang="en-US" dirty="0"/>
              <a:t>第二個方向，是 </a:t>
            </a:r>
            <a:r>
              <a:rPr lang="zh-TW" altLang="en-US" b="1" dirty="0"/>
              <a:t>更有效地利用低階模型作為 </a:t>
            </a:r>
            <a:r>
              <a:rPr lang="en-US" altLang="zh-TW" b="1" dirty="0"/>
              <a:t>multi-fidelity prior</a:t>
            </a:r>
            <a:r>
              <a:rPr lang="zh-TW" altLang="en-US" dirty="0"/>
              <a:t>。</a:t>
            </a:r>
            <a:br>
              <a:rPr lang="zh-TW" altLang="en-US" dirty="0"/>
            </a:br>
            <a:r>
              <a:rPr lang="zh-TW" altLang="en-US" dirty="0"/>
              <a:t>目前 </a:t>
            </a:r>
            <a:r>
              <a:rPr lang="en-US" altLang="zh-TW" dirty="0"/>
              <a:t>RANS prior </a:t>
            </a:r>
            <a:r>
              <a:rPr lang="zh-TW" altLang="en-US" dirty="0"/>
              <a:t>的使用仍相對保守，</a:t>
            </a:r>
            <a:br>
              <a:rPr lang="zh-TW" altLang="en-US" dirty="0"/>
            </a:br>
            <a:r>
              <a:rPr lang="zh-TW" altLang="en-US" dirty="0"/>
              <a:t>未來可進一步探討不同 </a:t>
            </a:r>
            <a:r>
              <a:rPr lang="en-US" altLang="zh-TW" dirty="0"/>
              <a:t>prior </a:t>
            </a:r>
            <a:r>
              <a:rPr lang="zh-TW" altLang="en-US" dirty="0"/>
              <a:t>形式，例如平均流或雷諾應力資訊，</a:t>
            </a:r>
            <a:br>
              <a:rPr lang="zh-TW" altLang="en-US" dirty="0"/>
            </a:br>
            <a:r>
              <a:rPr lang="zh-TW" altLang="en-US" dirty="0"/>
              <a:t>是否能在極端稀疏感測下，提供更強的結構性約束。</a:t>
            </a:r>
          </a:p>
          <a:p>
            <a:r>
              <a:rPr lang="zh-TW" altLang="en-US" dirty="0"/>
              <a:t>第三個方向，則是針對 </a:t>
            </a:r>
            <a:r>
              <a:rPr lang="zh-TW" altLang="en-US" b="1" dirty="0"/>
              <a:t>時間相依湍流重建的穩定性問題</a:t>
            </a:r>
            <a:r>
              <a:rPr lang="zh-TW" altLang="en-US" dirty="0"/>
              <a:t>。</a:t>
            </a:r>
            <a:br>
              <a:rPr lang="zh-TW" altLang="en-US" dirty="0"/>
            </a:br>
            <a:r>
              <a:rPr lang="zh-TW" altLang="en-US" dirty="0"/>
              <a:t>對於長時間序列，</a:t>
            </a:r>
            <a:br>
              <a:rPr lang="zh-TW" altLang="en-US" dirty="0"/>
            </a:br>
            <a:r>
              <a:rPr lang="zh-TW" altLang="en-US" dirty="0"/>
              <a:t>引入 </a:t>
            </a:r>
            <a:r>
              <a:rPr lang="en-US" altLang="zh-TW" b="1" dirty="0"/>
              <a:t>causal training </a:t>
            </a:r>
            <a:r>
              <a:rPr lang="zh-TW" altLang="en-US" b="1" dirty="0"/>
              <a:t>與 </a:t>
            </a:r>
            <a:r>
              <a:rPr lang="en-US" altLang="zh-TW" b="1" dirty="0"/>
              <a:t>time-windowing</a:t>
            </a:r>
            <a:r>
              <a:rPr lang="en-US" altLang="zh-TW" dirty="0"/>
              <a:t> </a:t>
            </a:r>
            <a:r>
              <a:rPr lang="zh-TW" altLang="en-US" dirty="0"/>
              <a:t>被認為有助於減少誤差累積，</a:t>
            </a:r>
            <a:br>
              <a:rPr lang="zh-TW" altLang="en-US" dirty="0"/>
            </a:br>
            <a:r>
              <a:rPr lang="zh-TW" altLang="en-US" dirty="0"/>
              <a:t>並提升時間一致性。</a:t>
            </a:r>
          </a:p>
          <a:p>
            <a:r>
              <a:rPr lang="zh-TW" altLang="en-US" dirty="0"/>
              <a:t>最後，透過更完整的 </a:t>
            </a:r>
            <a:r>
              <a:rPr lang="en-US" altLang="zh-TW" b="1" dirty="0"/>
              <a:t>sensor scaling </a:t>
            </a:r>
            <a:r>
              <a:rPr lang="zh-TW" altLang="en-US" b="1" dirty="0"/>
              <a:t>與驗證分析</a:t>
            </a:r>
            <a:r>
              <a:rPr lang="zh-TW" altLang="en-US" dirty="0"/>
              <a:t>，</a:t>
            </a:r>
            <a:br>
              <a:rPr lang="zh-TW" altLang="en-US" dirty="0"/>
            </a:br>
            <a:r>
              <a:rPr lang="zh-TW" altLang="en-US" dirty="0"/>
              <a:t>也有助於釐清目前方法的適用範圍，</a:t>
            </a:r>
            <a:br>
              <a:rPr lang="zh-TW" altLang="en-US" dirty="0"/>
            </a:br>
            <a:r>
              <a:rPr lang="zh-TW" altLang="en-US" dirty="0"/>
              <a:t>以及在何種感測密度下能達到可接受的重建品質。</a:t>
            </a:r>
          </a:p>
        </p:txBody>
      </p:sp>
    </p:spTree>
    <p:extLst>
      <p:ext uri="{BB962C8B-B14F-4D97-AF65-F5344CB8AC3E}">
        <p14:creationId xmlns:p14="http://schemas.microsoft.com/office/powerpoint/2010/main" val="97792598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【</a:t>
            </a:r>
            <a:r>
              <a:rPr dirty="0" err="1"/>
              <a:t>研究意義</a:t>
            </a:r>
            <a:r>
              <a:rPr dirty="0"/>
              <a:t>】</a:t>
            </a:r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學術價值</a:t>
            </a:r>
            <a:r>
              <a:rPr dirty="0"/>
              <a:t>：**</a:t>
            </a:r>
          </a:p>
          <a:p>
            <a:r>
              <a:rPr dirty="0"/>
              <a:t>- </a:t>
            </a:r>
            <a:r>
              <a:rPr dirty="0" err="1"/>
              <a:t>推進</a:t>
            </a:r>
            <a:r>
              <a:rPr dirty="0"/>
              <a:t> PINNs </a:t>
            </a:r>
            <a:r>
              <a:rPr dirty="0" err="1"/>
              <a:t>在湍流應用</a:t>
            </a:r>
            <a:endParaRPr dirty="0"/>
          </a:p>
          <a:p>
            <a:r>
              <a:rPr dirty="0"/>
              <a:t>- </a:t>
            </a:r>
            <a:r>
              <a:rPr dirty="0" err="1"/>
              <a:t>建立可重現基準</a:t>
            </a:r>
            <a:endParaRPr dirty="0"/>
          </a:p>
          <a:p>
            <a:r>
              <a:rPr dirty="0"/>
              <a:t>- </a:t>
            </a:r>
            <a:r>
              <a:rPr dirty="0" err="1"/>
              <a:t>識別並填補研究空白</a:t>
            </a:r>
            <a:endParaRPr dirty="0"/>
          </a:p>
          <a:p>
            <a:endParaRPr dirty="0"/>
          </a:p>
          <a:p>
            <a:r>
              <a:rPr dirty="0"/>
              <a:t>**</a:t>
            </a:r>
            <a:r>
              <a:rPr dirty="0" err="1"/>
              <a:t>工程價值</a:t>
            </a:r>
            <a:r>
              <a:rPr dirty="0"/>
              <a:t>：**</a:t>
            </a:r>
          </a:p>
          <a:p>
            <a:r>
              <a:rPr dirty="0"/>
              <a:t>- </a:t>
            </a:r>
            <a:r>
              <a:rPr dirty="0" err="1"/>
              <a:t>提供稀疏測量重建方案</a:t>
            </a:r>
            <a:endParaRPr dirty="0"/>
          </a:p>
          <a:p>
            <a:r>
              <a:rPr dirty="0"/>
              <a:t>- </a:t>
            </a:r>
            <a:r>
              <a:rPr dirty="0" err="1"/>
              <a:t>感測器設計指引</a:t>
            </a:r>
            <a:endParaRPr dirty="0"/>
          </a:p>
          <a:p>
            <a:r>
              <a:rPr dirty="0"/>
              <a:t>- </a:t>
            </a:r>
            <a:r>
              <a:rPr dirty="0" err="1"/>
              <a:t>降低實驗成本</a:t>
            </a:r>
            <a:endParaRPr dirty="0"/>
          </a:p>
          <a:p>
            <a:r>
              <a:rPr dirty="0"/>
              <a:t>Q &amp; A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77925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tiff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tiff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tiff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tiff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tiff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tiff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tiff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tiff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4B303-4403-46A1-A24B-7C55407D3D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9C85CE-7732-4A76-B728-DD724D4465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D92D5-B61E-4A96-857A-5F07242D6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B9C4B-5E88-4BF4-B4AA-F0B6E903D356}" type="datetime1">
              <a:rPr lang="en-US" smtClean="0"/>
              <a:t>12/24/25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C0334-8C0C-472E-83A6-B890DB6EE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F934AA-8A27-4B89-8E5E-3FC3CEC4B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A585F-A6F2-45BF-882F-55D1F240591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矩形 7">
            <a:extLst>
              <a:ext uri="{FF2B5EF4-FFF2-40B4-BE49-F238E27FC236}">
                <a16:creationId xmlns:a16="http://schemas.microsoft.com/office/drawing/2014/main" id="{84778DE2-76C5-4B7C-87D7-9D028DDEE5BC}"/>
              </a:ext>
            </a:extLst>
          </p:cNvPr>
          <p:cNvSpPr/>
          <p:nvPr userDrawn="1"/>
        </p:nvSpPr>
        <p:spPr>
          <a:xfrm>
            <a:off x="0" y="4672668"/>
            <a:ext cx="12192000" cy="2185332"/>
          </a:xfrm>
          <a:prstGeom prst="rect">
            <a:avLst/>
          </a:prstGeom>
          <a:gradFill flip="none" rotWithShape="1">
            <a:gsLst>
              <a:gs pos="0">
                <a:srgbClr val="7F257F"/>
              </a:gs>
              <a:gs pos="50000">
                <a:srgbClr val="F9D3EA"/>
              </a:gs>
              <a:gs pos="100000">
                <a:schemeClr val="bg1">
                  <a:lumMod val="85000"/>
                </a:schemeClr>
              </a:gs>
            </a:gsLst>
            <a:lin ang="10800000" scaled="1"/>
            <a:tileRect/>
          </a:gra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1" name="圖片 6">
            <a:extLst>
              <a:ext uri="{FF2B5EF4-FFF2-40B4-BE49-F238E27FC236}">
                <a16:creationId xmlns:a16="http://schemas.microsoft.com/office/drawing/2014/main" id="{E39656F4-75DF-455F-A47D-430FBD3C3C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49" y="19767"/>
            <a:ext cx="5244352" cy="9990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E4EED0C-650D-4DBD-86AF-DF01218B514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0336" y="5863610"/>
            <a:ext cx="4839954" cy="994390"/>
          </a:xfrm>
          <a:prstGeom prst="rect">
            <a:avLst/>
          </a:prstGeom>
        </p:spPr>
      </p:pic>
      <p:pic>
        <p:nvPicPr>
          <p:cNvPr id="13" name="Picture 5" descr="Image result for College of nuclear science nthu">
            <a:extLst>
              <a:ext uri="{FF2B5EF4-FFF2-40B4-BE49-F238E27FC236}">
                <a16:creationId xmlns:a16="http://schemas.microsoft.com/office/drawing/2014/main" id="{D94C59E0-20CA-4A4B-BF16-7BB837000E6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/>
          <a:srcRect l="5423" t="25029" r="62580" b="20159"/>
          <a:stretch/>
        </p:blipFill>
        <p:spPr bwMode="auto">
          <a:xfrm>
            <a:off x="8225130" y="5036114"/>
            <a:ext cx="3128670" cy="115691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4" name="Picture 4" descr="Image result for nthu campus">
            <a:extLst>
              <a:ext uri="{FF2B5EF4-FFF2-40B4-BE49-F238E27FC236}">
                <a16:creationId xmlns:a16="http://schemas.microsoft.com/office/drawing/2014/main" id="{1433CFEC-4212-4FB3-B620-5D847AC2375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3485" y="7621"/>
            <a:ext cx="1590365" cy="106024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Image result for nthu campus">
            <a:extLst>
              <a:ext uri="{FF2B5EF4-FFF2-40B4-BE49-F238E27FC236}">
                <a16:creationId xmlns:a16="http://schemas.microsoft.com/office/drawing/2014/main" id="{B51AF86C-CB4C-4502-A3D6-54A434D13BB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4298" y="4389"/>
            <a:ext cx="1590366" cy="106024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mage result for nthu  工科">
            <a:extLst>
              <a:ext uri="{FF2B5EF4-FFF2-40B4-BE49-F238E27FC236}">
                <a16:creationId xmlns:a16="http://schemas.microsoft.com/office/drawing/2014/main" id="{6EA6747D-85BA-4953-A3F5-B2FC149DB3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5154" y="2926"/>
            <a:ext cx="1538708" cy="106170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1143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0DFA6-5E8B-461D-B44B-A0B403B95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969" y="1345512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98DB5B3-1093-4709-8AC2-09FB7BCDDB4E}"/>
              </a:ext>
            </a:extLst>
          </p:cNvPr>
          <p:cNvSpPr txBox="1"/>
          <p:nvPr userDrawn="1"/>
        </p:nvSpPr>
        <p:spPr>
          <a:xfrm>
            <a:off x="0" y="-114"/>
            <a:ext cx="12192000" cy="1015663"/>
          </a:xfrm>
          <a:prstGeom prst="rect">
            <a:avLst/>
          </a:prstGeom>
          <a:solidFill>
            <a:srgbClr val="811086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GB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pic>
        <p:nvPicPr>
          <p:cNvPr id="8" name="Picture 12">
            <a:extLst>
              <a:ext uri="{FF2B5EF4-FFF2-40B4-BE49-F238E27FC236}">
                <a16:creationId xmlns:a16="http://schemas.microsoft.com/office/drawing/2014/main" id="{8C7F5973-C15D-43AD-89DA-C1916C0C171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2182" y="6216118"/>
            <a:ext cx="2626762" cy="50018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E226B24-BCF1-4101-9D12-A12584249443}"/>
              </a:ext>
            </a:extLst>
          </p:cNvPr>
          <p:cNvSpPr/>
          <p:nvPr userDrawn="1"/>
        </p:nvSpPr>
        <p:spPr>
          <a:xfrm>
            <a:off x="2768339" y="6312321"/>
            <a:ext cx="376577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i="1" dirty="0">
                <a:ln w="0"/>
                <a:solidFill>
                  <a:srgbClr val="81108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Applied Computing &amp; Thermofluid Laboratory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E0889B32-77EE-4501-86D4-69D8FF5FAC76}"/>
              </a:ext>
            </a:extLst>
          </p:cNvPr>
          <p:cNvSpPr txBox="1">
            <a:spLocks/>
          </p:cNvSpPr>
          <p:nvPr userDrawn="1"/>
        </p:nvSpPr>
        <p:spPr>
          <a:xfrm>
            <a:off x="8968192" y="63712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6A585F-A6F2-45BF-882F-55D1F240591B}" type="slidenum">
              <a:rPr lang="en-US" sz="2400" smtClean="0"/>
              <a:pPr/>
              <a:t>‹#›</a:t>
            </a:fld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026481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35" userDrawn="1">
          <p15:clr>
            <a:srgbClr val="FBAE40"/>
          </p15:clr>
        </p15:guide>
        <p15:guide id="2" pos="1345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4B303-4403-46A1-A24B-7C55407D3D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3262" y="2640079"/>
            <a:ext cx="9719374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9C85CE-7732-4A76-B728-DD724D4465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19753" y="5107439"/>
            <a:ext cx="10812883" cy="47322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D92D5-B61E-4A96-857A-5F07242D6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649A9-818F-4AB1-95C7-10B2F57902F7}" type="datetime1">
              <a:rPr lang="en-US" smtClean="0"/>
              <a:t>12/24/25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C0334-8C0C-472E-83A6-B890DB6EE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F934AA-8A27-4B89-8E5E-3FC3CEC4B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A585F-A6F2-45BF-882F-55D1F240591B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矩形 7">
            <a:extLst>
              <a:ext uri="{FF2B5EF4-FFF2-40B4-BE49-F238E27FC236}">
                <a16:creationId xmlns:a16="http://schemas.microsoft.com/office/drawing/2014/main" id="{81BDA013-5CE2-49D6-B584-38106CA671BD}"/>
              </a:ext>
            </a:extLst>
          </p:cNvPr>
          <p:cNvSpPr/>
          <p:nvPr userDrawn="1"/>
        </p:nvSpPr>
        <p:spPr>
          <a:xfrm>
            <a:off x="0" y="5580667"/>
            <a:ext cx="12192000" cy="1319073"/>
          </a:xfrm>
          <a:prstGeom prst="rect">
            <a:avLst/>
          </a:prstGeom>
          <a:gradFill flip="none" rotWithShape="1">
            <a:gsLst>
              <a:gs pos="0">
                <a:srgbClr val="7F257F"/>
              </a:gs>
              <a:gs pos="50000">
                <a:srgbClr val="F9D3EA"/>
              </a:gs>
              <a:gs pos="100000">
                <a:schemeClr val="bg1">
                  <a:lumMod val="85000"/>
                </a:schemeClr>
              </a:gs>
            </a:gsLst>
            <a:lin ang="10800000" scaled="1"/>
            <a:tileRect/>
          </a:gra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63DC96F-4A25-403A-9BD6-805693260F49}"/>
              </a:ext>
            </a:extLst>
          </p:cNvPr>
          <p:cNvGrpSpPr/>
          <p:nvPr userDrawn="1"/>
        </p:nvGrpSpPr>
        <p:grpSpPr>
          <a:xfrm>
            <a:off x="2988636" y="121600"/>
            <a:ext cx="7621297" cy="531232"/>
            <a:chOff x="2988636" y="6236961"/>
            <a:chExt cx="7621297" cy="531232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DF5C65EB-1B32-48BA-96B8-DD278E9F16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83171" y="6268009"/>
              <a:ext cx="2626762" cy="500184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9DC2D5E-85B4-4634-859C-90215DE259C8}"/>
                </a:ext>
              </a:extLst>
            </p:cNvPr>
            <p:cNvSpPr/>
            <p:nvPr/>
          </p:nvSpPr>
          <p:spPr>
            <a:xfrm>
              <a:off x="2988636" y="6236961"/>
              <a:ext cx="4367318" cy="523220"/>
            </a:xfrm>
            <a:prstGeom prst="rect">
              <a:avLst/>
            </a:prstGeom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n-US" sz="1400" i="1" dirty="0">
                  <a:solidFill>
                    <a:schemeClr val="accent1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Dept. of Engineering &amp; System Science</a:t>
              </a:r>
            </a:p>
            <a:p>
              <a:pPr algn="ctr"/>
              <a:r>
                <a:rPr lang="en-US" sz="1400" i="1" dirty="0">
                  <a:solidFill>
                    <a:schemeClr val="accent1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Multiscale </a:t>
              </a:r>
              <a:r>
                <a:rPr lang="en-US" sz="1400" i="1" dirty="0" err="1">
                  <a:solidFill>
                    <a:schemeClr val="accent1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Thermofluid</a:t>
              </a:r>
              <a:r>
                <a:rPr lang="en-US" sz="1400" i="1" dirty="0">
                  <a:solidFill>
                    <a:schemeClr val="accent1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 Engineering Laboratory</a:t>
              </a:r>
            </a:p>
          </p:txBody>
        </p:sp>
      </p:grpSp>
      <p:pic>
        <p:nvPicPr>
          <p:cNvPr id="17" name="Picture 5" descr="Image result for College of nuclear science nthu">
            <a:extLst>
              <a:ext uri="{FF2B5EF4-FFF2-40B4-BE49-F238E27FC236}">
                <a16:creationId xmlns:a16="http://schemas.microsoft.com/office/drawing/2014/main" id="{3894A214-221D-4A26-AF39-EF30B0A2C7B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l="5423" t="25029" r="62580" b="20159"/>
          <a:stretch/>
        </p:blipFill>
        <p:spPr bwMode="auto">
          <a:xfrm>
            <a:off x="838200" y="168523"/>
            <a:ext cx="1279759" cy="47322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8" name="Slide Number Placeholder 4">
            <a:extLst>
              <a:ext uri="{FF2B5EF4-FFF2-40B4-BE49-F238E27FC236}">
                <a16:creationId xmlns:a16="http://schemas.microsoft.com/office/drawing/2014/main" id="{B674E78C-564E-420D-B678-EA54C9D30908}"/>
              </a:ext>
            </a:extLst>
          </p:cNvPr>
          <p:cNvSpPr txBox="1">
            <a:spLocks/>
          </p:cNvSpPr>
          <p:nvPr userDrawn="1"/>
        </p:nvSpPr>
        <p:spPr>
          <a:xfrm>
            <a:off x="8968192" y="63712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6A585F-A6F2-45BF-882F-55D1F240591B}" type="slidenum">
              <a:rPr lang="en-US" sz="2400" smtClean="0"/>
              <a:pPr/>
              <a:t>‹#›</a:t>
            </a:fld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43977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1F88176-3CFE-43F0-8974-5446CBD2195D}"/>
              </a:ext>
            </a:extLst>
          </p:cNvPr>
          <p:cNvSpPr/>
          <p:nvPr userDrawn="1"/>
        </p:nvSpPr>
        <p:spPr>
          <a:xfrm>
            <a:off x="-1" y="6261631"/>
            <a:ext cx="12192000" cy="584373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74000">
                <a:schemeClr val="bg2"/>
              </a:gs>
              <a:gs pos="83000">
                <a:schemeClr val="bg2"/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77CBFF4-98B6-4C43-83B7-6BAC10B66180}"/>
              </a:ext>
            </a:extLst>
          </p:cNvPr>
          <p:cNvGrpSpPr/>
          <p:nvPr userDrawn="1"/>
        </p:nvGrpSpPr>
        <p:grpSpPr>
          <a:xfrm>
            <a:off x="2988636" y="6277302"/>
            <a:ext cx="7621297" cy="531232"/>
            <a:chOff x="2988636" y="6236961"/>
            <a:chExt cx="7621297" cy="5312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004E153-60FC-422A-902A-BBC8CB1F3C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83171" y="6268009"/>
              <a:ext cx="2626762" cy="500184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3AB3A9B-AFD5-4636-8C5F-81B106A0F0D7}"/>
                </a:ext>
              </a:extLst>
            </p:cNvPr>
            <p:cNvSpPr/>
            <p:nvPr/>
          </p:nvSpPr>
          <p:spPr>
            <a:xfrm>
              <a:off x="2988636" y="6236961"/>
              <a:ext cx="4367318" cy="523220"/>
            </a:xfrm>
            <a:prstGeom prst="rect">
              <a:avLst/>
            </a:prstGeom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n-US" sz="1400" i="1" dirty="0">
                  <a:solidFill>
                    <a:schemeClr val="accent1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Dept. of Engineering &amp; System Science</a:t>
              </a:r>
            </a:p>
            <a:p>
              <a:pPr algn="ctr"/>
              <a:r>
                <a:rPr lang="en-US" sz="1400" i="1" dirty="0">
                  <a:solidFill>
                    <a:schemeClr val="accent1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Multiscale </a:t>
              </a:r>
              <a:r>
                <a:rPr lang="en-US" sz="1400" i="1" dirty="0" err="1">
                  <a:solidFill>
                    <a:schemeClr val="accent1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Thermofluid</a:t>
              </a:r>
              <a:r>
                <a:rPr lang="en-US" sz="1400" i="1" dirty="0">
                  <a:solidFill>
                    <a:schemeClr val="accent1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 Engineering Laboratory</a:t>
              </a:r>
            </a:p>
          </p:txBody>
        </p:sp>
      </p:grp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EC6FA767-CFD1-4EFB-8EEE-EFA06F081098}"/>
              </a:ext>
            </a:extLst>
          </p:cNvPr>
          <p:cNvSpPr txBox="1">
            <a:spLocks/>
          </p:cNvSpPr>
          <p:nvPr userDrawn="1"/>
        </p:nvSpPr>
        <p:spPr>
          <a:xfrm>
            <a:off x="8968192" y="63712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6A585F-A6F2-45BF-882F-55D1F240591B}" type="slidenum">
              <a:rPr lang="en-US" sz="2400" smtClean="0"/>
              <a:pPr/>
              <a:t>‹#›</a:t>
            </a:fld>
            <a:endParaRPr lang="en-US" sz="2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5741C-DE47-49FD-9518-E202599B0AB6}"/>
              </a:ext>
            </a:extLst>
          </p:cNvPr>
          <p:cNvSpPr/>
          <p:nvPr userDrawn="1"/>
        </p:nvSpPr>
        <p:spPr>
          <a:xfrm>
            <a:off x="0" y="0"/>
            <a:ext cx="12192000" cy="1015663"/>
          </a:xfrm>
          <a:prstGeom prst="rect">
            <a:avLst/>
          </a:prstGeom>
          <a:gradFill flip="none" rotWithShape="1">
            <a:gsLst>
              <a:gs pos="0">
                <a:srgbClr val="7F257F">
                  <a:alpha val="21000"/>
                </a:srgbClr>
              </a:gs>
              <a:gs pos="50000">
                <a:srgbClr val="DA82DA">
                  <a:alpha val="51000"/>
                </a:srgbClr>
              </a:gs>
              <a:gs pos="100000">
                <a:schemeClr val="bg1">
                  <a:lumMod val="85000"/>
                  <a:alpha val="18000"/>
                </a:schemeClr>
              </a:gs>
            </a:gsLst>
            <a:lin ang="10800000" scaled="1"/>
            <a:tileRect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lvl="0" algn="ctr"/>
            <a:endParaRPr lang="en-US" sz="60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5" descr="Image result for College of nuclear science nthu">
            <a:extLst>
              <a:ext uri="{FF2B5EF4-FFF2-40B4-BE49-F238E27FC236}">
                <a16:creationId xmlns:a16="http://schemas.microsoft.com/office/drawing/2014/main" id="{4DD4C9D3-9EA3-4CCB-B5C2-E2B873D6E04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l="5423" t="25029" r="62580" b="20159"/>
          <a:stretch/>
        </p:blipFill>
        <p:spPr bwMode="auto">
          <a:xfrm>
            <a:off x="838200" y="6324225"/>
            <a:ext cx="1279759" cy="47322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graphicFrame>
        <p:nvGraphicFramePr>
          <p:cNvPr id="10" name="表格 2">
            <a:extLst>
              <a:ext uri="{FF2B5EF4-FFF2-40B4-BE49-F238E27FC236}">
                <a16:creationId xmlns:a16="http://schemas.microsoft.com/office/drawing/2014/main" id="{75DE362B-97C1-4140-A4F5-9AEDF09D4D1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228489729"/>
              </p:ext>
            </p:extLst>
          </p:nvPr>
        </p:nvGraphicFramePr>
        <p:xfrm>
          <a:off x="0" y="0"/>
          <a:ext cx="12192000" cy="414670"/>
        </p:xfrm>
        <a:graphic>
          <a:graphicData uri="http://schemas.openxmlformats.org/drawingml/2006/table">
            <a:tbl>
              <a:tblPr firstRow="1" bandRow="1">
                <a:effectLst>
                  <a:innerShdw blurRad="114300">
                    <a:prstClr val="black"/>
                  </a:innerShdw>
                </a:effectLst>
                <a:tableStyleId>{1FECB4D8-DB02-4DC6-A0A2-4F2EBAE1DC90}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47816586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29238980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27421248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59667735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96297897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78040470"/>
                    </a:ext>
                  </a:extLst>
                </a:gridCol>
              </a:tblGrid>
              <a:tr h="4146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Background</a:t>
                      </a:r>
                      <a:endParaRPr lang="en-US" sz="18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515" marR="90515" marT="45258" marB="45258" anchor="ctr">
                    <a:solidFill>
                      <a:srgbClr val="7F25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Literature</a:t>
                      </a:r>
                    </a:p>
                  </a:txBody>
                  <a:tcPr marL="90515" marR="90515" marT="45258" marB="45258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Objective</a:t>
                      </a:r>
                    </a:p>
                  </a:txBody>
                  <a:tcPr marL="90515" marR="90515" marT="45258" marB="45258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Methods</a:t>
                      </a:r>
                      <a:endParaRPr lang="en-US" sz="18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515" marR="90515" marT="45258" marB="45258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Results</a:t>
                      </a:r>
                      <a:endParaRPr lang="en-US" sz="18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515" marR="90515" marT="45258" marB="45258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Summary</a:t>
                      </a:r>
                      <a:endParaRPr lang="en-US" sz="18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515" marR="90515" marT="45258" marB="45258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96711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2244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tera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1F88176-3CFE-43F0-8974-5446CBD2195D}"/>
              </a:ext>
            </a:extLst>
          </p:cNvPr>
          <p:cNvSpPr/>
          <p:nvPr userDrawn="1"/>
        </p:nvSpPr>
        <p:spPr>
          <a:xfrm>
            <a:off x="-1" y="6261631"/>
            <a:ext cx="12192000" cy="584373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74000">
                <a:schemeClr val="bg2"/>
              </a:gs>
              <a:gs pos="83000">
                <a:schemeClr val="bg2"/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77CBFF4-98B6-4C43-83B7-6BAC10B66180}"/>
              </a:ext>
            </a:extLst>
          </p:cNvPr>
          <p:cNvGrpSpPr/>
          <p:nvPr userDrawn="1"/>
        </p:nvGrpSpPr>
        <p:grpSpPr>
          <a:xfrm>
            <a:off x="2988636" y="6277302"/>
            <a:ext cx="7621297" cy="531232"/>
            <a:chOff x="2988636" y="6236961"/>
            <a:chExt cx="7621297" cy="5312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004E153-60FC-422A-902A-BBC8CB1F3C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83171" y="6268009"/>
              <a:ext cx="2626762" cy="500184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3AB3A9B-AFD5-4636-8C5F-81B106A0F0D7}"/>
                </a:ext>
              </a:extLst>
            </p:cNvPr>
            <p:cNvSpPr/>
            <p:nvPr/>
          </p:nvSpPr>
          <p:spPr>
            <a:xfrm>
              <a:off x="2988636" y="6236961"/>
              <a:ext cx="4367318" cy="523220"/>
            </a:xfrm>
            <a:prstGeom prst="rect">
              <a:avLst/>
            </a:prstGeom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n-US" sz="1400" i="1" dirty="0">
                  <a:solidFill>
                    <a:schemeClr val="accent1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Dept. of Engineering &amp; System Science</a:t>
              </a:r>
            </a:p>
            <a:p>
              <a:pPr algn="ctr"/>
              <a:r>
                <a:rPr lang="en-US" sz="1400" i="1" dirty="0">
                  <a:solidFill>
                    <a:schemeClr val="accent1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Multiscale </a:t>
              </a:r>
              <a:r>
                <a:rPr lang="en-US" sz="1400" i="1" dirty="0" err="1">
                  <a:solidFill>
                    <a:schemeClr val="accent1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Thermofluid</a:t>
              </a:r>
              <a:r>
                <a:rPr lang="en-US" sz="1400" i="1" dirty="0">
                  <a:solidFill>
                    <a:schemeClr val="accent1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 Engineering Laboratory</a:t>
              </a:r>
            </a:p>
          </p:txBody>
        </p:sp>
      </p:grp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EC6FA767-CFD1-4EFB-8EEE-EFA06F081098}"/>
              </a:ext>
            </a:extLst>
          </p:cNvPr>
          <p:cNvSpPr txBox="1">
            <a:spLocks/>
          </p:cNvSpPr>
          <p:nvPr userDrawn="1"/>
        </p:nvSpPr>
        <p:spPr>
          <a:xfrm>
            <a:off x="8968192" y="63712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6A585F-A6F2-45BF-882F-55D1F240591B}" type="slidenum">
              <a:rPr lang="en-US" sz="2400" smtClean="0"/>
              <a:pPr/>
              <a:t>‹#›</a:t>
            </a:fld>
            <a:endParaRPr lang="en-US" sz="2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5741C-DE47-49FD-9518-E202599B0AB6}"/>
              </a:ext>
            </a:extLst>
          </p:cNvPr>
          <p:cNvSpPr/>
          <p:nvPr userDrawn="1"/>
        </p:nvSpPr>
        <p:spPr>
          <a:xfrm>
            <a:off x="0" y="0"/>
            <a:ext cx="12192000" cy="1015663"/>
          </a:xfrm>
          <a:prstGeom prst="rect">
            <a:avLst/>
          </a:prstGeom>
          <a:gradFill flip="none" rotWithShape="1">
            <a:gsLst>
              <a:gs pos="0">
                <a:srgbClr val="7F257F">
                  <a:alpha val="21000"/>
                </a:srgbClr>
              </a:gs>
              <a:gs pos="50000">
                <a:srgbClr val="DA82DA">
                  <a:alpha val="51000"/>
                </a:srgbClr>
              </a:gs>
              <a:gs pos="100000">
                <a:schemeClr val="bg1">
                  <a:lumMod val="85000"/>
                  <a:alpha val="18000"/>
                </a:schemeClr>
              </a:gs>
            </a:gsLst>
            <a:lin ang="10800000" scaled="1"/>
            <a:tileRect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lvl="0" algn="ctr"/>
            <a:endParaRPr lang="en-US" sz="60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5" descr="Image result for College of nuclear science nthu">
            <a:extLst>
              <a:ext uri="{FF2B5EF4-FFF2-40B4-BE49-F238E27FC236}">
                <a16:creationId xmlns:a16="http://schemas.microsoft.com/office/drawing/2014/main" id="{4DD4C9D3-9EA3-4CCB-B5C2-E2B873D6E04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l="5423" t="25029" r="62580" b="20159"/>
          <a:stretch/>
        </p:blipFill>
        <p:spPr bwMode="auto">
          <a:xfrm>
            <a:off x="838200" y="6324225"/>
            <a:ext cx="1279759" cy="47322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graphicFrame>
        <p:nvGraphicFramePr>
          <p:cNvPr id="10" name="表格 2">
            <a:extLst>
              <a:ext uri="{FF2B5EF4-FFF2-40B4-BE49-F238E27FC236}">
                <a16:creationId xmlns:a16="http://schemas.microsoft.com/office/drawing/2014/main" id="{75DE362B-97C1-4140-A4F5-9AEDF09D4D1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124313559"/>
              </p:ext>
            </p:extLst>
          </p:nvPr>
        </p:nvGraphicFramePr>
        <p:xfrm>
          <a:off x="0" y="0"/>
          <a:ext cx="12192000" cy="414670"/>
        </p:xfrm>
        <a:graphic>
          <a:graphicData uri="http://schemas.openxmlformats.org/drawingml/2006/table">
            <a:tbl>
              <a:tblPr firstRow="1" bandRow="1">
                <a:effectLst>
                  <a:innerShdw blurRad="114300">
                    <a:prstClr val="black"/>
                  </a:innerShdw>
                </a:effectLst>
                <a:tableStyleId>{1FECB4D8-DB02-4DC6-A0A2-4F2EBAE1DC90}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47816586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29238980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27421248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59667735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96297897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78040470"/>
                    </a:ext>
                  </a:extLst>
                </a:gridCol>
              </a:tblGrid>
              <a:tr h="4146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Background</a:t>
                      </a:r>
                      <a:endParaRPr lang="en-US" sz="18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515" marR="90515" marT="45258" marB="45258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Literature</a:t>
                      </a:r>
                    </a:p>
                  </a:txBody>
                  <a:tcPr marL="90515" marR="90515" marT="45258" marB="45258" anchor="ctr">
                    <a:solidFill>
                      <a:srgbClr val="8110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Objective</a:t>
                      </a:r>
                    </a:p>
                  </a:txBody>
                  <a:tcPr marL="90515" marR="90515" marT="45258" marB="45258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Methods</a:t>
                      </a:r>
                      <a:endParaRPr lang="en-US" sz="18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515" marR="90515" marT="45258" marB="45258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Results</a:t>
                      </a:r>
                      <a:endParaRPr lang="en-US" sz="18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515" marR="90515" marT="45258" marB="45258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Summary</a:t>
                      </a:r>
                      <a:endParaRPr lang="en-US" sz="18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515" marR="90515" marT="45258" marB="45258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96711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4839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jec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1F88176-3CFE-43F0-8974-5446CBD2195D}"/>
              </a:ext>
            </a:extLst>
          </p:cNvPr>
          <p:cNvSpPr/>
          <p:nvPr userDrawn="1"/>
        </p:nvSpPr>
        <p:spPr>
          <a:xfrm>
            <a:off x="-1" y="6261631"/>
            <a:ext cx="12192000" cy="584373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74000">
                <a:schemeClr val="bg2"/>
              </a:gs>
              <a:gs pos="83000">
                <a:schemeClr val="bg2"/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77CBFF4-98B6-4C43-83B7-6BAC10B66180}"/>
              </a:ext>
            </a:extLst>
          </p:cNvPr>
          <p:cNvGrpSpPr/>
          <p:nvPr userDrawn="1"/>
        </p:nvGrpSpPr>
        <p:grpSpPr>
          <a:xfrm>
            <a:off x="2988636" y="6277302"/>
            <a:ext cx="7621297" cy="531232"/>
            <a:chOff x="2988636" y="6236961"/>
            <a:chExt cx="7621297" cy="5312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004E153-60FC-422A-902A-BBC8CB1F3C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83171" y="6268009"/>
              <a:ext cx="2626762" cy="500184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3AB3A9B-AFD5-4636-8C5F-81B106A0F0D7}"/>
                </a:ext>
              </a:extLst>
            </p:cNvPr>
            <p:cNvSpPr/>
            <p:nvPr/>
          </p:nvSpPr>
          <p:spPr>
            <a:xfrm>
              <a:off x="2988636" y="6236961"/>
              <a:ext cx="4367318" cy="523220"/>
            </a:xfrm>
            <a:prstGeom prst="rect">
              <a:avLst/>
            </a:prstGeom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n-US" sz="1400" i="1" dirty="0">
                  <a:solidFill>
                    <a:schemeClr val="accent1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Dept. of Engineering &amp; System Science</a:t>
              </a:r>
            </a:p>
            <a:p>
              <a:pPr algn="ctr"/>
              <a:r>
                <a:rPr lang="en-US" sz="1400" i="1" dirty="0">
                  <a:solidFill>
                    <a:schemeClr val="accent1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Multiscale </a:t>
              </a:r>
              <a:r>
                <a:rPr lang="en-US" sz="1400" i="1" dirty="0" err="1">
                  <a:solidFill>
                    <a:schemeClr val="accent1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Thermofluid</a:t>
              </a:r>
              <a:r>
                <a:rPr lang="en-US" sz="1400" i="1" dirty="0">
                  <a:solidFill>
                    <a:schemeClr val="accent1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 Engineering Laboratory</a:t>
              </a:r>
            </a:p>
          </p:txBody>
        </p:sp>
      </p:grp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EC6FA767-CFD1-4EFB-8EEE-EFA06F081098}"/>
              </a:ext>
            </a:extLst>
          </p:cNvPr>
          <p:cNvSpPr txBox="1">
            <a:spLocks/>
          </p:cNvSpPr>
          <p:nvPr userDrawn="1"/>
        </p:nvSpPr>
        <p:spPr>
          <a:xfrm>
            <a:off x="8968192" y="63712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6A585F-A6F2-45BF-882F-55D1F240591B}" type="slidenum">
              <a:rPr lang="en-US" sz="2400" smtClean="0"/>
              <a:pPr/>
              <a:t>‹#›</a:t>
            </a:fld>
            <a:endParaRPr lang="en-US" sz="2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5741C-DE47-49FD-9518-E202599B0AB6}"/>
              </a:ext>
            </a:extLst>
          </p:cNvPr>
          <p:cNvSpPr/>
          <p:nvPr userDrawn="1"/>
        </p:nvSpPr>
        <p:spPr>
          <a:xfrm>
            <a:off x="0" y="0"/>
            <a:ext cx="12192000" cy="1015663"/>
          </a:xfrm>
          <a:prstGeom prst="rect">
            <a:avLst/>
          </a:prstGeom>
          <a:gradFill flip="none" rotWithShape="1">
            <a:gsLst>
              <a:gs pos="0">
                <a:srgbClr val="7F257F">
                  <a:alpha val="21000"/>
                </a:srgbClr>
              </a:gs>
              <a:gs pos="50000">
                <a:srgbClr val="DA82DA">
                  <a:alpha val="51000"/>
                </a:srgbClr>
              </a:gs>
              <a:gs pos="100000">
                <a:schemeClr val="bg1">
                  <a:lumMod val="85000"/>
                  <a:alpha val="18000"/>
                </a:schemeClr>
              </a:gs>
            </a:gsLst>
            <a:lin ang="10800000" scaled="1"/>
            <a:tileRect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lvl="0" algn="ctr"/>
            <a:endParaRPr lang="en-US" sz="60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5" descr="Image result for College of nuclear science nthu">
            <a:extLst>
              <a:ext uri="{FF2B5EF4-FFF2-40B4-BE49-F238E27FC236}">
                <a16:creationId xmlns:a16="http://schemas.microsoft.com/office/drawing/2014/main" id="{4DD4C9D3-9EA3-4CCB-B5C2-E2B873D6E04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l="5423" t="25029" r="62580" b="20159"/>
          <a:stretch/>
        </p:blipFill>
        <p:spPr bwMode="auto">
          <a:xfrm>
            <a:off x="838200" y="6324225"/>
            <a:ext cx="1279759" cy="47322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graphicFrame>
        <p:nvGraphicFramePr>
          <p:cNvPr id="10" name="表格 2">
            <a:extLst>
              <a:ext uri="{FF2B5EF4-FFF2-40B4-BE49-F238E27FC236}">
                <a16:creationId xmlns:a16="http://schemas.microsoft.com/office/drawing/2014/main" id="{75DE362B-97C1-4140-A4F5-9AEDF09D4D1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525815554"/>
              </p:ext>
            </p:extLst>
          </p:nvPr>
        </p:nvGraphicFramePr>
        <p:xfrm>
          <a:off x="0" y="0"/>
          <a:ext cx="12192000" cy="414670"/>
        </p:xfrm>
        <a:graphic>
          <a:graphicData uri="http://schemas.openxmlformats.org/drawingml/2006/table">
            <a:tbl>
              <a:tblPr firstRow="1" bandRow="1">
                <a:effectLst>
                  <a:innerShdw blurRad="114300">
                    <a:prstClr val="black"/>
                  </a:innerShdw>
                </a:effectLst>
                <a:tableStyleId>{1FECB4D8-DB02-4DC6-A0A2-4F2EBAE1DC90}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47816586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29238980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27421248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59667735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96297897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78040470"/>
                    </a:ext>
                  </a:extLst>
                </a:gridCol>
              </a:tblGrid>
              <a:tr h="4146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Background</a:t>
                      </a:r>
                      <a:endParaRPr lang="en-US" sz="18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515" marR="90515" marT="45258" marB="45258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Literature</a:t>
                      </a:r>
                    </a:p>
                  </a:txBody>
                  <a:tcPr marL="90515" marR="90515" marT="45258" marB="45258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Objective</a:t>
                      </a:r>
                    </a:p>
                  </a:txBody>
                  <a:tcPr marL="90515" marR="90515" marT="45258" marB="45258" anchor="ctr">
                    <a:solidFill>
                      <a:srgbClr val="8110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Methods</a:t>
                      </a:r>
                      <a:endParaRPr lang="en-US" sz="18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515" marR="90515" marT="45258" marB="45258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Results</a:t>
                      </a:r>
                      <a:endParaRPr lang="en-US" sz="18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515" marR="90515" marT="45258" marB="45258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Summary</a:t>
                      </a:r>
                      <a:endParaRPr lang="en-US" sz="18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515" marR="90515" marT="45258" marB="45258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96711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8856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ho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1F88176-3CFE-43F0-8974-5446CBD2195D}"/>
              </a:ext>
            </a:extLst>
          </p:cNvPr>
          <p:cNvSpPr/>
          <p:nvPr userDrawn="1"/>
        </p:nvSpPr>
        <p:spPr>
          <a:xfrm>
            <a:off x="-1" y="6261631"/>
            <a:ext cx="12192000" cy="584373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74000">
                <a:schemeClr val="bg2"/>
              </a:gs>
              <a:gs pos="83000">
                <a:schemeClr val="bg2"/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77CBFF4-98B6-4C43-83B7-6BAC10B66180}"/>
              </a:ext>
            </a:extLst>
          </p:cNvPr>
          <p:cNvGrpSpPr/>
          <p:nvPr userDrawn="1"/>
        </p:nvGrpSpPr>
        <p:grpSpPr>
          <a:xfrm>
            <a:off x="2988636" y="6277302"/>
            <a:ext cx="7621297" cy="531232"/>
            <a:chOff x="2988636" y="6236961"/>
            <a:chExt cx="7621297" cy="5312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004E153-60FC-422A-902A-BBC8CB1F3C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83171" y="6268009"/>
              <a:ext cx="2626762" cy="500184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3AB3A9B-AFD5-4636-8C5F-81B106A0F0D7}"/>
                </a:ext>
              </a:extLst>
            </p:cNvPr>
            <p:cNvSpPr/>
            <p:nvPr/>
          </p:nvSpPr>
          <p:spPr>
            <a:xfrm>
              <a:off x="2988636" y="6236961"/>
              <a:ext cx="4367318" cy="523220"/>
            </a:xfrm>
            <a:prstGeom prst="rect">
              <a:avLst/>
            </a:prstGeom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n-US" sz="1400" i="1" dirty="0">
                  <a:solidFill>
                    <a:schemeClr val="accent1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Dept. of Engineering &amp; System Science</a:t>
              </a:r>
            </a:p>
            <a:p>
              <a:pPr algn="ctr"/>
              <a:r>
                <a:rPr lang="en-US" sz="1400" i="1" dirty="0">
                  <a:solidFill>
                    <a:schemeClr val="accent1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Multiscale </a:t>
              </a:r>
              <a:r>
                <a:rPr lang="en-US" sz="1400" i="1" dirty="0" err="1">
                  <a:solidFill>
                    <a:schemeClr val="accent1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Thermofluid</a:t>
              </a:r>
              <a:r>
                <a:rPr lang="en-US" sz="1400" i="1" dirty="0">
                  <a:solidFill>
                    <a:schemeClr val="accent1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 Engineering Laboratory</a:t>
              </a:r>
            </a:p>
          </p:txBody>
        </p:sp>
      </p:grp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EC6FA767-CFD1-4EFB-8EEE-EFA06F081098}"/>
              </a:ext>
            </a:extLst>
          </p:cNvPr>
          <p:cNvSpPr txBox="1">
            <a:spLocks/>
          </p:cNvSpPr>
          <p:nvPr userDrawn="1"/>
        </p:nvSpPr>
        <p:spPr>
          <a:xfrm>
            <a:off x="8968192" y="63712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6A585F-A6F2-45BF-882F-55D1F240591B}" type="slidenum">
              <a:rPr lang="en-US" sz="2400" smtClean="0"/>
              <a:pPr/>
              <a:t>‹#›</a:t>
            </a:fld>
            <a:endParaRPr lang="en-US" sz="2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5741C-DE47-49FD-9518-E202599B0AB6}"/>
              </a:ext>
            </a:extLst>
          </p:cNvPr>
          <p:cNvSpPr/>
          <p:nvPr userDrawn="1"/>
        </p:nvSpPr>
        <p:spPr>
          <a:xfrm>
            <a:off x="0" y="0"/>
            <a:ext cx="12192000" cy="1015663"/>
          </a:xfrm>
          <a:prstGeom prst="rect">
            <a:avLst/>
          </a:prstGeom>
          <a:gradFill flip="none" rotWithShape="1">
            <a:gsLst>
              <a:gs pos="0">
                <a:srgbClr val="7F257F">
                  <a:alpha val="21000"/>
                </a:srgbClr>
              </a:gs>
              <a:gs pos="50000">
                <a:srgbClr val="DA82DA">
                  <a:alpha val="51000"/>
                </a:srgbClr>
              </a:gs>
              <a:gs pos="100000">
                <a:schemeClr val="bg1">
                  <a:lumMod val="85000"/>
                  <a:alpha val="18000"/>
                </a:schemeClr>
              </a:gs>
            </a:gsLst>
            <a:lin ang="10800000" scaled="1"/>
            <a:tileRect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lvl="0" algn="ctr"/>
            <a:endParaRPr lang="en-US" sz="6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5" descr="Image result for College of nuclear science nthu">
            <a:extLst>
              <a:ext uri="{FF2B5EF4-FFF2-40B4-BE49-F238E27FC236}">
                <a16:creationId xmlns:a16="http://schemas.microsoft.com/office/drawing/2014/main" id="{4DD4C9D3-9EA3-4CCB-B5C2-E2B873D6E04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l="5423" t="25029" r="62580" b="20159"/>
          <a:stretch/>
        </p:blipFill>
        <p:spPr bwMode="auto">
          <a:xfrm>
            <a:off x="838200" y="6324225"/>
            <a:ext cx="1279759" cy="47322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graphicFrame>
        <p:nvGraphicFramePr>
          <p:cNvPr id="10" name="表格 2">
            <a:extLst>
              <a:ext uri="{FF2B5EF4-FFF2-40B4-BE49-F238E27FC236}">
                <a16:creationId xmlns:a16="http://schemas.microsoft.com/office/drawing/2014/main" id="{75DE362B-97C1-4140-A4F5-9AEDF09D4D1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636736522"/>
              </p:ext>
            </p:extLst>
          </p:nvPr>
        </p:nvGraphicFramePr>
        <p:xfrm>
          <a:off x="0" y="0"/>
          <a:ext cx="12192000" cy="414670"/>
        </p:xfrm>
        <a:graphic>
          <a:graphicData uri="http://schemas.openxmlformats.org/drawingml/2006/table">
            <a:tbl>
              <a:tblPr firstRow="1" bandRow="1">
                <a:effectLst>
                  <a:innerShdw blurRad="114300">
                    <a:prstClr val="black"/>
                  </a:innerShdw>
                </a:effectLst>
                <a:tableStyleId>{1FECB4D8-DB02-4DC6-A0A2-4F2EBAE1DC90}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47816586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29238980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27421248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59667735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96297897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78040470"/>
                    </a:ext>
                  </a:extLst>
                </a:gridCol>
              </a:tblGrid>
              <a:tr h="4146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Background</a:t>
                      </a:r>
                      <a:endParaRPr lang="en-US" sz="18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515" marR="90515" marT="45258" marB="45258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Literature</a:t>
                      </a:r>
                    </a:p>
                  </a:txBody>
                  <a:tcPr marL="90515" marR="90515" marT="45258" marB="45258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Objective</a:t>
                      </a:r>
                    </a:p>
                  </a:txBody>
                  <a:tcPr marL="90515" marR="90515" marT="45258" marB="45258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Methods</a:t>
                      </a:r>
                      <a:endParaRPr lang="en-US" sz="18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515" marR="90515" marT="45258" marB="45258" anchor="ctr">
                    <a:solidFill>
                      <a:srgbClr val="8110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Results</a:t>
                      </a:r>
                      <a:endParaRPr lang="en-US" sz="18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515" marR="90515" marT="45258" marB="45258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Summary</a:t>
                      </a:r>
                      <a:endParaRPr lang="en-US" sz="18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515" marR="90515" marT="45258" marB="45258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96711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7768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1F88176-3CFE-43F0-8974-5446CBD2195D}"/>
              </a:ext>
            </a:extLst>
          </p:cNvPr>
          <p:cNvSpPr/>
          <p:nvPr userDrawn="1"/>
        </p:nvSpPr>
        <p:spPr>
          <a:xfrm>
            <a:off x="-1" y="6261631"/>
            <a:ext cx="12192000" cy="584373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74000">
                <a:schemeClr val="bg2"/>
              </a:gs>
              <a:gs pos="83000">
                <a:schemeClr val="bg2"/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77CBFF4-98B6-4C43-83B7-6BAC10B66180}"/>
              </a:ext>
            </a:extLst>
          </p:cNvPr>
          <p:cNvGrpSpPr/>
          <p:nvPr userDrawn="1"/>
        </p:nvGrpSpPr>
        <p:grpSpPr>
          <a:xfrm>
            <a:off x="2988636" y="6277302"/>
            <a:ext cx="7621297" cy="531232"/>
            <a:chOff x="2988636" y="6236961"/>
            <a:chExt cx="7621297" cy="5312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004E153-60FC-422A-902A-BBC8CB1F3C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83171" y="6268009"/>
              <a:ext cx="2626762" cy="500184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3AB3A9B-AFD5-4636-8C5F-81B106A0F0D7}"/>
                </a:ext>
              </a:extLst>
            </p:cNvPr>
            <p:cNvSpPr/>
            <p:nvPr/>
          </p:nvSpPr>
          <p:spPr>
            <a:xfrm>
              <a:off x="2988636" y="6236961"/>
              <a:ext cx="4367318" cy="523220"/>
            </a:xfrm>
            <a:prstGeom prst="rect">
              <a:avLst/>
            </a:prstGeom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n-US" sz="1400" i="1" dirty="0">
                  <a:solidFill>
                    <a:schemeClr val="accent1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Dept. of Engineering &amp; System Science</a:t>
              </a:r>
            </a:p>
            <a:p>
              <a:pPr algn="ctr"/>
              <a:r>
                <a:rPr lang="en-US" sz="1400" i="1" dirty="0">
                  <a:solidFill>
                    <a:schemeClr val="accent1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Multiscale </a:t>
              </a:r>
              <a:r>
                <a:rPr lang="en-US" sz="1400" i="1" dirty="0" err="1">
                  <a:solidFill>
                    <a:schemeClr val="accent1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Thermofluid</a:t>
              </a:r>
              <a:r>
                <a:rPr lang="en-US" sz="1400" i="1" dirty="0">
                  <a:solidFill>
                    <a:schemeClr val="accent1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 Engineering Laboratory</a:t>
              </a:r>
            </a:p>
          </p:txBody>
        </p:sp>
      </p:grp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EC6FA767-CFD1-4EFB-8EEE-EFA06F081098}"/>
              </a:ext>
            </a:extLst>
          </p:cNvPr>
          <p:cNvSpPr txBox="1">
            <a:spLocks/>
          </p:cNvSpPr>
          <p:nvPr userDrawn="1"/>
        </p:nvSpPr>
        <p:spPr>
          <a:xfrm>
            <a:off x="8968192" y="63712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6A585F-A6F2-45BF-882F-55D1F240591B}" type="slidenum">
              <a:rPr lang="en-US" sz="2400" smtClean="0"/>
              <a:pPr/>
              <a:t>‹#›</a:t>
            </a:fld>
            <a:endParaRPr lang="en-US" sz="2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5741C-DE47-49FD-9518-E202599B0AB6}"/>
              </a:ext>
            </a:extLst>
          </p:cNvPr>
          <p:cNvSpPr/>
          <p:nvPr userDrawn="1"/>
        </p:nvSpPr>
        <p:spPr>
          <a:xfrm>
            <a:off x="0" y="0"/>
            <a:ext cx="12192000" cy="1015663"/>
          </a:xfrm>
          <a:prstGeom prst="rect">
            <a:avLst/>
          </a:prstGeom>
          <a:gradFill flip="none" rotWithShape="1">
            <a:gsLst>
              <a:gs pos="0">
                <a:srgbClr val="7F257F">
                  <a:alpha val="21000"/>
                </a:srgbClr>
              </a:gs>
              <a:gs pos="50000">
                <a:srgbClr val="DA82DA">
                  <a:alpha val="51000"/>
                </a:srgbClr>
              </a:gs>
              <a:gs pos="100000">
                <a:schemeClr val="bg1">
                  <a:lumMod val="85000"/>
                  <a:alpha val="18000"/>
                </a:schemeClr>
              </a:gs>
            </a:gsLst>
            <a:lin ang="10800000" scaled="1"/>
            <a:tileRect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lvl="0" algn="ctr"/>
            <a:endParaRPr lang="en-US" sz="60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5" descr="Image result for College of nuclear science nthu">
            <a:extLst>
              <a:ext uri="{FF2B5EF4-FFF2-40B4-BE49-F238E27FC236}">
                <a16:creationId xmlns:a16="http://schemas.microsoft.com/office/drawing/2014/main" id="{4DD4C9D3-9EA3-4CCB-B5C2-E2B873D6E04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l="5423" t="25029" r="62580" b="20159"/>
          <a:stretch/>
        </p:blipFill>
        <p:spPr bwMode="auto">
          <a:xfrm>
            <a:off x="838200" y="6324225"/>
            <a:ext cx="1279759" cy="47322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graphicFrame>
        <p:nvGraphicFramePr>
          <p:cNvPr id="10" name="表格 2">
            <a:extLst>
              <a:ext uri="{FF2B5EF4-FFF2-40B4-BE49-F238E27FC236}">
                <a16:creationId xmlns:a16="http://schemas.microsoft.com/office/drawing/2014/main" id="{75DE362B-97C1-4140-A4F5-9AEDF09D4D1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563660554"/>
              </p:ext>
            </p:extLst>
          </p:nvPr>
        </p:nvGraphicFramePr>
        <p:xfrm>
          <a:off x="0" y="0"/>
          <a:ext cx="12192000" cy="414670"/>
        </p:xfrm>
        <a:graphic>
          <a:graphicData uri="http://schemas.openxmlformats.org/drawingml/2006/table">
            <a:tbl>
              <a:tblPr firstRow="1" bandRow="1">
                <a:effectLst>
                  <a:innerShdw blurRad="114300">
                    <a:prstClr val="black"/>
                  </a:innerShdw>
                </a:effectLst>
                <a:tableStyleId>{1FECB4D8-DB02-4DC6-A0A2-4F2EBAE1DC90}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47816586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29238980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27421248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59667735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96297897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78040470"/>
                    </a:ext>
                  </a:extLst>
                </a:gridCol>
              </a:tblGrid>
              <a:tr h="4146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Background</a:t>
                      </a:r>
                      <a:endParaRPr lang="en-US" sz="18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515" marR="90515" marT="45258" marB="45258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Literature</a:t>
                      </a:r>
                    </a:p>
                  </a:txBody>
                  <a:tcPr marL="90515" marR="90515" marT="45258" marB="45258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Objective</a:t>
                      </a:r>
                    </a:p>
                  </a:txBody>
                  <a:tcPr marL="90515" marR="90515" marT="45258" marB="45258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Methods</a:t>
                      </a:r>
                      <a:endParaRPr lang="en-US" sz="18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515" marR="90515" marT="45258" marB="45258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Results</a:t>
                      </a:r>
                      <a:endParaRPr lang="en-US" sz="18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515" marR="90515" marT="45258" marB="45258" anchor="ctr">
                    <a:solidFill>
                      <a:srgbClr val="8110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Summary</a:t>
                      </a:r>
                      <a:endParaRPr lang="en-US" sz="18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515" marR="90515" marT="45258" marB="45258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96711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9767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1F88176-3CFE-43F0-8974-5446CBD2195D}"/>
              </a:ext>
            </a:extLst>
          </p:cNvPr>
          <p:cNvSpPr/>
          <p:nvPr userDrawn="1"/>
        </p:nvSpPr>
        <p:spPr>
          <a:xfrm>
            <a:off x="-1" y="6261631"/>
            <a:ext cx="12192000" cy="584373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74000">
                <a:schemeClr val="bg2"/>
              </a:gs>
              <a:gs pos="83000">
                <a:schemeClr val="bg2"/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77CBFF4-98B6-4C43-83B7-6BAC10B66180}"/>
              </a:ext>
            </a:extLst>
          </p:cNvPr>
          <p:cNvGrpSpPr/>
          <p:nvPr userDrawn="1"/>
        </p:nvGrpSpPr>
        <p:grpSpPr>
          <a:xfrm>
            <a:off x="2988636" y="6277302"/>
            <a:ext cx="7621297" cy="531232"/>
            <a:chOff x="2988636" y="6236961"/>
            <a:chExt cx="7621297" cy="5312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004E153-60FC-422A-902A-BBC8CB1F3C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83171" y="6268009"/>
              <a:ext cx="2626762" cy="500184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3AB3A9B-AFD5-4636-8C5F-81B106A0F0D7}"/>
                </a:ext>
              </a:extLst>
            </p:cNvPr>
            <p:cNvSpPr/>
            <p:nvPr/>
          </p:nvSpPr>
          <p:spPr>
            <a:xfrm>
              <a:off x="2988636" y="6236961"/>
              <a:ext cx="4367318" cy="523220"/>
            </a:xfrm>
            <a:prstGeom prst="rect">
              <a:avLst/>
            </a:prstGeom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n-US" sz="1400" i="1" dirty="0">
                  <a:solidFill>
                    <a:schemeClr val="accent1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Dept. of Engineering &amp; System Science</a:t>
              </a:r>
            </a:p>
            <a:p>
              <a:pPr algn="ctr"/>
              <a:r>
                <a:rPr lang="en-US" sz="1400" i="1" dirty="0">
                  <a:solidFill>
                    <a:schemeClr val="accent1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Multiscale </a:t>
              </a:r>
              <a:r>
                <a:rPr lang="en-US" sz="1400" i="1" dirty="0" err="1">
                  <a:solidFill>
                    <a:schemeClr val="accent1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Thermofluid</a:t>
              </a:r>
              <a:r>
                <a:rPr lang="en-US" sz="1400" i="1" dirty="0">
                  <a:solidFill>
                    <a:schemeClr val="accent1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 Engineering Laboratory</a:t>
              </a:r>
            </a:p>
          </p:txBody>
        </p:sp>
      </p:grp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EC6FA767-CFD1-4EFB-8EEE-EFA06F081098}"/>
              </a:ext>
            </a:extLst>
          </p:cNvPr>
          <p:cNvSpPr txBox="1">
            <a:spLocks/>
          </p:cNvSpPr>
          <p:nvPr userDrawn="1"/>
        </p:nvSpPr>
        <p:spPr>
          <a:xfrm>
            <a:off x="8968192" y="63712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6A585F-A6F2-45BF-882F-55D1F240591B}" type="slidenum">
              <a:rPr lang="en-US" sz="2400" smtClean="0"/>
              <a:pPr/>
              <a:t>‹#›</a:t>
            </a:fld>
            <a:endParaRPr lang="en-US" sz="2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5741C-DE47-49FD-9518-E202599B0AB6}"/>
              </a:ext>
            </a:extLst>
          </p:cNvPr>
          <p:cNvSpPr/>
          <p:nvPr userDrawn="1"/>
        </p:nvSpPr>
        <p:spPr>
          <a:xfrm>
            <a:off x="0" y="0"/>
            <a:ext cx="12192000" cy="1015663"/>
          </a:xfrm>
          <a:prstGeom prst="rect">
            <a:avLst/>
          </a:prstGeom>
          <a:gradFill flip="none" rotWithShape="1">
            <a:gsLst>
              <a:gs pos="0">
                <a:srgbClr val="7F257F">
                  <a:alpha val="21000"/>
                </a:srgbClr>
              </a:gs>
              <a:gs pos="50000">
                <a:srgbClr val="DA82DA">
                  <a:alpha val="51000"/>
                </a:srgbClr>
              </a:gs>
              <a:gs pos="100000">
                <a:schemeClr val="bg1">
                  <a:lumMod val="85000"/>
                  <a:alpha val="18000"/>
                </a:schemeClr>
              </a:gs>
            </a:gsLst>
            <a:lin ang="10800000" scaled="1"/>
            <a:tileRect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lvl="0" algn="ctr"/>
            <a:endParaRPr lang="en-US" sz="60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5" descr="Image result for College of nuclear science nthu">
            <a:extLst>
              <a:ext uri="{FF2B5EF4-FFF2-40B4-BE49-F238E27FC236}">
                <a16:creationId xmlns:a16="http://schemas.microsoft.com/office/drawing/2014/main" id="{4DD4C9D3-9EA3-4CCB-B5C2-E2B873D6E04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l="5423" t="25029" r="62580" b="20159"/>
          <a:stretch/>
        </p:blipFill>
        <p:spPr bwMode="auto">
          <a:xfrm>
            <a:off x="838200" y="6324225"/>
            <a:ext cx="1279759" cy="47322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graphicFrame>
        <p:nvGraphicFramePr>
          <p:cNvPr id="10" name="表格 2">
            <a:extLst>
              <a:ext uri="{FF2B5EF4-FFF2-40B4-BE49-F238E27FC236}">
                <a16:creationId xmlns:a16="http://schemas.microsoft.com/office/drawing/2014/main" id="{75DE362B-97C1-4140-A4F5-9AEDF09D4D1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712423393"/>
              </p:ext>
            </p:extLst>
          </p:nvPr>
        </p:nvGraphicFramePr>
        <p:xfrm>
          <a:off x="0" y="0"/>
          <a:ext cx="12192000" cy="414670"/>
        </p:xfrm>
        <a:graphic>
          <a:graphicData uri="http://schemas.openxmlformats.org/drawingml/2006/table">
            <a:tbl>
              <a:tblPr firstRow="1" bandRow="1">
                <a:effectLst>
                  <a:innerShdw blurRad="114300">
                    <a:prstClr val="black"/>
                  </a:innerShdw>
                </a:effectLst>
                <a:tableStyleId>{1FECB4D8-DB02-4DC6-A0A2-4F2EBAE1DC90}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47816586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29238980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27421248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59667735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96297897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78040470"/>
                    </a:ext>
                  </a:extLst>
                </a:gridCol>
              </a:tblGrid>
              <a:tr h="4146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Background</a:t>
                      </a:r>
                      <a:endParaRPr lang="en-US" sz="18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515" marR="90515" marT="45258" marB="45258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Literature</a:t>
                      </a:r>
                    </a:p>
                  </a:txBody>
                  <a:tcPr marL="90515" marR="90515" marT="45258" marB="45258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Objective</a:t>
                      </a:r>
                    </a:p>
                  </a:txBody>
                  <a:tcPr marL="90515" marR="90515" marT="45258" marB="45258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Methods</a:t>
                      </a:r>
                      <a:endParaRPr lang="en-US" sz="18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515" marR="90515" marT="45258" marB="45258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Results</a:t>
                      </a:r>
                      <a:endParaRPr lang="en-US" sz="18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515" marR="90515" marT="45258" marB="45258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Summary</a:t>
                      </a:r>
                      <a:endParaRPr lang="en-US" sz="18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515" marR="90515" marT="45258" marB="45258" anchor="ctr">
                    <a:solidFill>
                      <a:srgbClr val="8110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96711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7907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0DFA6-5E8B-461D-B44B-A0B403B95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079245-33CA-4DB3-B806-6B50AF38E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17C3C-50F3-4EB8-8152-A56AE50675F7}" type="datetime1">
              <a:rPr lang="en-US" smtClean="0"/>
              <a:t>12/24/25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8EDF2B-3B01-4CF7-BA45-DD15AC548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A585F-A6F2-45BF-882F-55D1F240591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B5FEBE-EF4B-4A9E-950A-EC046EC69484}"/>
              </a:ext>
            </a:extLst>
          </p:cNvPr>
          <p:cNvSpPr/>
          <p:nvPr userDrawn="1"/>
        </p:nvSpPr>
        <p:spPr>
          <a:xfrm>
            <a:off x="-1" y="6261631"/>
            <a:ext cx="12192000" cy="584373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74000">
                <a:schemeClr val="bg2"/>
              </a:gs>
              <a:gs pos="83000">
                <a:schemeClr val="bg2"/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5AE8F32-8397-43C4-8B9F-A39C40412467}"/>
              </a:ext>
            </a:extLst>
          </p:cNvPr>
          <p:cNvGrpSpPr/>
          <p:nvPr userDrawn="1"/>
        </p:nvGrpSpPr>
        <p:grpSpPr>
          <a:xfrm>
            <a:off x="2988636" y="6277302"/>
            <a:ext cx="7621297" cy="531232"/>
            <a:chOff x="2988636" y="6236961"/>
            <a:chExt cx="7621297" cy="531232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C657FBB-F99A-418C-B9E4-8562AC1E9C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83171" y="6268009"/>
              <a:ext cx="2626762" cy="500184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055F0A9-174D-4D3A-93DA-3082900DDEF6}"/>
                </a:ext>
              </a:extLst>
            </p:cNvPr>
            <p:cNvSpPr/>
            <p:nvPr/>
          </p:nvSpPr>
          <p:spPr>
            <a:xfrm>
              <a:off x="2988636" y="6236961"/>
              <a:ext cx="4367318" cy="523220"/>
            </a:xfrm>
            <a:prstGeom prst="rect">
              <a:avLst/>
            </a:prstGeom>
            <a:ln>
              <a:noFill/>
            </a:ln>
            <a:effectLst>
              <a:glow rad="63500">
                <a:schemeClr val="accent2">
                  <a:satMod val="175000"/>
                  <a:alpha val="40000"/>
                </a:schemeClr>
              </a:glow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en-US" sz="1400" i="1" dirty="0">
                  <a:solidFill>
                    <a:schemeClr val="accent1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Dept. of Engineering &amp; System Science</a:t>
              </a:r>
            </a:p>
            <a:p>
              <a:pPr algn="ctr"/>
              <a:r>
                <a:rPr lang="en-US" sz="1400" i="1" dirty="0">
                  <a:solidFill>
                    <a:schemeClr val="accent1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Multiscale </a:t>
              </a:r>
              <a:r>
                <a:rPr lang="en-US" sz="1400" i="1" dirty="0" err="1">
                  <a:solidFill>
                    <a:schemeClr val="accent1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Thermofluid</a:t>
              </a:r>
              <a:r>
                <a:rPr lang="en-US" sz="1400" i="1" dirty="0">
                  <a:solidFill>
                    <a:schemeClr val="accent1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 Engineering Laboratory</a:t>
              </a:r>
            </a:p>
          </p:txBody>
        </p:sp>
      </p:grp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4327AEB5-4B26-41E5-8901-C2CD391816AE}"/>
              </a:ext>
            </a:extLst>
          </p:cNvPr>
          <p:cNvSpPr txBox="1">
            <a:spLocks/>
          </p:cNvSpPr>
          <p:nvPr userDrawn="1"/>
        </p:nvSpPr>
        <p:spPr>
          <a:xfrm>
            <a:off x="8968192" y="63712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6A585F-A6F2-45BF-882F-55D1F240591B}" type="slidenum">
              <a:rPr lang="en-US" sz="2400" smtClean="0"/>
              <a:pPr/>
              <a:t>‹#›</a:t>
            </a:fld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7ACB95-6735-4AE9-9C79-F177E98157A5}"/>
              </a:ext>
            </a:extLst>
          </p:cNvPr>
          <p:cNvSpPr/>
          <p:nvPr userDrawn="1"/>
        </p:nvSpPr>
        <p:spPr>
          <a:xfrm>
            <a:off x="0" y="0"/>
            <a:ext cx="12192000" cy="1015663"/>
          </a:xfrm>
          <a:prstGeom prst="rect">
            <a:avLst/>
          </a:prstGeom>
          <a:gradFill flip="none" rotWithShape="1">
            <a:gsLst>
              <a:gs pos="0">
                <a:srgbClr val="7F257F">
                  <a:alpha val="21000"/>
                </a:srgbClr>
              </a:gs>
              <a:gs pos="50000">
                <a:srgbClr val="DA82DA">
                  <a:alpha val="51000"/>
                </a:srgbClr>
              </a:gs>
              <a:gs pos="100000">
                <a:schemeClr val="bg1">
                  <a:lumMod val="85000"/>
                  <a:alpha val="18000"/>
                </a:schemeClr>
              </a:gs>
            </a:gsLst>
            <a:lin ang="10800000" scaled="1"/>
            <a:tileRect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lvl="0" algn="ctr"/>
            <a:endParaRPr lang="en-US" sz="60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5" descr="Image result for College of nuclear science nthu">
            <a:extLst>
              <a:ext uri="{FF2B5EF4-FFF2-40B4-BE49-F238E27FC236}">
                <a16:creationId xmlns:a16="http://schemas.microsoft.com/office/drawing/2014/main" id="{5A99FB0A-AA37-4550-90A9-75252348B2E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l="5423" t="25029" r="62580" b="20159"/>
          <a:stretch/>
        </p:blipFill>
        <p:spPr bwMode="auto">
          <a:xfrm>
            <a:off x="838200" y="6324225"/>
            <a:ext cx="1279759" cy="47322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583671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/>
              <a:t>按一下以編輯母片副標題樣式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C7836-3028-4390-8E08-57987AF23A13}" type="datetime1">
              <a:rPr lang="en-US" smtClean="0"/>
              <a:t>12/24/25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CC603-6190-4BF7-8F46-FAACDD72D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1874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1DB8B-4BC2-44D9-99DF-862EC3BC0417}" type="datetime1">
              <a:rPr lang="en-US" smtClean="0"/>
              <a:t>12/24/25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CC603-6190-4BF7-8F46-FAACDD72D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1890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B9969-37D0-40A9-8203-1DD70FA122AF}" type="datetime1">
              <a:rPr lang="en-US" smtClean="0"/>
              <a:t>12/24/25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CC603-6190-4BF7-8F46-FAACDD72D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2627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BCE96-7C60-4942-8E48-6D9A72D5BE09}" type="datetime1">
              <a:rPr lang="en-US" smtClean="0"/>
              <a:t>12/24/25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CC603-6190-4BF7-8F46-FAACDD72D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8080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66AC-32D0-437D-89CD-EA929420C2AA}" type="datetime1">
              <a:rPr lang="en-US" smtClean="0"/>
              <a:t>12/24/25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CC603-6190-4BF7-8F46-FAACDD72D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1770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1FD50-1FEB-4F3A-8D34-525334F4AE2C}" type="datetime1">
              <a:rPr lang="en-US" smtClean="0"/>
              <a:t>12/24/25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CC603-6190-4BF7-8F46-FAACDD72D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4850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87A1A-7A8D-4E2E-82EA-AE04B11B122D}" type="datetime1">
              <a:rPr lang="en-US" smtClean="0"/>
              <a:t>12/24/25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CC603-6190-4BF7-8F46-FAACDD72D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2151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CBD7E-765E-4DB5-99A9-71213BD86FB6}" type="datetime1">
              <a:rPr lang="en-US" smtClean="0"/>
              <a:t>12/24/25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CC603-6190-4BF7-8F46-FAACDD72D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5535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ADF49-6A57-467C-8C9B-E4E1A87BBAFF}" type="datetime1">
              <a:rPr lang="en-US" smtClean="0"/>
              <a:t>12/24/25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CC603-6190-4BF7-8F46-FAACDD72D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101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7FBF4-FAE3-4E8D-94F3-B8C46B4BD2C2}" type="datetime1">
              <a:rPr lang="en-US" smtClean="0"/>
              <a:t>12/24/25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CC603-6190-4BF7-8F46-FAACDD72D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7084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6170A-B10E-469E-B0B5-E27AEF834084}" type="datetime1">
              <a:rPr lang="en-US" smtClean="0"/>
              <a:t>12/24/25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CC603-6190-4BF7-8F46-FAACDD72D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9803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41F20-202C-4AAC-8A92-FD9B05D4D4E3}" type="datetime1">
              <a:rPr lang="en-US" smtClean="0"/>
              <a:t>12/24/25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CC603-6190-4BF7-8F46-FAACDD72D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5738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D4ED7-5D42-4479-A0EB-30D2D8FFCEC4}" type="datetime1">
              <a:rPr lang="en-US" smtClean="0"/>
              <a:t>12/24/25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BDC47-93B6-47B6-83D4-AB7AC4C61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4602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2184E-8D71-468F-B329-CB86533BBD05}" type="datetime1">
              <a:rPr lang="en-US" smtClean="0"/>
              <a:t>12/24/25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BDC47-93B6-47B6-83D4-AB7AC4C61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24171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40A82-EF5E-47A4-9E6F-D21BAF96608E}" type="datetime1">
              <a:rPr lang="en-US" smtClean="0"/>
              <a:t>12/24/25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BDC47-93B6-47B6-83D4-AB7AC4C61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6347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610E1-3AC3-4E33-B0F2-7DD4900559B6}" type="datetime1">
              <a:rPr lang="en-US" smtClean="0"/>
              <a:t>12/24/25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BDC47-93B6-47B6-83D4-AB7AC4C61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7261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01E43-3D32-4BC4-A008-822C660EDA6B}" type="datetime1">
              <a:rPr lang="en-US" smtClean="0"/>
              <a:t>12/24/25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BDC47-93B6-47B6-83D4-AB7AC4C61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23014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810FF-2B0B-4082-93FA-DDA26BEFDD23}" type="datetime1">
              <a:rPr lang="en-US" smtClean="0"/>
              <a:t>12/24/25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BDC47-93B6-47B6-83D4-AB7AC4C61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31622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5B790-D323-441C-B4B1-F84EC84F7995}" type="datetime1">
              <a:rPr lang="en-US" smtClean="0"/>
              <a:t>12/24/25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BDC47-93B6-47B6-83D4-AB7AC4C61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51786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E0729-11FB-4758-A4AA-6A4AB6A74A6B}" type="datetime1">
              <a:rPr lang="en-US" smtClean="0"/>
              <a:t>12/24/25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BDC47-93B6-47B6-83D4-AB7AC4C61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1170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9546A-F162-4293-AB13-5F9DB7974A8C}" type="datetime1">
              <a:rPr lang="en-US" smtClean="0"/>
              <a:t>12/24/25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BDC47-93B6-47B6-83D4-AB7AC4C61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41693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28600-2CB2-4B5A-B9E7-C1DA47C434E9}" type="datetime1">
              <a:rPr lang="en-US" smtClean="0"/>
              <a:t>12/24/25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BDC47-93B6-47B6-83D4-AB7AC4C61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74460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E2206-D7AC-4D22-87BB-A3BB374E0CD6}" type="datetime1">
              <a:rPr lang="en-US" smtClean="0"/>
              <a:t>12/24/25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BDC47-93B6-47B6-83D4-AB7AC4C61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0391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5645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7F493A-27F9-4247-AA6B-629C39919F2F}" type="datetime1">
              <a:rPr lang="en-US" smtClean="0"/>
              <a:t>12/24/25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1CC603-6190-4BF7-8F46-FAACDD72D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940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5" r:id="rId2"/>
    <p:sldLayoutId id="2147483673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77" r:id="rId10"/>
    <p:sldLayoutId id="2147483649" r:id="rId11"/>
    <p:sldLayoutId id="2147483672" r:id="rId12"/>
    <p:sldLayoutId id="2147483650" r:id="rId13"/>
    <p:sldLayoutId id="2147483651" r:id="rId14"/>
    <p:sldLayoutId id="2147483652" r:id="rId15"/>
    <p:sldLayoutId id="2147483653" r:id="rId16"/>
    <p:sldLayoutId id="2147483654" r:id="rId17"/>
    <p:sldLayoutId id="2147483655" r:id="rId18"/>
    <p:sldLayoutId id="2147483656" r:id="rId19"/>
    <p:sldLayoutId id="2147483657" r:id="rId20"/>
    <p:sldLayoutId id="2147483658" r:id="rId21"/>
    <p:sldLayoutId id="2147483659" r:id="rId2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A96048-CA3B-4F88-8E44-97C4C4EAAF10}" type="datetime1">
              <a:rPr lang="en-US" smtClean="0"/>
              <a:t>12/24/25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BDC47-93B6-47B6-83D4-AB7AC4C61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821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3249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386500" y="1646400"/>
            <a:ext cx="9419000" cy="2432739"/>
          </a:xfrm>
        </p:spPr>
        <p:txBody>
          <a:bodyPr anchor="ctr">
            <a:normAutofit fontScale="90000"/>
          </a:bodyPr>
          <a:lstStyle/>
          <a:p>
            <a:r>
              <a:rPr lang="zh-TW" altLang="en-US" sz="4000" dirty="0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rPr>
              <a:t>基於物理資訊的稀疏測量重建方法於公共湍流基準資料集之研究</a:t>
            </a:r>
            <a:b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Physics-Informed Reconstruction from Sparse Measurements on Public Turbulence Benchmarks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89E473FC-8C17-455D-A412-723263640D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4327" y="4907756"/>
            <a:ext cx="6268278" cy="1655762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solidFill>
                  <a:srgbClr val="5B1B5B"/>
                </a:solidFill>
                <a:latin typeface="Times New Roman" panose="02020603050405020304" pitchFamily="18" charset="0"/>
                <a:ea typeface="Microsoft JhengHei UI" panose="020B0604030504040204" pitchFamily="34" charset="-120"/>
                <a:cs typeface="Times New Roman" panose="02020603050405020304" pitchFamily="18" charset="0"/>
              </a:rPr>
              <a:t> </a:t>
            </a:r>
          </a:p>
          <a:p>
            <a:pPr algn="l"/>
            <a:r>
              <a:rPr lang="en-US" b="1" dirty="0">
                <a:solidFill>
                  <a:srgbClr val="5B1B5B"/>
                </a:solidFill>
                <a:latin typeface="Times New Roman" panose="02020603050405020304" pitchFamily="18" charset="0"/>
                <a:ea typeface="Microsoft JhengHei UI" panose="020B0604030504040204" pitchFamily="34" charset="-120"/>
                <a:cs typeface="Times New Roman" panose="02020603050405020304" pitchFamily="18" charset="0"/>
              </a:rPr>
              <a:t>Presenter: JunYi Li 李駿毅</a:t>
            </a:r>
          </a:p>
          <a:p>
            <a:pPr algn="l"/>
            <a:r>
              <a:rPr lang="en-US" b="1" dirty="0">
                <a:solidFill>
                  <a:srgbClr val="5B1B5B"/>
                </a:solidFill>
                <a:latin typeface="Times New Roman" panose="02020603050405020304" pitchFamily="18" charset="0"/>
                <a:ea typeface="Microsoft JhengHei UI" panose="020B0604030504040204" pitchFamily="34" charset="-120"/>
                <a:cs typeface="Times New Roman" panose="02020603050405020304" pitchFamily="18" charset="0"/>
              </a:rPr>
              <a:t>Advisor: Dr. </a:t>
            </a:r>
            <a:r>
              <a:rPr lang="en-US" b="1" dirty="0" err="1">
                <a:solidFill>
                  <a:srgbClr val="5B1B5B"/>
                </a:solidFill>
                <a:latin typeface="Times New Roman" panose="02020603050405020304" pitchFamily="18" charset="0"/>
                <a:ea typeface="Microsoft JhengHei UI" panose="020B0604030504040204" pitchFamily="34" charset="-120"/>
                <a:cs typeface="Times New Roman" panose="02020603050405020304" pitchFamily="18" charset="0"/>
              </a:rPr>
              <a:t>Kuang</a:t>
            </a:r>
            <a:r>
              <a:rPr lang="en-US" b="1" dirty="0">
                <a:solidFill>
                  <a:srgbClr val="5B1B5B"/>
                </a:solidFill>
                <a:latin typeface="Times New Roman" panose="02020603050405020304" pitchFamily="18" charset="0"/>
                <a:ea typeface="Microsoft JhengHei UI" panose="020B0604030504040204" pitchFamily="34" charset="-120"/>
                <a:cs typeface="Times New Roman" panose="02020603050405020304" pitchFamily="18" charset="0"/>
              </a:rPr>
              <a:t> C. Lin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11F33B-00B2-462B-8A36-B97CF4CB180A}"/>
              </a:ext>
            </a:extLst>
          </p:cNvPr>
          <p:cNvSpPr/>
          <p:nvPr/>
        </p:nvSpPr>
        <p:spPr>
          <a:xfrm>
            <a:off x="164327" y="6409629"/>
            <a:ext cx="376577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i="1" dirty="0">
                <a:ln w="0"/>
                <a:solidFill>
                  <a:srgbClr val="B97CD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Applied Computing &amp; Thermofluid Laboratory</a:t>
            </a:r>
          </a:p>
        </p:txBody>
      </p:sp>
    </p:spTree>
    <p:extLst>
      <p:ext uri="{BB962C8B-B14F-4D97-AF65-F5344CB8AC3E}">
        <p14:creationId xmlns:p14="http://schemas.microsoft.com/office/powerpoint/2010/main" val="3186896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0D5809-D884-4550-A80B-6469F1ACFCAF}"/>
              </a:ext>
            </a:extLst>
          </p:cNvPr>
          <p:cNvSpPr txBox="1"/>
          <p:nvPr/>
        </p:nvSpPr>
        <p:spPr>
          <a:xfrm>
            <a:off x="346841" y="1139410"/>
            <a:ext cx="11592911" cy="5463483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marL="342900" indent="-432000">
              <a:lnSpc>
                <a:spcPts val="3000"/>
              </a:lnSpc>
              <a:buFont typeface="Wingdings" panose="05000000000000000000" pitchFamily="2" charset="2"/>
              <a:buChar char="l"/>
            </a:pPr>
            <a:r>
              <a:rPr lang="en-GB" altLang="zh-TW" sz="3200" b="1" dirty="0">
                <a:cs typeface="Times New Roman" panose="02020603050405020304" pitchFamily="18" charset="0"/>
              </a:rPr>
              <a:t>Introduction</a:t>
            </a:r>
          </a:p>
          <a:p>
            <a:pPr marL="800100" lvl="1" indent="-432000">
              <a:lnSpc>
                <a:spcPts val="3000"/>
              </a:lnSpc>
              <a:buFont typeface="Wingdings" panose="05000000000000000000" pitchFamily="2" charset="2"/>
              <a:buChar char="l"/>
            </a:pPr>
            <a:r>
              <a:rPr lang="en-GB" altLang="zh-TW" sz="2400" dirty="0">
                <a:cs typeface="Times New Roman" panose="02020603050405020304" pitchFamily="18" charset="0"/>
              </a:rPr>
              <a:t>Background</a:t>
            </a:r>
          </a:p>
          <a:p>
            <a:pPr marL="800100" lvl="1" indent="-432000">
              <a:lnSpc>
                <a:spcPts val="3000"/>
              </a:lnSpc>
              <a:buFont typeface="Wingdings" panose="05000000000000000000" pitchFamily="2" charset="2"/>
              <a:buChar char="l"/>
            </a:pPr>
            <a:r>
              <a:rPr lang="en-GB" altLang="zh-TW" sz="2400" dirty="0">
                <a:cs typeface="Times New Roman" panose="02020603050405020304" pitchFamily="18" charset="0"/>
              </a:rPr>
              <a:t>Literature review</a:t>
            </a:r>
          </a:p>
          <a:p>
            <a:pPr marL="800100" lvl="1" indent="-432000">
              <a:lnSpc>
                <a:spcPts val="3000"/>
              </a:lnSpc>
              <a:buFont typeface="Wingdings" panose="05000000000000000000" pitchFamily="2" charset="2"/>
              <a:buChar char="l"/>
            </a:pPr>
            <a:r>
              <a:rPr lang="en-GB" altLang="zh-TW" sz="2400" dirty="0">
                <a:cs typeface="Times New Roman" panose="02020603050405020304" pitchFamily="18" charset="0"/>
              </a:rPr>
              <a:t>Motivation</a:t>
            </a:r>
          </a:p>
          <a:p>
            <a:pPr marL="800100" lvl="1" indent="-432000">
              <a:lnSpc>
                <a:spcPts val="3000"/>
              </a:lnSpc>
              <a:buFont typeface="Wingdings" panose="05000000000000000000" pitchFamily="2" charset="2"/>
              <a:buChar char="l"/>
            </a:pPr>
            <a:r>
              <a:rPr lang="en-GB" altLang="zh-TW" sz="2400" dirty="0">
                <a:cs typeface="Times New Roman" panose="02020603050405020304" pitchFamily="18" charset="0"/>
              </a:rPr>
              <a:t>Objective</a:t>
            </a:r>
          </a:p>
          <a:p>
            <a:pPr marL="800100" lvl="1" indent="-432000">
              <a:lnSpc>
                <a:spcPts val="3000"/>
              </a:lnSpc>
              <a:buFont typeface="Wingdings" panose="05000000000000000000" pitchFamily="2" charset="2"/>
              <a:buChar char="l"/>
            </a:pPr>
            <a:endParaRPr lang="en-GB" altLang="zh-TW" sz="3200" dirty="0">
              <a:cs typeface="Times New Roman" panose="02020603050405020304" pitchFamily="18" charset="0"/>
            </a:endParaRPr>
          </a:p>
          <a:p>
            <a:pPr marL="342900" indent="-432000">
              <a:lnSpc>
                <a:spcPts val="3000"/>
              </a:lnSpc>
              <a:buFont typeface="Wingdings" panose="05000000000000000000" pitchFamily="2" charset="2"/>
              <a:buChar char="l"/>
            </a:pPr>
            <a:r>
              <a:rPr lang="en-GB" altLang="zh-TW" sz="3200" b="1" dirty="0">
                <a:cs typeface="Times New Roman" panose="02020603050405020304" pitchFamily="18" charset="0"/>
              </a:rPr>
              <a:t>Methodology</a:t>
            </a:r>
          </a:p>
          <a:p>
            <a:pPr marL="800100" lvl="1" indent="-432000">
              <a:lnSpc>
                <a:spcPts val="3000"/>
              </a:lnSpc>
              <a:buFont typeface="Wingdings" panose="05000000000000000000" pitchFamily="2" charset="2"/>
              <a:buChar char="l"/>
            </a:pPr>
            <a:r>
              <a:rPr lang="en-GB" altLang="zh-TW" sz="2400" dirty="0">
                <a:cs typeface="Times New Roman" panose="02020603050405020304" pitchFamily="18" charset="0"/>
              </a:rPr>
              <a:t>Workflow</a:t>
            </a:r>
          </a:p>
          <a:p>
            <a:pPr marL="800100" lvl="1" indent="-432000">
              <a:lnSpc>
                <a:spcPts val="3000"/>
              </a:lnSpc>
              <a:buFont typeface="Wingdings" panose="05000000000000000000" pitchFamily="2" charset="2"/>
              <a:buChar char="l"/>
            </a:pPr>
            <a:r>
              <a:rPr lang="en-GB" altLang="zh-TW" sz="2400" dirty="0">
                <a:cs typeface="Times New Roman" panose="02020603050405020304" pitchFamily="18" charset="0"/>
              </a:rPr>
              <a:t>DNS data preparation</a:t>
            </a:r>
          </a:p>
          <a:p>
            <a:pPr marL="800100" lvl="1" indent="-432000">
              <a:lnSpc>
                <a:spcPts val="3000"/>
              </a:lnSpc>
              <a:buFont typeface="Wingdings" panose="05000000000000000000" pitchFamily="2" charset="2"/>
              <a:buChar char="l"/>
            </a:pPr>
            <a:r>
              <a:rPr lang="en-GB" altLang="zh-TW" sz="2400" dirty="0">
                <a:cs typeface="Times New Roman" panose="02020603050405020304" pitchFamily="18" charset="0"/>
              </a:rPr>
              <a:t>Low-Fidelity data preparation </a:t>
            </a:r>
          </a:p>
          <a:p>
            <a:pPr marL="800100" lvl="1" indent="-432000">
              <a:lnSpc>
                <a:spcPts val="3000"/>
              </a:lnSpc>
              <a:buFont typeface="Wingdings" panose="05000000000000000000" pitchFamily="2" charset="2"/>
              <a:buChar char="l"/>
            </a:pPr>
            <a:r>
              <a:rPr lang="en-GB" altLang="zh-TW" sz="2400" dirty="0">
                <a:cs typeface="Times New Roman" panose="02020603050405020304" pitchFamily="18" charset="0"/>
              </a:rPr>
              <a:t>Model structure and governing equation</a:t>
            </a:r>
          </a:p>
          <a:p>
            <a:pPr marL="800100" lvl="1" indent="-432000">
              <a:lnSpc>
                <a:spcPts val="3000"/>
              </a:lnSpc>
              <a:buFont typeface="Wingdings" panose="05000000000000000000" pitchFamily="2" charset="2"/>
              <a:buChar char="l"/>
            </a:pPr>
            <a:r>
              <a:rPr lang="en-GB" altLang="zh-TW" sz="2400" dirty="0">
                <a:cs typeface="Times New Roman" panose="02020603050405020304" pitchFamily="18" charset="0"/>
              </a:rPr>
              <a:t>Optimizing Sparse Measurements for PINNs</a:t>
            </a:r>
          </a:p>
          <a:p>
            <a:pPr marL="800100" lvl="1" indent="-432000">
              <a:lnSpc>
                <a:spcPts val="3000"/>
              </a:lnSpc>
              <a:buFont typeface="Wingdings" panose="05000000000000000000" pitchFamily="2" charset="2"/>
              <a:buChar char="l"/>
            </a:pPr>
            <a:r>
              <a:rPr lang="en-GB" altLang="zh-TW" sz="2400" dirty="0">
                <a:cs typeface="Times New Roman" panose="02020603050405020304" pitchFamily="18" charset="0"/>
              </a:rPr>
              <a:t>Fourier Feature Embedding</a:t>
            </a:r>
          </a:p>
          <a:p>
            <a:pPr marL="800100" lvl="1" indent="-432000">
              <a:lnSpc>
                <a:spcPts val="3000"/>
              </a:lnSpc>
              <a:buFont typeface="Wingdings" panose="05000000000000000000" pitchFamily="2" charset="2"/>
              <a:buChar char="l"/>
            </a:pPr>
            <a:r>
              <a:rPr lang="en-GB" altLang="zh-TW" sz="2400" dirty="0">
                <a:cs typeface="Times New Roman" panose="02020603050405020304" pitchFamily="18" charset="0"/>
              </a:rPr>
              <a:t>Variable Scaling PINNs</a:t>
            </a:r>
          </a:p>
          <a:p>
            <a:pPr marL="800100" lvl="1" indent="-432000">
              <a:lnSpc>
                <a:spcPts val="3000"/>
              </a:lnSpc>
              <a:buFont typeface="Wingdings" panose="05000000000000000000" pitchFamily="2" charset="2"/>
              <a:buChar char="l"/>
            </a:pPr>
            <a:r>
              <a:rPr lang="en-GB" altLang="zh-TW" sz="2400" dirty="0">
                <a:cs typeface="Times New Roman" panose="02020603050405020304" pitchFamily="18" charset="0"/>
              </a:rPr>
              <a:t>Method Validation: 2D Lid-Driven Cavity Flow (Re=5000)</a:t>
            </a:r>
          </a:p>
          <a:p>
            <a:pPr marL="800100" lvl="1" indent="-432000">
              <a:lnSpc>
                <a:spcPts val="3000"/>
              </a:lnSpc>
              <a:buFont typeface="Wingdings" panose="05000000000000000000" pitchFamily="2" charset="2"/>
              <a:buChar char="l"/>
            </a:pPr>
            <a:r>
              <a:rPr lang="en-GB" altLang="zh-TW" sz="2400" dirty="0">
                <a:cs typeface="Times New Roman" panose="02020603050405020304" pitchFamily="18" charset="0"/>
              </a:rPr>
              <a:t>Training strategy</a:t>
            </a:r>
            <a:endParaRPr lang="en-GB" altLang="zh-TW" sz="3200" b="1" dirty="0">
              <a:cs typeface="Times New Roman" panose="02020603050405020304" pitchFamily="18" charset="0"/>
            </a:endParaRPr>
          </a:p>
          <a:p>
            <a:pPr marL="342900" indent="-432000">
              <a:lnSpc>
                <a:spcPts val="3000"/>
              </a:lnSpc>
              <a:buFont typeface="Wingdings" panose="05000000000000000000" pitchFamily="2" charset="2"/>
              <a:buChar char="l"/>
            </a:pPr>
            <a:endParaRPr lang="en-GB" altLang="zh-TW" sz="3200" b="1" dirty="0">
              <a:cs typeface="Times New Roman" panose="02020603050405020304" pitchFamily="18" charset="0"/>
            </a:endParaRPr>
          </a:p>
          <a:p>
            <a:pPr marL="342900" indent="-432000">
              <a:lnSpc>
                <a:spcPts val="3000"/>
              </a:lnSpc>
              <a:buFont typeface="Wingdings" panose="05000000000000000000" pitchFamily="2" charset="2"/>
              <a:buChar char="l"/>
            </a:pPr>
            <a:r>
              <a:rPr lang="en-GB" altLang="zh-TW" sz="3200" b="1" dirty="0">
                <a:cs typeface="Times New Roman" panose="02020603050405020304" pitchFamily="18" charset="0"/>
              </a:rPr>
              <a:t>Initial Results</a:t>
            </a:r>
          </a:p>
          <a:p>
            <a:pPr marL="800100" lvl="1" indent="-432000">
              <a:lnSpc>
                <a:spcPts val="3000"/>
              </a:lnSpc>
              <a:buFont typeface="Wingdings" panose="05000000000000000000" pitchFamily="2" charset="2"/>
              <a:buChar char="l"/>
            </a:pPr>
            <a:r>
              <a:rPr lang="en-GB" altLang="zh-TW" sz="2400" dirty="0">
                <a:cs typeface="Times New Roman" panose="02020603050405020304" pitchFamily="18" charset="0"/>
              </a:rPr>
              <a:t>Method Validation: 2D Lid-Driven Cavity Flow </a:t>
            </a:r>
          </a:p>
          <a:p>
            <a:pPr marL="800100" lvl="1" indent="-432000">
              <a:lnSpc>
                <a:spcPts val="3000"/>
              </a:lnSpc>
              <a:buFont typeface="Wingdings" panose="05000000000000000000" pitchFamily="2" charset="2"/>
              <a:buChar char="l"/>
            </a:pPr>
            <a:r>
              <a:rPr lang="en-GB" altLang="zh-TW" sz="2400" dirty="0">
                <a:cs typeface="Times New Roman" panose="02020603050405020304" pitchFamily="18" charset="0"/>
              </a:rPr>
              <a:t>2D Kolmogorov flow</a:t>
            </a:r>
          </a:p>
          <a:p>
            <a:pPr marL="800100" lvl="1" indent="-432000">
              <a:lnSpc>
                <a:spcPts val="3000"/>
              </a:lnSpc>
              <a:buFont typeface="Wingdings" panose="05000000000000000000" pitchFamily="2" charset="2"/>
              <a:buChar char="l"/>
            </a:pPr>
            <a:r>
              <a:rPr lang="en-GB" altLang="zh-TW" sz="2400" dirty="0">
                <a:cs typeface="Times New Roman" panose="02020603050405020304" pitchFamily="18" charset="0"/>
              </a:rPr>
              <a:t>3D Channel flow</a:t>
            </a:r>
          </a:p>
          <a:p>
            <a:pPr marL="800100" lvl="1" indent="-432000">
              <a:lnSpc>
                <a:spcPts val="3000"/>
              </a:lnSpc>
              <a:buFont typeface="Wingdings" panose="05000000000000000000" pitchFamily="2" charset="2"/>
              <a:buChar char="l"/>
            </a:pPr>
            <a:endParaRPr lang="en-GB" altLang="zh-TW" sz="2400" dirty="0">
              <a:cs typeface="Times New Roman" panose="02020603050405020304" pitchFamily="18" charset="0"/>
            </a:endParaRPr>
          </a:p>
          <a:p>
            <a:pPr marL="342900" indent="-342900">
              <a:lnSpc>
                <a:spcPts val="3000"/>
              </a:lnSpc>
              <a:buFont typeface="Wingdings" pitchFamily="2" charset="2"/>
              <a:buChar char="l"/>
            </a:pPr>
            <a:r>
              <a:rPr lang="en-US" altLang="zh-TW" sz="3200" b="1" dirty="0">
                <a:cs typeface="Times New Roman" panose="02020603050405020304" pitchFamily="18" charset="0"/>
              </a:rPr>
              <a:t>Next Step</a:t>
            </a:r>
            <a:endParaRPr lang="zh-TW" altLang="en-US" sz="2800" b="1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1502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EFC5F-0241-4232-BA1E-67002F49B8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3262" y="2640079"/>
            <a:ext cx="9181707" cy="2387600"/>
          </a:xfrm>
        </p:spPr>
        <p:txBody>
          <a:bodyPr>
            <a:normAutofit/>
          </a:bodyPr>
          <a:lstStyle/>
          <a:p>
            <a:pPr algn="r"/>
            <a:r>
              <a:rPr lang="en-GB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zh-TW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AE66FCC-DE6D-4D16-A1C5-CA6481ADCE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19754" y="5107439"/>
            <a:ext cx="10275216" cy="473227"/>
          </a:xfrm>
        </p:spPr>
        <p:txBody>
          <a:bodyPr>
            <a:normAutofit lnSpcReduction="10000"/>
          </a:bodyPr>
          <a:lstStyle/>
          <a:p>
            <a:pPr algn="r"/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GB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ckground</a:t>
            </a:r>
            <a:r>
              <a:rPr lang="en-GB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Motivation / Objective / Literature review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7080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idx="4294967295"/>
          </p:nvPr>
        </p:nvSpPr>
        <p:spPr>
          <a:xfrm>
            <a:off x="0" y="414338"/>
            <a:ext cx="12192000" cy="58578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r>
              <a:rPr lang="zh-TW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Turbulence &amp; Data Limitations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7020AF-4500-4251-BACF-9F1B9D396C02}"/>
              </a:ext>
            </a:extLst>
          </p:cNvPr>
          <p:cNvSpPr/>
          <p:nvPr/>
        </p:nvSpPr>
        <p:spPr>
          <a:xfrm>
            <a:off x="463705" y="4287506"/>
            <a:ext cx="528111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b="1" dirty="0"/>
              <a:t>Multi-scale &amp; Chaotic:</a:t>
            </a:r>
            <a:r>
              <a:rPr lang="en-US" altLang="zh-TW" dirty="0"/>
              <a:t> High frequency, strong nonlinearity.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b="1" dirty="0"/>
              <a:t>Hard to find Solution:</a:t>
            </a:r>
            <a:r>
              <a:rPr lang="en-US" altLang="zh-TW" dirty="0"/>
              <a:t> Requires expensive DNS/LES simulations.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b="1" dirty="0"/>
              <a:t>Measurement Limits:</a:t>
            </a:r>
            <a:r>
              <a:rPr lang="en-US" altLang="zh-TW" dirty="0"/>
              <a:t> Restricted FOV &amp; high noise.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2E802358-576F-0F08-58C3-C5C65C823A33}"/>
              </a:ext>
            </a:extLst>
          </p:cNvPr>
          <p:cNvSpPr txBox="1"/>
          <p:nvPr/>
        </p:nvSpPr>
        <p:spPr>
          <a:xfrm>
            <a:off x="733737" y="1478697"/>
            <a:ext cx="25253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cs typeface="Times New Roman" panose="02020603050405020304" pitchFamily="18" charset="0"/>
              </a:rPr>
              <a:t>DNS in Turbulence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863D5C98-3B50-6C2C-7407-FE219D6C4092}"/>
              </a:ext>
            </a:extLst>
          </p:cNvPr>
          <p:cNvSpPr txBox="1"/>
          <p:nvPr/>
        </p:nvSpPr>
        <p:spPr>
          <a:xfrm>
            <a:off x="6532236" y="1478696"/>
            <a:ext cx="2780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cs typeface="Times New Roman" panose="02020603050405020304" pitchFamily="18" charset="0"/>
              </a:rPr>
              <a:t>Practical Constraints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C78B686E-567B-9205-2005-0CAEDB47CFAC}"/>
                  </a:ext>
                </a:extLst>
              </p:cNvPr>
              <p:cNvSpPr txBox="1"/>
              <p:nvPr/>
            </p:nvSpPr>
            <p:spPr>
              <a:xfrm>
                <a:off x="6532236" y="4287506"/>
                <a:ext cx="5097575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b="1" dirty="0"/>
                  <a:t>Extremely Sparse Sensing:</a:t>
                </a:r>
                <a:r>
                  <a:rPr lang="en-US" altLang="zh-TW" dirty="0"/>
                  <a:t> Practical limit of </a:t>
                </a:r>
                <a14:m>
                  <m:oMath xmlns:m="http://schemas.openxmlformats.org/officeDocument/2006/math">
                    <m:r>
                      <a:rPr lang="en-US" altLang="zh-TW" b="1" i="1" dirty="0"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altLang="zh-TW" b="1" i="1" dirty="0">
                        <a:latin typeface="Cambria Math" panose="02040503050406030204" pitchFamily="18" charset="0"/>
                      </a:rPr>
                      <m:t> ≤</m:t>
                    </m:r>
                    <m:r>
                      <a:rPr lang="en-US" altLang="zh-TW" b="1" i="1" dirty="0"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r>
                  <a:rPr lang="en-US" altLang="zh-TW" dirty="0"/>
                  <a:t> sensors.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b="1" dirty="0"/>
                  <a:t>Incomplete Data:</a:t>
                </a:r>
                <a:r>
                  <a:rPr lang="en-US" altLang="zh-TW" dirty="0"/>
                  <a:t> Missing full-field state (u, v, w, p).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b="1" dirty="0"/>
                  <a:t>The Goal:</a:t>
                </a:r>
                <a:r>
                  <a:rPr lang="en-US" altLang="zh-TW" dirty="0"/>
                  <a:t> From local points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zh-TW" dirty="0"/>
                  <a:t> </a:t>
                </a:r>
                <a:r>
                  <a:rPr lang="en-US" altLang="zh-TW" b="1" dirty="0"/>
                  <a:t>Inverse Reconstruction</a:t>
                </a:r>
                <a:r>
                  <a:rPr lang="en-US" altLang="zh-TW" dirty="0"/>
                  <a:t>.</a:t>
                </a:r>
                <a:endParaRPr lang="en-US" altLang="zh-TW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C78B686E-567B-9205-2005-0CAEDB47CF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2236" y="4287506"/>
                <a:ext cx="5097575" cy="1754326"/>
              </a:xfrm>
              <a:prstGeom prst="rect">
                <a:avLst/>
              </a:prstGeom>
              <a:blipFill>
                <a:blip r:embed="rId3"/>
                <a:stretch>
                  <a:fillRect l="-746" t="-1439" b="-50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圖片 16" descr="一張含有 螢幕擷取畫面 的圖片  AI 產生的內容可能不正確。">
            <a:extLst>
              <a:ext uri="{FF2B5EF4-FFF2-40B4-BE49-F238E27FC236}">
                <a16:creationId xmlns:a16="http://schemas.microsoft.com/office/drawing/2014/main" id="{AC46E515-FF18-A15A-5989-5B96DF2213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24" t="15548" r="16759" b="30018"/>
          <a:stretch>
            <a:fillRect/>
          </a:stretch>
        </p:blipFill>
        <p:spPr>
          <a:xfrm>
            <a:off x="463705" y="2292949"/>
            <a:ext cx="5578354" cy="1641970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BB43A2DD-FF17-77E1-619E-0346D2D21E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0714" y="2495597"/>
            <a:ext cx="4370991" cy="1328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614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4DEAD-FAED-4054-1AF8-1A3991743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F6CE6F-79B1-6168-1BB7-6CABCF18329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414338"/>
            <a:ext cx="12192000" cy="58578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r>
              <a:rPr lang="zh-TW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Physic-informed Neural Networks (PINNs)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3681587-1C00-11E0-E340-C88A344F668F}"/>
              </a:ext>
            </a:extLst>
          </p:cNvPr>
          <p:cNvSpPr txBox="1"/>
          <p:nvPr/>
        </p:nvSpPr>
        <p:spPr>
          <a:xfrm>
            <a:off x="217398" y="1843950"/>
            <a:ext cx="824698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/>
              <a:t>A differentiable framework that embeds governing PDEs into the loss function, enabling physics-regularized reconstruction from sparse measurements.</a:t>
            </a:r>
            <a:endParaRPr kumimoji="1" lang="zh-TW" alt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zh-TW" alt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b="1" dirty="0"/>
              <a:t>Key Advantage:</a:t>
            </a:r>
            <a:r>
              <a:rPr lang="en-US" altLang="zh-TW" sz="2000" dirty="0"/>
              <a:t> Excels in </a:t>
            </a:r>
            <a:r>
              <a:rPr lang="en-US" altLang="zh-TW" sz="2000" b="1" dirty="0"/>
              <a:t>INVERSE problems</a:t>
            </a:r>
            <a:r>
              <a:rPr lang="en-US" altLang="zh-TW" sz="2000" dirty="0"/>
              <a:t> (sparse-sensor data assimilation, parameter identification) where traditional CFD requires expensive adjoint/ensemble wrappers.</a:t>
            </a:r>
            <a:endParaRPr kumimoji="1" lang="zh-TW" alt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zh-TW" alt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/>
              <a:t>In FORWARD problems, classical solvers remain superior; but in INVERSE turbulence reconstruction, PINNs offer a fundamentally different trade-off.</a:t>
            </a:r>
            <a:endParaRPr kumimoji="1" lang="zh-TW" altLang="en-US" sz="2000" dirty="0"/>
          </a:p>
        </p:txBody>
      </p:sp>
      <p:pic>
        <p:nvPicPr>
          <p:cNvPr id="1026" name="Picture 2" descr="Physics-informed neural networks - Wikipedia">
            <a:extLst>
              <a:ext uri="{FF2B5EF4-FFF2-40B4-BE49-F238E27FC236}">
                <a16:creationId xmlns:a16="http://schemas.microsoft.com/office/drawing/2014/main" id="{10532B6B-AD18-F725-3AE5-49C00ED827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530"/>
          <a:stretch>
            <a:fillRect/>
          </a:stretch>
        </p:blipFill>
        <p:spPr bwMode="auto">
          <a:xfrm>
            <a:off x="8316099" y="1152267"/>
            <a:ext cx="3348680" cy="3167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AD5977B3-0192-5280-1A05-049D8770A9C9}"/>
              </a:ext>
            </a:extLst>
          </p:cNvPr>
          <p:cNvSpPr txBox="1"/>
          <p:nvPr/>
        </p:nvSpPr>
        <p:spPr>
          <a:xfrm>
            <a:off x="217398" y="1443840"/>
            <a:ext cx="25862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/>
            </a:pPr>
            <a:r>
              <a:rPr lang="en-US" altLang="zh-TW" sz="2000" b="1" dirty="0" err="1"/>
              <a:t>Raissi</a:t>
            </a:r>
            <a:r>
              <a:rPr lang="en-US" altLang="zh-TW" sz="2000" b="1" dirty="0"/>
              <a:t> et al. 2019</a:t>
            </a:r>
          </a:p>
        </p:txBody>
      </p:sp>
    </p:spTree>
    <p:extLst>
      <p:ext uri="{BB962C8B-B14F-4D97-AF65-F5344CB8AC3E}">
        <p14:creationId xmlns:p14="http://schemas.microsoft.com/office/powerpoint/2010/main" val="3862381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idx="4294967295"/>
          </p:nvPr>
        </p:nvSpPr>
        <p:spPr>
          <a:xfrm>
            <a:off x="0" y="419100"/>
            <a:ext cx="12192000" cy="5762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r>
              <a:rPr lang="zh-TW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JHTDB as High-Fidelity Reference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Rectangle 34">
            <a:extLst>
              <a:ext uri="{FF2B5EF4-FFF2-40B4-BE49-F238E27FC236}">
                <a16:creationId xmlns:a16="http://schemas.microsoft.com/office/drawing/2014/main" id="{5C9C4997-7779-4CC5-BEBE-7A639FDE7B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01325" y="1268413"/>
            <a:ext cx="1628775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24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</a:rPr>
              <a:t>Simulation </a:t>
            </a:r>
            <a:endParaRPr kumimoji="0" lang="zh-TW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1" name="文字方塊 80">
            <a:extLst>
              <a:ext uri="{FF2B5EF4-FFF2-40B4-BE49-F238E27FC236}">
                <a16:creationId xmlns:a16="http://schemas.microsoft.com/office/drawing/2014/main" id="{4F13A2FF-BB7B-64A1-F023-F8E76D70A90B}"/>
              </a:ext>
            </a:extLst>
          </p:cNvPr>
          <p:cNvSpPr txBox="1"/>
          <p:nvPr/>
        </p:nvSpPr>
        <p:spPr>
          <a:xfrm>
            <a:off x="232919" y="2198256"/>
            <a:ext cx="7708585" cy="37548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000" b="1" dirty="0"/>
              <a:t>World-Class DNS Archive</a:t>
            </a:r>
            <a:endParaRPr lang="en-US" altLang="zh-TW" dirty="0"/>
          </a:p>
          <a:p>
            <a:r>
              <a:rPr lang="en-US" altLang="zh-TW" dirty="0"/>
              <a:t>Provides access to high-fidelity Direct Numerical Simulation (DNS) datasets.</a:t>
            </a:r>
          </a:p>
          <a:p>
            <a:r>
              <a:rPr lang="en-US" altLang="zh-TW" b="1" dirty="0"/>
              <a:t>Serves as a HIGH-FIDELITY REFERENCE in this benchmark study.</a:t>
            </a:r>
          </a:p>
          <a:p>
            <a:r>
              <a:rPr lang="en-US" altLang="zh-TW" dirty="0"/>
              <a:t>Supports remote queries via Web Services (</a:t>
            </a:r>
            <a:r>
              <a:rPr lang="en-US" altLang="zh-TW" dirty="0" err="1"/>
              <a:t>pyJHTDB</a:t>
            </a:r>
            <a:r>
              <a:rPr lang="en-US" altLang="zh-TW" dirty="0"/>
              <a:t>).</a:t>
            </a:r>
          </a:p>
          <a:p>
            <a:r>
              <a:rPr lang="en-US" altLang="zh-TW" dirty="0"/>
              <a:t>Enables extraction of time-series data at arbitrary coordinates.</a:t>
            </a:r>
          </a:p>
          <a:p>
            <a:endParaRPr lang="en-US" altLang="zh-TW" b="1" dirty="0"/>
          </a:p>
          <a:p>
            <a:r>
              <a:rPr lang="en-US" altLang="zh-TW" b="1" dirty="0"/>
              <a:t>Role in This Work:</a:t>
            </a:r>
          </a:p>
          <a:p>
            <a:pPr marL="800100" lvl="1" indent="-342900">
              <a:buFont typeface="Arial"/>
              <a:buChar char="•"/>
            </a:pPr>
            <a:r>
              <a:rPr lang="en-US" altLang="zh-TW" dirty="0"/>
              <a:t>Quantitative evaluation: Posterior error metrics only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dirty="0"/>
              <a:t>Sensor data resource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000" b="1" dirty="0"/>
              <a:t>Massive Scale &amp; Variety</a:t>
            </a:r>
            <a:endParaRPr lang="en-US" altLang="zh-TW" dirty="0"/>
          </a:p>
          <a:p>
            <a:r>
              <a:rPr lang="en-US" altLang="zh-TW" dirty="0"/>
              <a:t>Data Size: Over 400 TB of space-time histories.</a:t>
            </a:r>
          </a:p>
          <a:p>
            <a:r>
              <a:rPr lang="en-US" altLang="zh-TW" dirty="0"/>
              <a:t>Flow Types: Includes Isotropic, Channel, MHD, and Transitional Boundary Layers.</a:t>
            </a:r>
          </a:p>
          <a:p>
            <a:r>
              <a:rPr lang="en-US" altLang="zh-TW" dirty="0"/>
              <a:t>Resolution: Resolves the smallest scales (Kolmogorov scales) of turbulence.</a:t>
            </a:r>
          </a:p>
        </p:txBody>
      </p:sp>
      <p:pic>
        <p:nvPicPr>
          <p:cNvPr id="82" name="圖片 81">
            <a:extLst>
              <a:ext uri="{FF2B5EF4-FFF2-40B4-BE49-F238E27FC236}">
                <a16:creationId xmlns:a16="http://schemas.microsoft.com/office/drawing/2014/main" id="{C3F39C0A-F043-44D8-2FCB-1876E910A5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3202" y="3573463"/>
            <a:ext cx="3505200" cy="889000"/>
          </a:xfrm>
          <a:prstGeom prst="rect">
            <a:avLst/>
          </a:prstGeom>
        </p:spPr>
      </p:pic>
      <p:pic>
        <p:nvPicPr>
          <p:cNvPr id="83" name="圖片 82">
            <a:extLst>
              <a:ext uri="{FF2B5EF4-FFF2-40B4-BE49-F238E27FC236}">
                <a16:creationId xmlns:a16="http://schemas.microsoft.com/office/drawing/2014/main" id="{F6B9F26F-E454-297A-A8CD-BC92DDCDB2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3202" y="4462463"/>
            <a:ext cx="3505200" cy="869904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90F6D5E1-4E71-A146-51C8-A0ED3CD7C88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6836"/>
          <a:stretch>
            <a:fillRect/>
          </a:stretch>
        </p:blipFill>
        <p:spPr>
          <a:xfrm>
            <a:off x="2209800" y="1033247"/>
            <a:ext cx="7772400" cy="112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472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411480"/>
            <a:ext cx="1218895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2060"/>
                </a:solidFill>
              </a:defRPr>
            </a:pPr>
            <a:r>
              <a:t>Literature Review: Three Research Lines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8196702"/>
              </p:ext>
            </p:extLst>
          </p:nvPr>
        </p:nvGraphicFramePr>
        <p:xfrm>
          <a:off x="365760" y="1188720"/>
          <a:ext cx="114300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972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Line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Target Flow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Key Approach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Example Studies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Main Challenge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400"/>
                        <a:t>Line 1</a:t>
                      </a:r>
                    </a:p>
                    <a:p>
                      <a:pPr algn="l">
                        <a:defRPr sz="1000"/>
                      </a:pPr>
                      <a:r>
                        <a:rPr sz="1400"/>
                        <a:t>Channel-Flow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400" dirty="0"/>
                        <a:t>Wall-bounded turbulence</a:t>
                      </a:r>
                    </a:p>
                    <a:p>
                      <a:pPr algn="l">
                        <a:defRPr sz="1000"/>
                      </a:pPr>
                      <a:r>
                        <a:rPr sz="1400" dirty="0"/>
                        <a:t>(Channel, TBL)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400"/>
                        <a:t>Sparse Eulerian/</a:t>
                      </a:r>
                    </a:p>
                    <a:p>
                      <a:pPr algn="l">
                        <a:defRPr sz="1000"/>
                      </a:pPr>
                      <a:r>
                        <a:rPr sz="1400"/>
                        <a:t>Lagrangian observations</a:t>
                      </a:r>
                    </a:p>
                    <a:p>
                      <a:pPr algn="l">
                        <a:defRPr sz="1000"/>
                      </a:pPr>
                      <a:r>
                        <a:rPr sz="1400"/>
                        <a:t>+ NS constraints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900"/>
                      </a:pPr>
                      <a:r>
                        <a:rPr sz="1400" dirty="0"/>
                        <a:t>Du et al.</a:t>
                      </a:r>
                      <a:r>
                        <a:rPr lang="en-US" altLang="zh-TW" sz="1400" dirty="0"/>
                        <a:t> 2022</a:t>
                      </a:r>
                      <a:r>
                        <a:rPr lang="zh-TW" altLang="en-US" sz="1400" dirty="0"/>
                        <a:t> </a:t>
                      </a:r>
                      <a:r>
                        <a:rPr lang="en-US" altLang="zh-TW" sz="1400" dirty="0"/>
                        <a:t>(</a:t>
                      </a:r>
                      <a:r>
                        <a:rPr lang="en-US" altLang="zh-TW" sz="1400" dirty="0" err="1"/>
                        <a:t>arXiv</a:t>
                      </a:r>
                      <a:r>
                        <a:rPr lang="en-US" altLang="zh-TW" sz="1400" dirty="0"/>
                        <a:t>)</a:t>
                      </a:r>
                      <a:endParaRPr sz="14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900"/>
                      </a:pPr>
                      <a:r>
                        <a:rPr sz="1400" dirty="0"/>
                        <a:t>Clark Di Leoni et al.</a:t>
                      </a:r>
                      <a:r>
                        <a:rPr lang="zh-TW" altLang="en-US" sz="1400" dirty="0"/>
                        <a:t> </a:t>
                      </a:r>
                      <a:r>
                        <a:rPr lang="en-US" altLang="zh-TW" sz="1400" dirty="0"/>
                        <a:t>2023</a:t>
                      </a:r>
                      <a:r>
                        <a:rPr lang="zh-TW" altLang="en-US" sz="1400" dirty="0"/>
                        <a:t> </a:t>
                      </a:r>
                      <a:r>
                        <a:rPr lang="en-US" altLang="zh-TW" sz="1400" dirty="0"/>
                        <a:t>(Exp. Fluids)</a:t>
                      </a:r>
                      <a:endParaRPr sz="1400" dirty="0"/>
                    </a:p>
                    <a:p>
                      <a:pPr algn="l">
                        <a:defRPr sz="900"/>
                      </a:pPr>
                      <a:r>
                        <a:rPr sz="1400" dirty="0"/>
                        <a:t>Shin &amp; Schröder</a:t>
                      </a:r>
                      <a:r>
                        <a:rPr lang="zh-TW" altLang="en-US" sz="1400" dirty="0"/>
                        <a:t> </a:t>
                      </a:r>
                      <a:r>
                        <a:rPr lang="en-US" altLang="zh-TW" sz="1400" dirty="0"/>
                        <a:t>2025</a:t>
                      </a:r>
                      <a:r>
                        <a:rPr lang="zh-TW" altLang="en-US" sz="1400" dirty="0"/>
                        <a:t> </a:t>
                      </a:r>
                      <a:r>
                        <a:rPr lang="en-US" altLang="zh-TW" sz="1400" dirty="0"/>
                        <a:t>(ISPIV)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zh-TW" altLang="en-US" sz="1400" dirty="0"/>
                        <a:t>❌ </a:t>
                      </a:r>
                      <a:r>
                        <a:rPr sz="1400" dirty="0"/>
                        <a:t>Extreme sparsity</a:t>
                      </a:r>
                      <a:r>
                        <a:rPr lang="zh-TW" altLang="en-US" sz="1400" dirty="0"/>
                        <a:t> </a:t>
                      </a:r>
                      <a:r>
                        <a:rPr sz="1400" dirty="0"/>
                        <a:t>(K&lt;&lt;N)</a:t>
                      </a:r>
                    </a:p>
                    <a:p>
                      <a:pPr algn="l">
                        <a:defRPr sz="1000"/>
                      </a:pPr>
                      <a:r>
                        <a:rPr sz="1400" dirty="0"/>
                        <a:t>in 3D high-Re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400"/>
                        <a:t>Line 2</a:t>
                      </a:r>
                    </a:p>
                    <a:p>
                      <a:pPr algn="l">
                        <a:defRPr sz="1000"/>
                      </a:pPr>
                      <a:r>
                        <a:rPr sz="1400"/>
                        <a:t>RANS-</a:t>
                      </a:r>
                    </a:p>
                    <a:p>
                      <a:pPr algn="l">
                        <a:defRPr sz="1000"/>
                      </a:pPr>
                      <a:r>
                        <a:rPr sz="1400"/>
                        <a:t>Augmented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400"/>
                        <a:t>Complex geometries</a:t>
                      </a:r>
                    </a:p>
                    <a:p>
                      <a:pPr algn="l">
                        <a:defRPr sz="1000"/>
                      </a:pPr>
                      <a:r>
                        <a:rPr sz="1400"/>
                        <a:t>(Hill, Step)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400"/>
                        <a:t>RANS closure models</a:t>
                      </a:r>
                    </a:p>
                    <a:p>
                      <a:pPr algn="l">
                        <a:defRPr sz="1000"/>
                      </a:pPr>
                      <a:r>
                        <a:rPr sz="1400"/>
                        <a:t>(SA, k-ε)</a:t>
                      </a:r>
                    </a:p>
                    <a:p>
                      <a:pPr algn="l">
                        <a:defRPr sz="1000"/>
                      </a:pPr>
                      <a:r>
                        <a:rPr sz="1400"/>
                        <a:t>as soft prior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1400" dirty="0"/>
                        <a:t>Patel et al.</a:t>
                      </a:r>
                      <a:r>
                        <a:rPr lang="zh-TW" altLang="en-US" sz="1400" dirty="0"/>
                        <a:t> </a:t>
                      </a:r>
                      <a:r>
                        <a:rPr lang="en-US" altLang="zh-TW" sz="1400" dirty="0"/>
                        <a:t>2024</a:t>
                      </a:r>
                      <a:r>
                        <a:rPr lang="zh-TW" altLang="en-US" sz="1400" dirty="0"/>
                        <a:t> </a:t>
                      </a:r>
                      <a:r>
                        <a:rPr lang="en-US" altLang="zh-TW" sz="1400" dirty="0"/>
                        <a:t>(</a:t>
                      </a:r>
                      <a:r>
                        <a:rPr lang="en-US" altLang="zh-TW" sz="1400" dirty="0" err="1"/>
                        <a:t>arXiv</a:t>
                      </a:r>
                      <a:r>
                        <a:rPr lang="en-US" altLang="zh-TW" sz="1400" dirty="0"/>
                        <a:t>)</a:t>
                      </a:r>
                      <a:endParaRPr sz="1400" dirty="0"/>
                    </a:p>
                    <a:p>
                      <a:pPr algn="l">
                        <a:defRPr sz="900"/>
                      </a:pPr>
                      <a:r>
                        <a:rPr sz="1400" dirty="0"/>
                        <a:t>von Saldern et al.</a:t>
                      </a:r>
                      <a:r>
                        <a:rPr lang="zh-TW" altLang="en-US" sz="1400" dirty="0"/>
                        <a:t> </a:t>
                      </a:r>
                      <a:r>
                        <a:rPr lang="en-US" altLang="zh-TW" sz="1400" dirty="0"/>
                        <a:t>2024</a:t>
                      </a:r>
                      <a:r>
                        <a:rPr lang="zh-TW" altLang="en-US" sz="1400" dirty="0"/>
                        <a:t> </a:t>
                      </a:r>
                      <a:r>
                        <a:rPr lang="en-US" altLang="zh-TW" sz="1400" dirty="0"/>
                        <a:t>(</a:t>
                      </a:r>
                      <a:r>
                        <a:rPr lang="en-US" altLang="zh-TW" sz="1400" dirty="0" err="1"/>
                        <a:t>arXiv</a:t>
                      </a:r>
                      <a:r>
                        <a:rPr lang="en-US" altLang="zh-TW" sz="1400" dirty="0"/>
                        <a:t>)</a:t>
                      </a:r>
                      <a:endParaRPr sz="1400" dirty="0"/>
                    </a:p>
                    <a:p>
                      <a:pPr algn="l">
                        <a:defRPr sz="900"/>
                      </a:pPr>
                      <a:r>
                        <a:rPr sz="1400" dirty="0"/>
                        <a:t>Pioch et al.</a:t>
                      </a:r>
                      <a:r>
                        <a:rPr lang="zh-TW" altLang="en-US" sz="1400" dirty="0"/>
                        <a:t> </a:t>
                      </a:r>
                      <a:r>
                        <a:rPr lang="en-US" altLang="zh-TW" sz="1400" dirty="0"/>
                        <a:t>2023</a:t>
                      </a:r>
                      <a:r>
                        <a:rPr lang="zh-TW" altLang="en-US" sz="1400" dirty="0"/>
                        <a:t> </a:t>
                      </a:r>
                      <a:r>
                        <a:rPr lang="en-US" altLang="zh-TW" sz="1400" dirty="0"/>
                        <a:t>(Fluids)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zh-TW" altLang="en-US" sz="1400" dirty="0"/>
                        <a:t>⚖️ </a:t>
                      </a:r>
                      <a:r>
                        <a:rPr sz="1400" dirty="0"/>
                        <a:t>Prior bias vs.</a:t>
                      </a:r>
                      <a:r>
                        <a:rPr lang="zh-TW" altLang="en-US" sz="1400" dirty="0"/>
                        <a:t> </a:t>
                      </a:r>
                      <a:r>
                        <a:rPr sz="1400" dirty="0"/>
                        <a:t>data fidelity</a:t>
                      </a:r>
                      <a:r>
                        <a:rPr lang="zh-TW" altLang="en-US" sz="1400" dirty="0"/>
                        <a:t> </a:t>
                      </a:r>
                      <a:r>
                        <a:rPr sz="1400" dirty="0"/>
                        <a:t>trade-off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400"/>
                        <a:t>Line 3</a:t>
                      </a:r>
                    </a:p>
                    <a:p>
                      <a:pPr algn="l">
                        <a:defRPr sz="1000"/>
                      </a:pPr>
                      <a:r>
                        <a:rPr sz="1400"/>
                        <a:t>Generic</a:t>
                      </a:r>
                    </a:p>
                    <a:p>
                      <a:pPr algn="l">
                        <a:defRPr sz="1000"/>
                      </a:pPr>
                      <a:r>
                        <a:rPr sz="1400"/>
                        <a:t>Sparse-Sensor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400" dirty="0"/>
                        <a:t>Beyond channel</a:t>
                      </a:r>
                    </a:p>
                    <a:p>
                      <a:pPr algn="l">
                        <a:defRPr sz="1000"/>
                      </a:pPr>
                      <a:r>
                        <a:rPr sz="1400" dirty="0"/>
                        <a:t>(Cylinder, generic)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400"/>
                        <a:t>PDE-constrained</a:t>
                      </a:r>
                    </a:p>
                    <a:p>
                      <a:pPr algn="l">
                        <a:defRPr sz="1000"/>
                      </a:pPr>
                      <a:r>
                        <a:rPr sz="1400"/>
                        <a:t>inverse PINN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1400" dirty="0"/>
                        <a:t>Hosseini &amp; Shiri</a:t>
                      </a:r>
                      <a:r>
                        <a:rPr lang="zh-TW" altLang="en-US" sz="1400" dirty="0"/>
                        <a:t> </a:t>
                      </a:r>
                      <a:r>
                        <a:rPr lang="en-US" altLang="zh-TW" sz="1400" dirty="0"/>
                        <a:t>2024</a:t>
                      </a:r>
                      <a:r>
                        <a:rPr lang="zh-TW" altLang="en-US" sz="1400" dirty="0"/>
                        <a:t> </a:t>
                      </a:r>
                      <a:r>
                        <a:rPr lang="en-US" altLang="zh-TW" sz="1400" dirty="0"/>
                        <a:t>(</a:t>
                      </a:r>
                      <a:r>
                        <a:rPr lang="en-US" altLang="zh-TW" sz="1400" dirty="0" err="1"/>
                        <a:t>PoF</a:t>
                      </a:r>
                      <a:r>
                        <a:rPr lang="en-US" altLang="zh-TW" sz="1400" dirty="0"/>
                        <a:t>)</a:t>
                      </a:r>
                      <a:endParaRPr sz="1400" dirty="0"/>
                    </a:p>
                    <a:p>
                      <a:pPr algn="l">
                        <a:defRPr sz="1000"/>
                      </a:pPr>
                      <a:r>
                        <a:rPr sz="1400" dirty="0"/>
                        <a:t>Chaurasia &amp;</a:t>
                      </a:r>
                      <a:r>
                        <a:rPr lang="zh-TW" altLang="en-US" sz="1400" dirty="0"/>
                        <a:t> </a:t>
                      </a:r>
                      <a:r>
                        <a:rPr sz="1400" dirty="0"/>
                        <a:t>Chakraborty</a:t>
                      </a:r>
                      <a:r>
                        <a:rPr lang="en-US" sz="1400" dirty="0"/>
                        <a:t> 2024 (</a:t>
                      </a:r>
                      <a:r>
                        <a:rPr lang="en-US" sz="1400" dirty="0" err="1"/>
                        <a:t>PoF</a:t>
                      </a:r>
                      <a:r>
                        <a:rPr lang="en-US" sz="1400" dirty="0"/>
                        <a:t>)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lang="zh-TW" altLang="en-US" sz="1400" dirty="0"/>
                        <a:t>❓</a:t>
                      </a:r>
                      <a:r>
                        <a:rPr sz="1400" dirty="0"/>
                        <a:t>Sensor placement</a:t>
                      </a:r>
                    </a:p>
                    <a:p>
                      <a:pPr algn="l">
                        <a:defRPr sz="1000"/>
                      </a:pPr>
                      <a:r>
                        <a:rPr sz="1400" dirty="0"/>
                        <a:t>strategy for</a:t>
                      </a:r>
                      <a:r>
                        <a:rPr lang="zh-TW" altLang="en-US" sz="1400" dirty="0"/>
                        <a:t> </a:t>
                      </a:r>
                      <a:r>
                        <a:rPr sz="1400" dirty="0"/>
                        <a:t>K&lt;&lt;N regime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653490" y="5769864"/>
            <a:ext cx="885454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C00000"/>
                </a:solidFill>
              </a:defRPr>
            </a:pPr>
            <a:r>
              <a:rPr sz="1600" b="1" dirty="0"/>
              <a:t>This thesis: Combines Line 1 (channel flow) + Line 2 (RANS prior) under Line 3 (extreme sparsity K≤100)</a:t>
            </a:r>
          </a:p>
        </p:txBody>
      </p:sp>
    </p:spTree>
    <p:extLst>
      <p:ext uri="{BB962C8B-B14F-4D97-AF65-F5344CB8AC3E}">
        <p14:creationId xmlns:p14="http://schemas.microsoft.com/office/powerpoint/2010/main" val="18668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94BE1-3700-D404-7501-409FADCD5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411480"/>
            <a:ext cx="1218895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2060"/>
                </a:solidFill>
              </a:defRPr>
            </a:pPr>
            <a:r>
              <a:rPr dirty="0"/>
              <a:t>Representative Studies: Key Features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2457163"/>
              </p:ext>
            </p:extLst>
          </p:nvPr>
        </p:nvGraphicFramePr>
        <p:xfrm>
          <a:off x="288036" y="1137037"/>
          <a:ext cx="116128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37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6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0579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Reference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Flow Type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Observation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Constraint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Sensor Strategy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Key Limitation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900"/>
                      </a:pPr>
                      <a:r>
                        <a:rPr sz="1400" dirty="0"/>
                        <a:t>Du et al.</a:t>
                      </a:r>
                      <a:r>
                        <a:rPr lang="zh-TW" altLang="en-US" sz="1400" dirty="0"/>
                        <a:t> </a:t>
                      </a:r>
                      <a:r>
                        <a:rPr lang="en-US" altLang="zh-TW" sz="1400" dirty="0"/>
                        <a:t>2022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900"/>
                      </a:pPr>
                      <a:r>
                        <a:rPr lang="en-US" altLang="zh-TW" sz="1400" dirty="0"/>
                        <a:t>(</a:t>
                      </a:r>
                      <a:r>
                        <a:rPr lang="en-US" altLang="zh-TW" sz="1400" dirty="0" err="1"/>
                        <a:t>arXiv</a:t>
                      </a:r>
                      <a:r>
                        <a:rPr lang="en-US" altLang="zh-TW" sz="14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1400"/>
                        <a:t>Minimal channel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1400"/>
                        <a:t>Sparse u</a:t>
                      </a:r>
                    </a:p>
                    <a:p>
                      <a:pPr algn="l">
                        <a:defRPr sz="900"/>
                      </a:pPr>
                      <a:r>
                        <a:rPr sz="1400"/>
                        <a:t>(mask)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1400"/>
                        <a:t>NS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1400"/>
                        <a:t>Given mask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1400"/>
                        <a:t>Beyond window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900"/>
                      </a:pPr>
                      <a:r>
                        <a:rPr sz="1400" dirty="0"/>
                        <a:t>Clark Di Leoni</a:t>
                      </a:r>
                      <a:r>
                        <a:rPr lang="zh-TW" altLang="en-US" sz="1400" dirty="0"/>
                        <a:t> </a:t>
                      </a:r>
                      <a:r>
                        <a:rPr lang="en-US" altLang="zh-TW" sz="1400" dirty="0"/>
                        <a:t>2023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900"/>
                      </a:pPr>
                      <a:r>
                        <a:rPr lang="en-US" altLang="zh-TW" sz="1400" dirty="0"/>
                        <a:t>(Exp. Fluids)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1400"/>
                        <a:t>Turbulent 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1400" dirty="0" err="1"/>
                        <a:t>Lagrangian</a:t>
                      </a:r>
                      <a:endParaRPr sz="1400" dirty="0"/>
                    </a:p>
                    <a:p>
                      <a:pPr algn="l">
                        <a:defRPr sz="900"/>
                      </a:pPr>
                      <a:r>
                        <a:rPr sz="1400" dirty="0"/>
                        <a:t>tracks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1400"/>
                        <a:t>NS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1400"/>
                        <a:t>Given tracks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1400"/>
                        <a:t>Track density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1400" dirty="0"/>
                        <a:t>Shin &amp; Schröder</a:t>
                      </a:r>
                      <a:r>
                        <a:rPr lang="en-US" sz="1400" dirty="0"/>
                        <a:t> 2025</a:t>
                      </a:r>
                    </a:p>
                    <a:p>
                      <a:pPr algn="l">
                        <a:defRPr sz="900"/>
                      </a:pPr>
                      <a:r>
                        <a:rPr lang="en-US" altLang="zh-TW" sz="1400" dirty="0"/>
                        <a:t>(ISPIV)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1400"/>
                        <a:t>Channel/TBL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1400"/>
                        <a:t>LPT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1400"/>
                        <a:t>NS-reg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1400"/>
                        <a:t>Given tracks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1400"/>
                        <a:t>Noise sensitivity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1400" dirty="0"/>
                        <a:t>Patel et al.</a:t>
                      </a:r>
                      <a:r>
                        <a:rPr lang="zh-TW" altLang="en-US" sz="1400" dirty="0"/>
                        <a:t> </a:t>
                      </a:r>
                      <a:r>
                        <a:rPr lang="en-US" altLang="zh-TW" sz="1400" dirty="0"/>
                        <a:t>2024</a:t>
                      </a:r>
                    </a:p>
                    <a:p>
                      <a:pPr algn="l">
                        <a:defRPr sz="900"/>
                      </a:pPr>
                      <a:r>
                        <a:rPr lang="en-US" altLang="zh-TW" sz="1400" dirty="0"/>
                        <a:t>(</a:t>
                      </a:r>
                      <a:r>
                        <a:rPr lang="en-US" altLang="zh-TW" sz="1400" dirty="0" err="1"/>
                        <a:t>arXiv</a:t>
                      </a:r>
                      <a:r>
                        <a:rPr lang="en-US" altLang="zh-TW" sz="1400" dirty="0"/>
                        <a:t>)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1400"/>
                        <a:t>Periodic hill</a:t>
                      </a:r>
                    </a:p>
                    <a:p>
                      <a:pPr algn="l">
                        <a:defRPr sz="900"/>
                      </a:pPr>
                      <a:r>
                        <a:rPr sz="1400"/>
                        <a:t>Re=10,595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1400" dirty="0"/>
                        <a:t>Sparse </a:t>
                      </a:r>
                      <a:r>
                        <a:rPr sz="1400" dirty="0" err="1"/>
                        <a:t>u_mean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1400"/>
                        <a:t>RANS+SA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1400"/>
                        <a:t>Given sites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1400"/>
                        <a:t>Mean-flow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1400" dirty="0"/>
                        <a:t>von Saldern</a:t>
                      </a:r>
                      <a:r>
                        <a:rPr lang="zh-TW" altLang="en-US" sz="1400" dirty="0"/>
                        <a:t> </a:t>
                      </a:r>
                      <a:r>
                        <a:rPr lang="en-US" altLang="zh-TW" sz="1400" dirty="0"/>
                        <a:t>et al. 2022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900"/>
                      </a:pPr>
                      <a:r>
                        <a:rPr lang="en-US" altLang="zh-TW" sz="1400" dirty="0"/>
                        <a:t>(</a:t>
                      </a:r>
                      <a:r>
                        <a:rPr lang="en-US" altLang="zh-TW" sz="1400" dirty="0" err="1"/>
                        <a:t>PoF</a:t>
                      </a:r>
                      <a:r>
                        <a:rPr lang="en-US" altLang="zh-TW" sz="14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1400"/>
                        <a:t>Mean-flow 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1400"/>
                        <a:t>Sparse PIV/LES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1400"/>
                        <a:t>Mean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1400"/>
                        <a:t>Given coverage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1400"/>
                        <a:t>Hidden vars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1400" dirty="0"/>
                        <a:t>Pioch et al.</a:t>
                      </a:r>
                      <a:r>
                        <a:rPr lang="en-US" sz="1400" dirty="0"/>
                        <a:t> 2023</a:t>
                      </a:r>
                    </a:p>
                    <a:p>
                      <a:pPr algn="l">
                        <a:defRPr sz="900"/>
                      </a:pPr>
                      <a:r>
                        <a:rPr lang="en-US" altLang="zh-TW" sz="1400" dirty="0"/>
                        <a:t>(Fluids)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1400"/>
                        <a:t>Backward step</a:t>
                      </a:r>
                    </a:p>
                    <a:p>
                      <a:pPr algn="l">
                        <a:defRPr sz="900"/>
                      </a:pPr>
                      <a:r>
                        <a:rPr sz="1400"/>
                        <a:t>Re=5,100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1400"/>
                        <a:t>Sparse profiles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1400"/>
                        <a:t>RANS-based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1400"/>
                        <a:t>Given labels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1400"/>
                        <a:t>Closure bias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1400" dirty="0"/>
                        <a:t>Hosseini &amp; Shiri</a:t>
                      </a:r>
                      <a:r>
                        <a:rPr lang="en-US" sz="1400" dirty="0"/>
                        <a:t> 2024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900"/>
                      </a:pPr>
                      <a:r>
                        <a:rPr lang="en-US" altLang="zh-TW" sz="1400" dirty="0"/>
                        <a:t>(</a:t>
                      </a:r>
                      <a:r>
                        <a:rPr lang="en-US" altLang="zh-TW" sz="1400" dirty="0" err="1"/>
                        <a:t>PoF</a:t>
                      </a:r>
                      <a:r>
                        <a:rPr lang="en-US" altLang="zh-TW" sz="14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1400" dirty="0"/>
                        <a:t>Cylinder wake</a:t>
                      </a:r>
                    </a:p>
                    <a:p>
                      <a:pPr algn="l">
                        <a:defRPr sz="900"/>
                      </a:pPr>
                      <a:r>
                        <a:rPr sz="1400" dirty="0"/>
                        <a:t>Re=100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1400"/>
                        <a:t>Sparse Eulerian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1400"/>
                        <a:t>PDE-inv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1400" dirty="0"/>
                        <a:t>As given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1400" dirty="0"/>
                        <a:t>Low Re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2C551BBD-7C85-05CF-31B0-CC7EB97CC8C8}"/>
              </a:ext>
            </a:extLst>
          </p:cNvPr>
          <p:cNvSpPr/>
          <p:nvPr/>
        </p:nvSpPr>
        <p:spPr>
          <a:xfrm>
            <a:off x="9583838" y="996696"/>
            <a:ext cx="2442258" cy="510316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13249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BB2F5-4833-A76D-B2C5-E60A9B582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411480"/>
            <a:ext cx="1218895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2060"/>
                </a:solidFill>
              </a:defRPr>
            </a:pPr>
            <a:r>
              <a:t>How Studies Report Observation Budgets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2835816"/>
                  </p:ext>
                </p:extLst>
              </p:nvPr>
            </p:nvGraphicFramePr>
            <p:xfrm>
              <a:off x="365760" y="1143000"/>
              <a:ext cx="11430000" cy="4572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116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01168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83464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571500">
                    <a:tc>
                      <a:txBody>
                        <a:bodyPr/>
                        <a:lstStyle/>
                        <a:p>
                          <a:pPr algn="ctr">
                            <a:defRPr sz="1100" b="1">
                              <a:solidFill>
                                <a:srgbClr val="FFFFFF"/>
                              </a:solidFill>
                            </a:defRPr>
                          </a:pPr>
                          <a:r>
                            <a:rPr sz="2000"/>
                            <a:t>Reference</a:t>
                          </a:r>
                        </a:p>
                      </a:txBody>
                      <a:tcPr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100" b="1">
                              <a:solidFill>
                                <a:srgbClr val="FFFFFF"/>
                              </a:solidFill>
                            </a:defRPr>
                          </a:pPr>
                          <a:r>
                            <a:rPr sz="2000"/>
                            <a:t>Flow</a:t>
                          </a:r>
                        </a:p>
                      </a:txBody>
                      <a:tcPr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100" b="1">
                              <a:solidFill>
                                <a:srgbClr val="FFFFFF"/>
                              </a:solidFill>
                            </a:defRPr>
                          </a:pPr>
                          <a:r>
                            <a:rPr sz="2000"/>
                            <a:t>Modality</a:t>
                          </a:r>
                        </a:p>
                      </a:txBody>
                      <a:tcPr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100" b="1">
                              <a:solidFill>
                                <a:srgbClr val="FFFFFF"/>
                              </a:solidFill>
                            </a:defRPr>
                          </a:pPr>
                          <a:r>
                            <a:rPr sz="2000"/>
                            <a:t>Budget Reporting</a:t>
                          </a:r>
                        </a:p>
                      </a:txBody>
                      <a:tcPr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100" b="1">
                              <a:solidFill>
                                <a:srgbClr val="FFFFFF"/>
                              </a:solidFill>
                            </a:defRPr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000" i="1" dirty="0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m:rPr>
                                    <m:lit/>
                                  </m:rP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TW" sz="2000" i="1" dirty="0" err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000" i="1" dirty="0" err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altLang="zh-TW" sz="2000" i="1" dirty="0" err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TW" sz="2000" i="1" dirty="0" err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000" i="1" dirty="0" err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TW" sz="2000" i="1" dirty="0" err="1">
                                        <a:latin typeface="Cambria Math" panose="02040503050406030204" pitchFamily="18" charset="0"/>
                                      </a:rPr>
                                      <m:t>𝑜𝑏𝑠</m:t>
                                    </m:r>
                                  </m:sub>
                                </m:sSub>
                              </m:oMath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100" b="1" kern="1200" smtClean="0">
                                    <a:solidFill>
                                      <a:schemeClr val="lt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100" b="1" kern="1200" smtClean="0">
                                    <a:solidFill>
                                      <a:schemeClr val="lt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sensor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100" b="1" kern="1200" smtClean="0">
                                    <a:solidFill>
                                      <a:schemeClr val="lt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100" b="1" kern="1200" smtClean="0">
                                    <a:solidFill>
                                      <a:schemeClr val="lt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count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100" b="1" kern="1200" smtClean="0">
                                    <a:solidFill>
                                      <a:schemeClr val="lt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100" b="1" kern="1200" smtClean="0">
                                    <a:solidFill>
                                      <a:schemeClr val="lt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temporal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100" b="1" kern="1200" smtClean="0">
                                    <a:solidFill>
                                      <a:schemeClr val="lt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100" b="1" kern="1200" smtClean="0">
                                    <a:solidFill>
                                      <a:schemeClr val="lt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samples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100" b="1" kern="1200" smtClean="0">
                                    <a:solidFill>
                                      <a:schemeClr val="lt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100" b="1" kern="1200" smtClean="0">
                                    <a:solidFill>
                                      <a:schemeClr val="lt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modality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1100" b="1" kern="1200" smtClean="0">
                                    <a:solidFill>
                                      <a:schemeClr val="lt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sz="2000" dirty="0"/>
                        </a:p>
                      </a:txBody>
                      <a:tcPr>
                        <a:solidFill>
                          <a:srgbClr val="0070C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7150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 sz="900"/>
                          </a:pPr>
                          <a:r>
                            <a:rPr sz="1400" dirty="0"/>
                            <a:t>Du et al.</a:t>
                          </a:r>
                          <a:r>
                            <a:rPr lang="zh-TW" altLang="en-US" sz="1400" dirty="0"/>
                            <a:t> </a:t>
                          </a:r>
                          <a:r>
                            <a:rPr lang="en-US" altLang="zh-TW" sz="1400" dirty="0"/>
                            <a:t>2022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 sz="900"/>
                          </a:pPr>
                          <a:r>
                            <a:rPr lang="en-US" altLang="zh-TW" sz="1400" dirty="0"/>
                            <a:t>(</a:t>
                          </a:r>
                          <a:r>
                            <a:rPr lang="en-US" altLang="zh-TW" sz="1400" dirty="0" err="1"/>
                            <a:t>arXiv</a:t>
                          </a:r>
                          <a:r>
                            <a:rPr lang="en-US" altLang="zh-TW" sz="1400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defRPr sz="900"/>
                          </a:pPr>
                          <a:r>
                            <a:rPr sz="1400"/>
                            <a:t>Minimal channel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defRPr sz="900"/>
                          </a:pPr>
                          <a:r>
                            <a:rPr sz="1400"/>
                            <a:t>Eulerian u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defRPr sz="900"/>
                          </a:pPr>
                          <a:r>
                            <a:rPr sz="1400"/>
                            <a:t>Observation mask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defRPr sz="900"/>
                          </a:pPr>
                          <a:r>
                            <a:rPr sz="1400"/>
                            <a:t>Implicit (via mask)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7150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 sz="900"/>
                          </a:pPr>
                          <a:r>
                            <a:rPr sz="1400" dirty="0"/>
                            <a:t>Clark Di Leoni</a:t>
                          </a:r>
                          <a:r>
                            <a:rPr lang="zh-TW" altLang="en-US" sz="1400" dirty="0"/>
                            <a:t> </a:t>
                          </a:r>
                          <a:r>
                            <a:rPr lang="en-US" altLang="zh-TW" sz="1400" dirty="0"/>
                            <a:t>2023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 sz="900"/>
                          </a:pPr>
                          <a:r>
                            <a:rPr lang="en-US" altLang="zh-TW" sz="1400" dirty="0"/>
                            <a:t>(Exp. Fluids)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defRPr sz="900"/>
                          </a:pPr>
                          <a:r>
                            <a:rPr sz="1400"/>
                            <a:t>Turbulent field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defRPr sz="900"/>
                          </a:pPr>
                          <a:r>
                            <a:rPr sz="1400" dirty="0" err="1"/>
                            <a:t>Lagrangian</a:t>
                          </a:r>
                          <a:endParaRPr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defRPr sz="900"/>
                          </a:pPr>
                          <a:r>
                            <a:rPr sz="1400" dirty="0"/>
                            <a:t>Track density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TW" sz="1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1400" i="1" dirty="0" smtClean="0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altLang="zh-TW" sz="1400" i="1" dirty="0" err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oMath>
                          </a14:m>
                          <a:endParaRPr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defRPr sz="900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TW" sz="1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1400" i="1" dirty="0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zh-TW" sz="1400" i="1" dirty="0" err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oMath>
                          </a14:m>
                          <a:r>
                            <a:rPr sz="1400" dirty="0"/>
                            <a:t>, frames, noise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71500">
                    <a:tc>
                      <a:txBody>
                        <a:bodyPr/>
                        <a:lstStyle/>
                        <a:p>
                          <a:pPr algn="l">
                            <a:defRPr sz="900"/>
                          </a:pPr>
                          <a:r>
                            <a:rPr sz="1400" dirty="0"/>
                            <a:t>Shin &amp; Schröder</a:t>
                          </a:r>
                          <a:r>
                            <a:rPr lang="en-US" sz="1400" dirty="0"/>
                            <a:t> 2025</a:t>
                          </a:r>
                        </a:p>
                        <a:p>
                          <a:pPr algn="l">
                            <a:defRPr sz="900"/>
                          </a:pPr>
                          <a:r>
                            <a:rPr lang="en-US" altLang="zh-TW" sz="1400" dirty="0"/>
                            <a:t>(ISPIV)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defRPr sz="900"/>
                          </a:pPr>
                          <a:r>
                            <a:rPr sz="1400" dirty="0"/>
                            <a:t>Channel/TBL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defRPr sz="900"/>
                          </a:pPr>
                          <a:r>
                            <a:rPr sz="1400" dirty="0"/>
                            <a:t>LPT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defRPr sz="900"/>
                          </a:pPr>
                          <a:r>
                            <a:rPr sz="1400"/>
                            <a:t>~54K particles/frame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defRPr sz="900"/>
                          </a:pPr>
                          <a:r>
                            <a:rPr sz="1400" dirty="0"/>
                            <a:t>Density sweep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71500">
                    <a:tc>
                      <a:txBody>
                        <a:bodyPr/>
                        <a:lstStyle/>
                        <a:p>
                          <a:pPr algn="l">
                            <a:defRPr sz="900"/>
                          </a:pPr>
                          <a:r>
                            <a:rPr sz="1400" dirty="0"/>
                            <a:t>Patel et al.</a:t>
                          </a:r>
                          <a:r>
                            <a:rPr lang="zh-TW" altLang="en-US" sz="1400" dirty="0"/>
                            <a:t> </a:t>
                          </a:r>
                          <a:r>
                            <a:rPr lang="en-US" altLang="zh-TW" sz="1400" dirty="0"/>
                            <a:t>2024</a:t>
                          </a:r>
                        </a:p>
                        <a:p>
                          <a:pPr algn="l">
                            <a:defRPr sz="900"/>
                          </a:pPr>
                          <a:r>
                            <a:rPr lang="en-US" altLang="zh-TW" sz="1400" dirty="0"/>
                            <a:t>(</a:t>
                          </a:r>
                          <a:r>
                            <a:rPr lang="en-US" altLang="zh-TW" sz="1400" dirty="0" err="1"/>
                            <a:t>arXiv</a:t>
                          </a:r>
                          <a:r>
                            <a:rPr lang="en-US" altLang="zh-TW" sz="1400" dirty="0"/>
                            <a:t>)</a:t>
                          </a:r>
                          <a:endParaRPr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defRPr sz="900"/>
                          </a:pPr>
                          <a:r>
                            <a:rPr sz="1400"/>
                            <a:t>Periodic hill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defRPr sz="900"/>
                          </a:pPr>
                          <a:r>
                            <a:rPr sz="1400"/>
                            <a:t>Sparse PIV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defRPr sz="900"/>
                          </a:pPr>
                          <a:r>
                            <a:rPr sz="1400" dirty="0"/>
                            <a:t>Resolution variation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defRPr sz="900"/>
                          </a:pPr>
                          <a:r>
                            <a:rPr sz="1400"/>
                            <a:t>Coverage-based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71500">
                    <a:tc>
                      <a:txBody>
                        <a:bodyPr/>
                        <a:lstStyle/>
                        <a:p>
                          <a:pPr algn="l">
                            <a:defRPr sz="900"/>
                          </a:pPr>
                          <a:r>
                            <a:rPr sz="1400" dirty="0"/>
                            <a:t>von Saldern</a:t>
                          </a:r>
                          <a:r>
                            <a:rPr lang="zh-TW" altLang="en-US" sz="1400" dirty="0"/>
                            <a:t> </a:t>
                          </a:r>
                          <a:r>
                            <a:rPr lang="en-US" altLang="zh-TW" sz="1400" dirty="0"/>
                            <a:t>et al. 2022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 sz="900"/>
                          </a:pPr>
                          <a:r>
                            <a:rPr lang="en-US" altLang="zh-TW" sz="1400" dirty="0"/>
                            <a:t>(</a:t>
                          </a:r>
                          <a:r>
                            <a:rPr lang="en-US" altLang="zh-TW" sz="1400" dirty="0" err="1"/>
                            <a:t>PoF</a:t>
                          </a:r>
                          <a:r>
                            <a:rPr lang="en-US" altLang="zh-TW" sz="1400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defRPr sz="900"/>
                          </a:pPr>
                          <a:r>
                            <a:rPr sz="1400"/>
                            <a:t>Mean-flow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defRPr sz="900"/>
                          </a:pPr>
                          <a:r>
                            <a:rPr sz="1400"/>
                            <a:t>PIV/LES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defRPr sz="900"/>
                          </a:pPr>
                          <a:r>
                            <a:rPr sz="1400"/>
                            <a:t>±2% noise, coverage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defRPr sz="900"/>
                          </a:pPr>
                          <a:r>
                            <a:rPr sz="1400"/>
                            <a:t>Not explicit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571500">
                    <a:tc>
                      <a:txBody>
                        <a:bodyPr/>
                        <a:lstStyle/>
                        <a:p>
                          <a:pPr algn="l">
                            <a:defRPr sz="900"/>
                          </a:pPr>
                          <a:r>
                            <a:rPr sz="1400" dirty="0"/>
                            <a:t>Pioch et al.</a:t>
                          </a:r>
                          <a:r>
                            <a:rPr lang="en-US" sz="1400" dirty="0"/>
                            <a:t> 2023</a:t>
                          </a:r>
                        </a:p>
                        <a:p>
                          <a:pPr algn="l">
                            <a:defRPr sz="900"/>
                          </a:pPr>
                          <a:r>
                            <a:rPr lang="en-US" altLang="zh-TW" sz="1400" dirty="0"/>
                            <a:t>(Fluids)</a:t>
                          </a:r>
                          <a:endParaRPr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defRPr sz="900"/>
                          </a:pPr>
                          <a:r>
                            <a:rPr sz="1400"/>
                            <a:t>Back step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defRPr sz="900"/>
                          </a:pPr>
                          <a:r>
                            <a:rPr sz="1400"/>
                            <a:t>Sparse profiles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defRPr sz="900"/>
                          </a:pPr>
                          <a:r>
                            <a:rPr sz="1400"/>
                            <a:t>80% domain coverage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defRPr sz="900"/>
                          </a:pPr>
                          <a:r>
                            <a:rPr sz="1400"/>
                            <a:t>Percentage-based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571500">
                    <a:tc>
                      <a:txBody>
                        <a:bodyPr/>
                        <a:lstStyle/>
                        <a:p>
                          <a:pPr algn="l">
                            <a:defRPr sz="900"/>
                          </a:pPr>
                          <a:r>
                            <a:rPr sz="1400" dirty="0"/>
                            <a:t>Hosseini &amp; Shiri</a:t>
                          </a:r>
                          <a:r>
                            <a:rPr lang="en-US" sz="1400" dirty="0"/>
                            <a:t> 2024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 sz="900"/>
                          </a:pPr>
                          <a:r>
                            <a:rPr lang="en-US" altLang="zh-TW" sz="1400" dirty="0"/>
                            <a:t>(</a:t>
                          </a:r>
                          <a:r>
                            <a:rPr lang="en-US" altLang="zh-TW" sz="1400" dirty="0" err="1"/>
                            <a:t>PoF</a:t>
                          </a:r>
                          <a:r>
                            <a:rPr lang="en-US" altLang="zh-TW" sz="1400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defRPr sz="900"/>
                          </a:pPr>
                          <a:r>
                            <a:rPr sz="1400"/>
                            <a:t>Cylinder wake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defRPr sz="900"/>
                          </a:pPr>
                          <a:r>
                            <a:rPr sz="1400"/>
                            <a:t>Eulerian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defRPr sz="900"/>
                          </a:pPr>
                          <a:r>
                            <a:rPr sz="1400" dirty="0"/>
                            <a:t>K/N in x-y plane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defRPr sz="900"/>
                          </a:pPr>
                          <a:r>
                            <a:rPr sz="1400" dirty="0"/>
                            <a:t>K/N reported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2835816"/>
                  </p:ext>
                </p:extLst>
              </p:nvPr>
            </p:nvGraphicFramePr>
            <p:xfrm>
              <a:off x="365760" y="1143000"/>
              <a:ext cx="11430000" cy="4572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116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01168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83464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571500">
                    <a:tc>
                      <a:txBody>
                        <a:bodyPr/>
                        <a:lstStyle/>
                        <a:p>
                          <a:pPr algn="ctr">
                            <a:defRPr sz="1100" b="1">
                              <a:solidFill>
                                <a:srgbClr val="FFFFFF"/>
                              </a:solidFill>
                            </a:defRPr>
                          </a:pPr>
                          <a:r>
                            <a:rPr sz="2000"/>
                            <a:t>Reference</a:t>
                          </a:r>
                        </a:p>
                      </a:txBody>
                      <a:tcPr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100" b="1">
                              <a:solidFill>
                                <a:srgbClr val="FFFFFF"/>
                              </a:solidFill>
                            </a:defRPr>
                          </a:pPr>
                          <a:r>
                            <a:rPr sz="2000"/>
                            <a:t>Flow</a:t>
                          </a:r>
                        </a:p>
                      </a:txBody>
                      <a:tcPr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100" b="1">
                              <a:solidFill>
                                <a:srgbClr val="FFFFFF"/>
                              </a:solidFill>
                            </a:defRPr>
                          </a:pPr>
                          <a:r>
                            <a:rPr sz="2000"/>
                            <a:t>Modality</a:t>
                          </a:r>
                        </a:p>
                      </a:txBody>
                      <a:tcPr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defRPr sz="1100" b="1">
                              <a:solidFill>
                                <a:srgbClr val="FFFFFF"/>
                              </a:solidFill>
                            </a:defRPr>
                          </a:pPr>
                          <a:r>
                            <a:rPr sz="2000"/>
                            <a:t>Budget Reporting</a:t>
                          </a:r>
                        </a:p>
                      </a:txBody>
                      <a:tcPr>
                        <a:solidFill>
                          <a:srgbClr val="0070C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317593" t="-6667" r="-1389" b="-7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7150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 sz="900"/>
                          </a:pPr>
                          <a:r>
                            <a:rPr sz="1400" dirty="0"/>
                            <a:t>Du et al.</a:t>
                          </a:r>
                          <a:r>
                            <a:rPr lang="zh-TW" altLang="en-US" sz="1400" dirty="0"/>
                            <a:t> </a:t>
                          </a:r>
                          <a:r>
                            <a:rPr lang="en-US" altLang="zh-TW" sz="1400" dirty="0"/>
                            <a:t>2022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 sz="900"/>
                          </a:pPr>
                          <a:r>
                            <a:rPr lang="en-US" altLang="zh-TW" sz="1400" dirty="0"/>
                            <a:t>(</a:t>
                          </a:r>
                          <a:r>
                            <a:rPr lang="en-US" altLang="zh-TW" sz="1400" dirty="0" err="1"/>
                            <a:t>arXiv</a:t>
                          </a:r>
                          <a:r>
                            <a:rPr lang="en-US" altLang="zh-TW" sz="1400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defRPr sz="900"/>
                          </a:pPr>
                          <a:r>
                            <a:rPr sz="1400"/>
                            <a:t>Minimal channel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defRPr sz="900"/>
                          </a:pPr>
                          <a:r>
                            <a:rPr sz="1400"/>
                            <a:t>Eulerian u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defRPr sz="900"/>
                          </a:pPr>
                          <a:r>
                            <a:rPr sz="1400"/>
                            <a:t>Observation mask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defRPr sz="900"/>
                          </a:pPr>
                          <a:r>
                            <a:rPr sz="1400"/>
                            <a:t>Implicit (via mask)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7150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 sz="900"/>
                          </a:pPr>
                          <a:r>
                            <a:rPr sz="1400" dirty="0"/>
                            <a:t>Clark Di Leoni</a:t>
                          </a:r>
                          <a:r>
                            <a:rPr lang="zh-TW" altLang="en-US" sz="1400" dirty="0"/>
                            <a:t> </a:t>
                          </a:r>
                          <a:r>
                            <a:rPr lang="en-US" altLang="zh-TW" sz="1400" dirty="0"/>
                            <a:t>2023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 sz="900"/>
                          </a:pPr>
                          <a:r>
                            <a:rPr lang="en-US" altLang="zh-TW" sz="1400" dirty="0"/>
                            <a:t>(Exp. Fluids)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defRPr sz="900"/>
                          </a:pPr>
                          <a:r>
                            <a:rPr sz="1400"/>
                            <a:t>Turbulent field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defRPr sz="900"/>
                          </a:pPr>
                          <a:r>
                            <a:rPr sz="1400" dirty="0" err="1"/>
                            <a:t>Lagrangian</a:t>
                          </a:r>
                          <a:endParaRPr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206250" t="-206667" r="-97768" b="-5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317593" t="-206667" r="-1389" b="-5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71500">
                    <a:tc>
                      <a:txBody>
                        <a:bodyPr/>
                        <a:lstStyle/>
                        <a:p>
                          <a:pPr algn="l">
                            <a:defRPr sz="900"/>
                          </a:pPr>
                          <a:r>
                            <a:rPr sz="1400" dirty="0"/>
                            <a:t>Shin &amp; Schröder</a:t>
                          </a:r>
                          <a:r>
                            <a:rPr lang="en-US" sz="1400" dirty="0"/>
                            <a:t> 2025</a:t>
                          </a:r>
                        </a:p>
                        <a:p>
                          <a:pPr algn="l">
                            <a:defRPr sz="900"/>
                          </a:pPr>
                          <a:r>
                            <a:rPr lang="en-US" altLang="zh-TW" sz="1400" dirty="0"/>
                            <a:t>(ISPIV)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defRPr sz="900"/>
                          </a:pPr>
                          <a:r>
                            <a:rPr sz="1400" dirty="0"/>
                            <a:t>Channel/TBL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defRPr sz="900"/>
                          </a:pPr>
                          <a:r>
                            <a:rPr sz="1400" dirty="0"/>
                            <a:t>LPT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defRPr sz="900"/>
                          </a:pPr>
                          <a:r>
                            <a:rPr sz="1400"/>
                            <a:t>~54K particles/frame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defRPr sz="900"/>
                          </a:pPr>
                          <a:r>
                            <a:rPr sz="1400" dirty="0"/>
                            <a:t>Density sweep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71500">
                    <a:tc>
                      <a:txBody>
                        <a:bodyPr/>
                        <a:lstStyle/>
                        <a:p>
                          <a:pPr algn="l">
                            <a:defRPr sz="900"/>
                          </a:pPr>
                          <a:r>
                            <a:rPr sz="1400" dirty="0"/>
                            <a:t>Patel et al.</a:t>
                          </a:r>
                          <a:r>
                            <a:rPr lang="zh-TW" altLang="en-US" sz="1400" dirty="0"/>
                            <a:t> </a:t>
                          </a:r>
                          <a:r>
                            <a:rPr lang="en-US" altLang="zh-TW" sz="1400" dirty="0"/>
                            <a:t>2024</a:t>
                          </a:r>
                        </a:p>
                        <a:p>
                          <a:pPr algn="l">
                            <a:defRPr sz="900"/>
                          </a:pPr>
                          <a:r>
                            <a:rPr lang="en-US" altLang="zh-TW" sz="1400" dirty="0"/>
                            <a:t>(</a:t>
                          </a:r>
                          <a:r>
                            <a:rPr lang="en-US" altLang="zh-TW" sz="1400" dirty="0" err="1"/>
                            <a:t>arXiv</a:t>
                          </a:r>
                          <a:r>
                            <a:rPr lang="en-US" altLang="zh-TW" sz="1400" dirty="0"/>
                            <a:t>)</a:t>
                          </a:r>
                          <a:endParaRPr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defRPr sz="900"/>
                          </a:pPr>
                          <a:r>
                            <a:rPr sz="1400"/>
                            <a:t>Periodic hill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defRPr sz="900"/>
                          </a:pPr>
                          <a:r>
                            <a:rPr sz="1400"/>
                            <a:t>Sparse PIV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defRPr sz="900"/>
                          </a:pPr>
                          <a:r>
                            <a:rPr sz="1400" dirty="0"/>
                            <a:t>Resolution variation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defRPr sz="900"/>
                          </a:pPr>
                          <a:r>
                            <a:rPr sz="1400"/>
                            <a:t>Coverage-based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71500">
                    <a:tc>
                      <a:txBody>
                        <a:bodyPr/>
                        <a:lstStyle/>
                        <a:p>
                          <a:pPr algn="l">
                            <a:defRPr sz="900"/>
                          </a:pPr>
                          <a:r>
                            <a:rPr sz="1400" dirty="0"/>
                            <a:t>von Saldern</a:t>
                          </a:r>
                          <a:r>
                            <a:rPr lang="zh-TW" altLang="en-US" sz="1400" dirty="0"/>
                            <a:t> </a:t>
                          </a:r>
                          <a:r>
                            <a:rPr lang="en-US" altLang="zh-TW" sz="1400" dirty="0"/>
                            <a:t>et al. 2022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 sz="900"/>
                          </a:pPr>
                          <a:r>
                            <a:rPr lang="en-US" altLang="zh-TW" sz="1400" dirty="0"/>
                            <a:t>(</a:t>
                          </a:r>
                          <a:r>
                            <a:rPr lang="en-US" altLang="zh-TW" sz="1400" dirty="0" err="1"/>
                            <a:t>PoF</a:t>
                          </a:r>
                          <a:r>
                            <a:rPr lang="en-US" altLang="zh-TW" sz="1400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defRPr sz="900"/>
                          </a:pPr>
                          <a:r>
                            <a:rPr sz="1400"/>
                            <a:t>Mean-flow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defRPr sz="900"/>
                          </a:pPr>
                          <a:r>
                            <a:rPr sz="1400"/>
                            <a:t>PIV/LES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defRPr sz="900"/>
                          </a:pPr>
                          <a:r>
                            <a:rPr sz="1400"/>
                            <a:t>±2% noise, coverage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defRPr sz="900"/>
                          </a:pPr>
                          <a:r>
                            <a:rPr sz="1400"/>
                            <a:t>Not explicit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571500">
                    <a:tc>
                      <a:txBody>
                        <a:bodyPr/>
                        <a:lstStyle/>
                        <a:p>
                          <a:pPr algn="l">
                            <a:defRPr sz="900"/>
                          </a:pPr>
                          <a:r>
                            <a:rPr sz="1400" dirty="0"/>
                            <a:t>Pioch et al.</a:t>
                          </a:r>
                          <a:r>
                            <a:rPr lang="en-US" sz="1400" dirty="0"/>
                            <a:t> 2023</a:t>
                          </a:r>
                        </a:p>
                        <a:p>
                          <a:pPr algn="l">
                            <a:defRPr sz="900"/>
                          </a:pPr>
                          <a:r>
                            <a:rPr lang="en-US" altLang="zh-TW" sz="1400" dirty="0"/>
                            <a:t>(Fluids)</a:t>
                          </a:r>
                          <a:endParaRPr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defRPr sz="900"/>
                          </a:pPr>
                          <a:r>
                            <a:rPr sz="1400"/>
                            <a:t>Back step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defRPr sz="900"/>
                          </a:pPr>
                          <a:r>
                            <a:rPr sz="1400"/>
                            <a:t>Sparse profiles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defRPr sz="900"/>
                          </a:pPr>
                          <a:r>
                            <a:rPr sz="1400"/>
                            <a:t>80% domain coverage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defRPr sz="900"/>
                          </a:pPr>
                          <a:r>
                            <a:rPr sz="1400"/>
                            <a:t>Percentage-based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571500">
                    <a:tc>
                      <a:txBody>
                        <a:bodyPr/>
                        <a:lstStyle/>
                        <a:p>
                          <a:pPr algn="l">
                            <a:defRPr sz="900"/>
                          </a:pPr>
                          <a:r>
                            <a:rPr sz="1400" dirty="0"/>
                            <a:t>Hosseini &amp; Shiri</a:t>
                          </a:r>
                          <a:r>
                            <a:rPr lang="en-US" sz="1400" dirty="0"/>
                            <a:t> 2024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 sz="900"/>
                          </a:pPr>
                          <a:r>
                            <a:rPr lang="en-US" altLang="zh-TW" sz="1400" dirty="0"/>
                            <a:t>(</a:t>
                          </a:r>
                          <a:r>
                            <a:rPr lang="en-US" altLang="zh-TW" sz="1400" dirty="0" err="1"/>
                            <a:t>PoF</a:t>
                          </a:r>
                          <a:r>
                            <a:rPr lang="en-US" altLang="zh-TW" sz="1400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defRPr sz="900"/>
                          </a:pPr>
                          <a:r>
                            <a:rPr sz="1400"/>
                            <a:t>Cylinder wake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defRPr sz="900"/>
                          </a:pPr>
                          <a:r>
                            <a:rPr sz="1400"/>
                            <a:t>Eulerian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defRPr sz="900"/>
                          </a:pPr>
                          <a:r>
                            <a:rPr sz="1400" dirty="0"/>
                            <a:t>K/N in x-y plane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defRPr sz="900"/>
                          </a:pPr>
                          <a:r>
                            <a:rPr sz="1400" dirty="0"/>
                            <a:t>K/N reported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extBox 3"/>
          <p:cNvSpPr txBox="1"/>
          <p:nvPr/>
        </p:nvSpPr>
        <p:spPr>
          <a:xfrm>
            <a:off x="2987663" y="5715000"/>
            <a:ext cx="621362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C00000"/>
                </a:solidFill>
              </a:defRPr>
            </a:pPr>
            <a:r>
              <a:rPr sz="1600" dirty="0"/>
              <a:t>Key Gap: Inconsistent reporting makes cross-study comparison difficult</a:t>
            </a:r>
          </a:p>
          <a:p>
            <a:pPr algn="ctr">
              <a:defRPr sz="1000" i="1">
                <a:solidFill>
                  <a:srgbClr val="0070C0"/>
                </a:solidFill>
              </a:defRPr>
            </a:pPr>
            <a:r>
              <a:rPr sz="1200" dirty="0"/>
              <a:t>This thesis: Standardized budget </a:t>
            </a:r>
            <a:r>
              <a:rPr sz="1200" dirty="0" err="1"/>
              <a:t>N_obs</a:t>
            </a:r>
            <a:r>
              <a:rPr sz="1200" dirty="0"/>
              <a:t> = K × </a:t>
            </a:r>
            <a:r>
              <a:rPr sz="1200" dirty="0" err="1"/>
              <a:t>N_t</a:t>
            </a:r>
            <a:r>
              <a:rPr sz="1200" dirty="0"/>
              <a:t> × </a:t>
            </a:r>
            <a:r>
              <a:rPr sz="1200" dirty="0" err="1"/>
              <a:t>d_obs</a:t>
            </a:r>
            <a:r>
              <a:rPr sz="1200" dirty="0"/>
              <a:t> with QR-pivot sensor placement</a:t>
            </a:r>
          </a:p>
        </p:txBody>
      </p:sp>
    </p:spTree>
    <p:extLst>
      <p:ext uri="{BB962C8B-B14F-4D97-AF65-F5344CB8AC3E}">
        <p14:creationId xmlns:p14="http://schemas.microsoft.com/office/powerpoint/2010/main" val="3053809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CEB56-36A0-BC50-37C7-A5DD9EA4D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7444CF-6FE0-910A-2316-37D38966DB3C}"/>
              </a:ext>
            </a:extLst>
          </p:cNvPr>
          <p:cNvSpPr txBox="1"/>
          <p:nvPr/>
        </p:nvSpPr>
        <p:spPr>
          <a:xfrm>
            <a:off x="0" y="411480"/>
            <a:ext cx="1218895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2060"/>
                </a:solidFill>
              </a:defRPr>
            </a:pPr>
            <a:r>
              <a:rPr lang="en-US" dirty="0"/>
              <a:t>Summary of Gap</a:t>
            </a:r>
            <a:endParaRPr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6E44FEF-07B5-2CDC-3A09-1160B43ECDB6}"/>
              </a:ext>
            </a:extLst>
          </p:cNvPr>
          <p:cNvSpPr txBox="1"/>
          <p:nvPr/>
        </p:nvSpPr>
        <p:spPr>
          <a:xfrm>
            <a:off x="393540" y="1928391"/>
            <a:ext cx="1167885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TW" sz="2000" dirty="0"/>
              <a:t>Existing studies either</a:t>
            </a:r>
            <a:br>
              <a:rPr lang="en-US" altLang="zh-TW" sz="2000" dirty="0"/>
            </a:br>
            <a:r>
              <a:rPr lang="en-US" altLang="zh-TW" sz="2000" dirty="0"/>
              <a:t>	(</a:t>
            </a:r>
            <a:r>
              <a:rPr lang="en-US" altLang="zh-TW" sz="2000" dirty="0" err="1"/>
              <a:t>i</a:t>
            </a:r>
            <a:r>
              <a:rPr lang="en-US" altLang="zh-TW" sz="2000" dirty="0"/>
              <a:t>) focus on channel turbulence with sparse observations, but </a:t>
            </a:r>
            <a:r>
              <a:rPr lang="en-US" altLang="zh-TW" sz="2000" b="1" dirty="0"/>
              <a:t>assume prescribed sensor locations</a:t>
            </a:r>
            <a:r>
              <a:rPr lang="en-US" altLang="zh-TW" sz="2000" dirty="0"/>
              <a:t>, or</a:t>
            </a:r>
            <a:br>
              <a:rPr lang="en-US" altLang="zh-TW" sz="2000" dirty="0"/>
            </a:br>
            <a:r>
              <a:rPr lang="en-US" altLang="zh-TW" sz="2000" dirty="0"/>
              <a:t>	(ii) incorporate RANS-based priors, but </a:t>
            </a:r>
            <a:r>
              <a:rPr lang="en-US" altLang="zh-TW" sz="2000" b="1" dirty="0"/>
              <a:t>do not explicitly examine the extreme sparsity regime</a:t>
            </a:r>
            <a:r>
              <a:rPr lang="en-US" altLang="zh-TW" sz="2000" dirty="0"/>
              <a:t>, or</a:t>
            </a:r>
            <a:br>
              <a:rPr lang="en-US" altLang="zh-TW" sz="2000" dirty="0"/>
            </a:br>
            <a:r>
              <a:rPr lang="en-US" altLang="zh-TW" sz="2000" dirty="0"/>
              <a:t>	(iii) study sparse inverse PINNs, but </a:t>
            </a:r>
            <a:r>
              <a:rPr lang="en-US" altLang="zh-TW" sz="2000" b="1" dirty="0"/>
              <a:t>adopt heterogeneous or implicit definitions of sensing budget</a:t>
            </a:r>
            <a:r>
              <a:rPr lang="en-US" altLang="zh-TW" sz="2000" dirty="0"/>
              <a:t>.</a:t>
            </a:r>
          </a:p>
          <a:p>
            <a:pPr>
              <a:buNone/>
            </a:pPr>
            <a:r>
              <a:rPr lang="en-US" altLang="zh-TW" sz="2000" b="1" dirty="0"/>
              <a:t>This thesis addresses their intersection</a:t>
            </a:r>
            <a:r>
              <a:rPr lang="en-US" altLang="zh-TW" sz="2000" dirty="0"/>
              <a:t>:</a:t>
            </a:r>
            <a:br>
              <a:rPr lang="en-US" altLang="zh-TW" sz="2000" dirty="0"/>
            </a:br>
            <a:r>
              <a:rPr lang="en-US" altLang="zh-TW" sz="2000" i="1" dirty="0"/>
              <a:t>3D channel flow at high Re, under extreme sparsity (K≤100),</a:t>
            </a:r>
            <a:br>
              <a:rPr lang="en-US" altLang="zh-TW" sz="2000" i="1" dirty="0"/>
            </a:br>
            <a:r>
              <a:rPr lang="en-US" altLang="zh-TW" sz="2000" i="1" dirty="0"/>
              <a:t>with RANS as soft prior and QR-pivoting-based sensor placement,</a:t>
            </a:r>
            <a:br>
              <a:rPr lang="en-US" altLang="zh-TW" sz="2000" i="1" dirty="0"/>
            </a:br>
            <a:r>
              <a:rPr lang="en-US" altLang="zh-TW" sz="2000" i="1" dirty="0"/>
              <a:t>using a standardized observation budget </a:t>
            </a:r>
            <a:r>
              <a:rPr lang="en-US" altLang="zh-TW" sz="2000" dirty="0"/>
              <a:t>to enable systematic comparison of sensing limits.</a:t>
            </a:r>
          </a:p>
        </p:txBody>
      </p:sp>
    </p:spTree>
    <p:extLst>
      <p:ext uri="{BB962C8B-B14F-4D97-AF65-F5344CB8AC3E}">
        <p14:creationId xmlns:p14="http://schemas.microsoft.com/office/powerpoint/2010/main" val="2683750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idx="4294967295"/>
          </p:nvPr>
        </p:nvSpPr>
        <p:spPr>
          <a:xfrm>
            <a:off x="0" y="414338"/>
            <a:ext cx="12192000" cy="58578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r>
              <a:rPr lang="zh-TW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in Turbulent Reconstruction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959AF443-8EE3-E03B-BDE8-88E88B50870E}"/>
                  </a:ext>
                </a:extLst>
              </p:cNvPr>
              <p:cNvSpPr txBox="1"/>
              <p:nvPr/>
            </p:nvSpPr>
            <p:spPr>
              <a:xfrm>
                <a:off x="133558" y="4856417"/>
                <a:ext cx="621754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/>
                  <a:t>Academic</a:t>
                </a:r>
                <a:r>
                  <a:rPr lang="zh-TW" altLang="en-US" b="1" dirty="0"/>
                  <a:t> </a:t>
                </a:r>
                <a:r>
                  <a:rPr lang="en-US" altLang="zh-TW" dirty="0"/>
                  <a:t>: 1–5% randomized points </a:t>
                </a:r>
              </a:p>
              <a:p>
                <a:r>
                  <a:rPr lang="en-US" altLang="zh-TW" b="1" dirty="0"/>
                  <a:t>Engineering Reality</a:t>
                </a:r>
                <a:r>
                  <a:rPr lang="en-US" altLang="zh-TW" dirty="0"/>
                  <a:t>: Only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≤100 </m:t>
                    </m:r>
                  </m:oMath>
                </a14:m>
                <a:r>
                  <a:rPr lang="en-US" altLang="zh-TW" dirty="0"/>
                  <a:t>sensors available</a:t>
                </a:r>
              </a:p>
              <a:p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altLang="zh-TW" dirty="0"/>
                  <a:t> </a:t>
                </a:r>
                <a:r>
                  <a:rPr lang="en-US" altLang="zh-TW" b="1" dirty="0"/>
                  <a:t>Conclusion</a:t>
                </a:r>
                <a:r>
                  <a:rPr lang="en-US" altLang="zh-TW" dirty="0"/>
                  <a:t>: Random sampling is </a:t>
                </a:r>
                <a:r>
                  <a:rPr lang="en-US" altLang="zh-TW" b="1" dirty="0"/>
                  <a:t>infeasible</a:t>
                </a:r>
                <a:r>
                  <a:rPr lang="en-US" altLang="zh-TW" dirty="0"/>
                  <a:t> for practical reconstruction.</a:t>
                </a: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959AF443-8EE3-E03B-BDE8-88E88B5087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558" y="4856417"/>
                <a:ext cx="6217546" cy="1200329"/>
              </a:xfrm>
              <a:prstGeom prst="rect">
                <a:avLst/>
              </a:prstGeom>
              <a:blipFill>
                <a:blip r:embed="rId3"/>
                <a:stretch>
                  <a:fillRect l="-815" t="-2083" b="-72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字方塊 10">
            <a:extLst>
              <a:ext uri="{FF2B5EF4-FFF2-40B4-BE49-F238E27FC236}">
                <a16:creationId xmlns:a16="http://schemas.microsoft.com/office/drawing/2014/main" id="{98B27244-DE6B-42D0-B9E6-064B96E5B275}"/>
              </a:ext>
            </a:extLst>
          </p:cNvPr>
          <p:cNvSpPr txBox="1"/>
          <p:nvPr/>
        </p:nvSpPr>
        <p:spPr>
          <a:xfrm>
            <a:off x="477078" y="1401418"/>
            <a:ext cx="4435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/>
              <a:t>Challenge 1: Data Scarcity in Engineering Practice</a:t>
            </a:r>
            <a:endParaRPr lang="en-US" altLang="zh-TW" sz="2000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6AF9527F-8118-D6B1-723C-D9316E712810}"/>
              </a:ext>
            </a:extLst>
          </p:cNvPr>
          <p:cNvSpPr txBox="1"/>
          <p:nvPr/>
        </p:nvSpPr>
        <p:spPr>
          <a:xfrm>
            <a:off x="6351104" y="1375277"/>
            <a:ext cx="4010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/>
              <a:t>Challenge 2: Optimization Stiffness in 3D Turbulence</a:t>
            </a:r>
            <a:endParaRPr lang="en-US" altLang="zh-TW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35CD39C9-09E6-216B-08BA-750F57A3D2CF}"/>
                  </a:ext>
                </a:extLst>
              </p:cNvPr>
              <p:cNvSpPr txBox="1"/>
              <p:nvPr/>
            </p:nvSpPr>
            <p:spPr>
              <a:xfrm>
                <a:off x="6351104" y="4845804"/>
                <a:ext cx="6078399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/>
                  <a:t>Physical Nature</a:t>
                </a:r>
                <a:r>
                  <a:rPr lang="en-US" altLang="zh-TW" dirty="0"/>
                  <a:t>: High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𝑅𝑒</m:t>
                    </m:r>
                  </m:oMath>
                </a14:m>
                <a:r>
                  <a:rPr lang="en-US" altLang="zh-TW" dirty="0"/>
                  <a:t> turbulence creates sharp gradients.</a:t>
                </a:r>
              </a:p>
              <a:p>
                <a:r>
                  <a:rPr lang="en-US" altLang="zh-TW" b="1" dirty="0"/>
                  <a:t>Numerical Issue</a:t>
                </a:r>
                <a:r>
                  <a:rPr lang="en-US" altLang="zh-TW" dirty="0"/>
                  <a:t>: Scale discrepancy between PDE &amp; Data loss</a:t>
                </a:r>
              </a:p>
              <a:p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altLang="zh-TW" dirty="0"/>
                  <a:t> </a:t>
                </a:r>
                <a:r>
                  <a:rPr lang="en-US" altLang="zh-TW" b="1" dirty="0"/>
                  <a:t>Conclusion</a:t>
                </a:r>
                <a:r>
                  <a:rPr lang="en-US" altLang="zh-TW" dirty="0"/>
                  <a:t>: Leading to </a:t>
                </a:r>
                <a:r>
                  <a:rPr lang="en-US" altLang="zh-TW" b="1" dirty="0"/>
                  <a:t>Gradient Pathology </a:t>
                </a:r>
                <a:r>
                  <a:rPr lang="en-US" altLang="zh-TW" dirty="0"/>
                  <a:t>(Oscillation/Divergence).</a:t>
                </a:r>
              </a:p>
              <a:p>
                <a:endParaRPr kumimoji="1" lang="zh-TW" altLang="en-US" dirty="0"/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35CD39C9-09E6-216B-08BA-750F57A3D2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1104" y="4845804"/>
                <a:ext cx="6078399" cy="1477328"/>
              </a:xfrm>
              <a:prstGeom prst="rect">
                <a:avLst/>
              </a:prstGeom>
              <a:blipFill>
                <a:blip r:embed="rId4"/>
                <a:stretch>
                  <a:fillRect l="-1044" t="-17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圖片 13">
            <a:extLst>
              <a:ext uri="{FF2B5EF4-FFF2-40B4-BE49-F238E27FC236}">
                <a16:creationId xmlns:a16="http://schemas.microsoft.com/office/drawing/2014/main" id="{4671AE78-B9EB-BA86-54F8-3A751C2CFD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475" y="2202821"/>
            <a:ext cx="4287383" cy="2180336"/>
          </a:xfrm>
          <a:prstGeom prst="rect">
            <a:avLst/>
          </a:prstGeom>
        </p:spPr>
      </p:pic>
      <p:pic>
        <p:nvPicPr>
          <p:cNvPr id="5122" name="Picture 2" descr="machine learning - What does it mean when train and validation loss diverge  from epoch 1? - Stack Overflow">
            <a:extLst>
              <a:ext uri="{FF2B5EF4-FFF2-40B4-BE49-F238E27FC236}">
                <a16:creationId xmlns:a16="http://schemas.microsoft.com/office/drawing/2014/main" id="{73AAF113-6271-092F-3733-1354E27FA7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75"/>
          <a:stretch>
            <a:fillRect/>
          </a:stretch>
        </p:blipFill>
        <p:spPr bwMode="auto">
          <a:xfrm>
            <a:off x="6911666" y="1780693"/>
            <a:ext cx="4282738" cy="3065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495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E2214-C0CA-D9B6-F8B9-AE09C53A4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FC898E-AA6F-85B7-0C32-F72915D8A5C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414338"/>
            <a:ext cx="12192000" cy="58578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r>
              <a:rPr lang="zh-TW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Gaps in Current Research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76233B4A-4411-6116-0751-C4968F75FB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36263373"/>
                  </p:ext>
                </p:extLst>
              </p:nvPr>
            </p:nvGraphicFramePr>
            <p:xfrm>
              <a:off x="685800" y="1896393"/>
              <a:ext cx="10820400" cy="2316480"/>
            </p:xfrm>
            <a:graphic>
              <a:graphicData uri="http://schemas.openxmlformats.org/drawingml/2006/table">
                <a:tbl>
                  <a:tblPr/>
                  <a:tblGrid>
                    <a:gridCol w="2849985">
                      <a:extLst>
                        <a:ext uri="{9D8B030D-6E8A-4147-A177-3AD203B41FA5}">
                          <a16:colId xmlns:a16="http://schemas.microsoft.com/office/drawing/2014/main" val="1160981105"/>
                        </a:ext>
                      </a:extLst>
                    </a:gridCol>
                    <a:gridCol w="4363615">
                      <a:extLst>
                        <a:ext uri="{9D8B030D-6E8A-4147-A177-3AD203B41FA5}">
                          <a16:colId xmlns:a16="http://schemas.microsoft.com/office/drawing/2014/main" val="2409397368"/>
                        </a:ext>
                      </a:extLst>
                    </a:gridCol>
                    <a:gridCol w="3606800">
                      <a:extLst>
                        <a:ext uri="{9D8B030D-6E8A-4147-A177-3AD203B41FA5}">
                          <a16:colId xmlns:a16="http://schemas.microsoft.com/office/drawing/2014/main" val="251443838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zh-TW" altLang="en-US" sz="2400" b="0" dirty="0">
                            <a:latin typeface="+mn-lt"/>
                            <a:ea typeface="Microsoft JhengHei UI" panose="020B0604030504040204" pitchFamily="34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TW" sz="2400" b="1" dirty="0">
                              <a:latin typeface="+mn-lt"/>
                              <a:ea typeface="Microsoft JhengHei UI" panose="020B0604030504040204" pitchFamily="34" charset="-120"/>
                              <a:cs typeface="Times New Roman" panose="02020603050405020304" pitchFamily="18" charset="0"/>
                            </a:rPr>
                            <a:t>Current research</a:t>
                          </a:r>
                          <a:endParaRPr lang="zh-TW" altLang="en-US" sz="2400" b="1" dirty="0">
                            <a:latin typeface="+mn-lt"/>
                            <a:ea typeface="Microsoft JhengHei UI" panose="020B0604030504040204" pitchFamily="34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TW" sz="2400" b="1" dirty="0">
                              <a:latin typeface="+mn-lt"/>
                              <a:ea typeface="Microsoft JhengHei UI" panose="020B0604030504040204" pitchFamily="34" charset="-120"/>
                              <a:cs typeface="Times New Roman" panose="02020603050405020304" pitchFamily="18" charset="0"/>
                            </a:rPr>
                            <a:t>Gap</a:t>
                          </a:r>
                          <a:endParaRPr lang="zh-TW" altLang="en-US" sz="2400" b="1" dirty="0">
                            <a:latin typeface="+mn-lt"/>
                            <a:ea typeface="Microsoft JhengHei UI" panose="020B0604030504040204" pitchFamily="34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0037434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 b="1" dirty="0">
                              <a:latin typeface="+mn-lt"/>
                              <a:ea typeface="Microsoft JhengHei UI" panose="020B0604030504040204" pitchFamily="34" charset="-120"/>
                              <a:cs typeface="Times New Roman" panose="02020603050405020304" pitchFamily="18" charset="0"/>
                            </a:rPr>
                            <a:t>Sparse sensing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TW" sz="2000" b="1" dirty="0"/>
                            <a:t>Randomized placement</a:t>
                          </a:r>
                          <a:r>
                            <a:rPr lang="en-US" altLang="zh-TW" sz="2000" dirty="0"/>
                            <a:t> strategies</a:t>
                          </a:r>
                          <a:endParaRPr lang="en-US" sz="2000" b="0" dirty="0">
                            <a:latin typeface="+mn-lt"/>
                            <a:ea typeface="Microsoft JhengHei UI" panose="020B0604030504040204" pitchFamily="34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TW" sz="2000" b="1" dirty="0"/>
                            <a:t>Sub-optimal</a:t>
                          </a:r>
                          <a:r>
                            <a:rPr lang="en-US" altLang="zh-TW" sz="2000" dirty="0"/>
                            <a:t> for minimal sensors</a:t>
                          </a:r>
                          <a:endParaRPr lang="zh-TW" altLang="en-US" sz="2000" b="0" dirty="0">
                            <a:latin typeface="+mn-lt"/>
                            <a:ea typeface="Microsoft JhengHei UI" panose="020B0604030504040204" pitchFamily="34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6268514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 b="1" dirty="0">
                              <a:latin typeface="+mn-lt"/>
                              <a:ea typeface="Microsoft JhengHei UI" panose="020B0604030504040204" pitchFamily="34" charset="-120"/>
                              <a:cs typeface="Times New Roman" panose="02020603050405020304" pitchFamily="18" charset="0"/>
                            </a:rPr>
                            <a:t>High-Re PINN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TW" sz="2000" dirty="0"/>
                            <a:t>Focus on </a:t>
                          </a:r>
                          <a:r>
                            <a:rPr lang="en-US" altLang="zh-TW" sz="2000" b="1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Low</a:t>
                          </a:r>
                          <a:r>
                            <a:rPr lang="en-US" altLang="zh-TW" sz="2000" b="1" kern="1200" baseline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2000" b="1" i="1" kern="1200" dirty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𝑹𝒆</m:t>
                              </m:r>
                            </m:oMath>
                          </a14:m>
                          <a:r>
                            <a:rPr lang="en-US" altLang="zh-TW" sz="2000" dirty="0"/>
                            <a:t> or laminar flows (benchmark)</a:t>
                          </a:r>
                          <a:endParaRPr lang="en-US" sz="2000" b="0" dirty="0">
                            <a:latin typeface="+mn-lt"/>
                            <a:ea typeface="Microsoft JhengHei UI" panose="020B0604030504040204" pitchFamily="34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TW" sz="2000" b="1" dirty="0"/>
                            <a:t>Training instability</a:t>
                          </a:r>
                          <a:r>
                            <a:rPr lang="en-US" altLang="zh-TW" sz="2000" dirty="0"/>
                            <a:t> in turbulent regimes</a:t>
                          </a:r>
                          <a:endParaRPr lang="zh-TW" altLang="en-US" sz="2000" b="0" dirty="0">
                            <a:latin typeface="+mn-lt"/>
                            <a:ea typeface="Microsoft JhengHei UI" panose="020B0604030504040204" pitchFamily="34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8258361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 b="1" dirty="0">
                              <a:latin typeface="+mn-lt"/>
                              <a:ea typeface="Microsoft JhengHei UI" panose="020B0604030504040204" pitchFamily="34" charset="-120"/>
                              <a:cs typeface="Times New Roman" panose="02020603050405020304" pitchFamily="18" charset="0"/>
                            </a:rPr>
                            <a:t>Benchmark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TW" sz="2000" dirty="0"/>
                            <a:t>Reliance on </a:t>
                          </a:r>
                          <a:r>
                            <a:rPr lang="en-US" altLang="zh-TW" sz="2000" b="1" dirty="0"/>
                            <a:t>private / in-house</a:t>
                          </a:r>
                          <a:r>
                            <a:rPr lang="en-US" altLang="zh-TW" sz="2000" dirty="0"/>
                            <a:t> data</a:t>
                          </a:r>
                          <a:endParaRPr lang="zh-TW" altLang="en-US" sz="2000" b="0" dirty="0">
                            <a:latin typeface="+mn-lt"/>
                            <a:ea typeface="Microsoft JhengHei UI" panose="020B0604030504040204" pitchFamily="34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TW" sz="2000" dirty="0"/>
                            <a:t>Lack of </a:t>
                          </a:r>
                          <a:r>
                            <a:rPr lang="en-US" altLang="zh-TW" sz="2000" b="1" dirty="0"/>
                            <a:t>reproducible, public</a:t>
                          </a:r>
                          <a:r>
                            <a:rPr lang="en-US" altLang="zh-TW" sz="2000" dirty="0"/>
                            <a:t> baselines</a:t>
                          </a:r>
                          <a:endParaRPr lang="en-US" sz="2000" b="0" dirty="0">
                            <a:latin typeface="+mn-lt"/>
                            <a:ea typeface="Microsoft JhengHei UI" panose="020B0604030504040204" pitchFamily="34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0321405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76233B4A-4411-6116-0751-C4968F75FB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36263373"/>
                  </p:ext>
                </p:extLst>
              </p:nvPr>
            </p:nvGraphicFramePr>
            <p:xfrm>
              <a:off x="685800" y="1896393"/>
              <a:ext cx="10820400" cy="2316480"/>
            </p:xfrm>
            <a:graphic>
              <a:graphicData uri="http://schemas.openxmlformats.org/drawingml/2006/table">
                <a:tbl>
                  <a:tblPr/>
                  <a:tblGrid>
                    <a:gridCol w="2849985">
                      <a:extLst>
                        <a:ext uri="{9D8B030D-6E8A-4147-A177-3AD203B41FA5}">
                          <a16:colId xmlns:a16="http://schemas.microsoft.com/office/drawing/2014/main" val="1160981105"/>
                        </a:ext>
                      </a:extLst>
                    </a:gridCol>
                    <a:gridCol w="4363615">
                      <a:extLst>
                        <a:ext uri="{9D8B030D-6E8A-4147-A177-3AD203B41FA5}">
                          <a16:colId xmlns:a16="http://schemas.microsoft.com/office/drawing/2014/main" val="2409397368"/>
                        </a:ext>
                      </a:extLst>
                    </a:gridCol>
                    <a:gridCol w="3606800">
                      <a:extLst>
                        <a:ext uri="{9D8B030D-6E8A-4147-A177-3AD203B41FA5}">
                          <a16:colId xmlns:a16="http://schemas.microsoft.com/office/drawing/2014/main" val="25144383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zh-TW" altLang="en-US" sz="2400" b="0" dirty="0">
                            <a:latin typeface="+mn-lt"/>
                            <a:ea typeface="Microsoft JhengHei UI" panose="020B0604030504040204" pitchFamily="34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TW" sz="2400" b="1" dirty="0">
                              <a:latin typeface="+mn-lt"/>
                              <a:ea typeface="Microsoft JhengHei UI" panose="020B0604030504040204" pitchFamily="34" charset="-120"/>
                              <a:cs typeface="Times New Roman" panose="02020603050405020304" pitchFamily="18" charset="0"/>
                            </a:rPr>
                            <a:t>Current research</a:t>
                          </a:r>
                          <a:endParaRPr lang="zh-TW" altLang="en-US" sz="2400" b="1" dirty="0">
                            <a:latin typeface="+mn-lt"/>
                            <a:ea typeface="Microsoft JhengHei UI" panose="020B0604030504040204" pitchFamily="34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TW" sz="2400" b="1" dirty="0">
                              <a:latin typeface="+mn-lt"/>
                              <a:ea typeface="Microsoft JhengHei UI" panose="020B0604030504040204" pitchFamily="34" charset="-120"/>
                              <a:cs typeface="Times New Roman" panose="02020603050405020304" pitchFamily="18" charset="0"/>
                            </a:rPr>
                            <a:t>Gap</a:t>
                          </a:r>
                          <a:endParaRPr lang="zh-TW" altLang="en-US" sz="2400" b="1" dirty="0">
                            <a:latin typeface="+mn-lt"/>
                            <a:ea typeface="Microsoft JhengHei UI" panose="020B0604030504040204" pitchFamily="34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0037434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 b="1" dirty="0">
                              <a:latin typeface="+mn-lt"/>
                              <a:ea typeface="Microsoft JhengHei UI" panose="020B0604030504040204" pitchFamily="34" charset="-120"/>
                              <a:cs typeface="Times New Roman" panose="02020603050405020304" pitchFamily="18" charset="0"/>
                            </a:rPr>
                            <a:t>Sparse sensing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TW" sz="2000" b="1" dirty="0"/>
                            <a:t>Randomized placement</a:t>
                          </a:r>
                          <a:r>
                            <a:rPr lang="en-US" altLang="zh-TW" sz="2000" dirty="0"/>
                            <a:t> strategies</a:t>
                          </a:r>
                          <a:endParaRPr lang="en-US" sz="2000" b="0" dirty="0">
                            <a:latin typeface="+mn-lt"/>
                            <a:ea typeface="Microsoft JhengHei UI" panose="020B0604030504040204" pitchFamily="34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TW" sz="2000" b="1" dirty="0"/>
                            <a:t>Sub-optimal</a:t>
                          </a:r>
                          <a:r>
                            <a:rPr lang="en-US" altLang="zh-TW" sz="2000" dirty="0"/>
                            <a:t> for minimal sensors</a:t>
                          </a:r>
                          <a:endParaRPr lang="zh-TW" altLang="en-US" sz="2000" b="0" dirty="0">
                            <a:latin typeface="+mn-lt"/>
                            <a:ea typeface="Microsoft JhengHei UI" panose="020B0604030504040204" pitchFamily="34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62685145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 b="1" dirty="0">
                              <a:latin typeface="+mn-lt"/>
                              <a:ea typeface="Microsoft JhengHei UI" panose="020B0604030504040204" pitchFamily="34" charset="-120"/>
                              <a:cs typeface="Times New Roman" panose="02020603050405020304" pitchFamily="18" charset="0"/>
                            </a:rPr>
                            <a:t>High-Re PINN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5407" t="-135714" r="-83140" b="-1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TW" sz="2000" b="1" dirty="0"/>
                            <a:t>Training instability</a:t>
                          </a:r>
                          <a:r>
                            <a:rPr lang="en-US" altLang="zh-TW" sz="2000" dirty="0"/>
                            <a:t> in turbulent regimes</a:t>
                          </a:r>
                          <a:endParaRPr lang="zh-TW" altLang="en-US" sz="2000" b="0" dirty="0">
                            <a:latin typeface="+mn-lt"/>
                            <a:ea typeface="Microsoft JhengHei UI" panose="020B0604030504040204" pitchFamily="34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82583617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 b="1" dirty="0">
                              <a:latin typeface="+mn-lt"/>
                              <a:ea typeface="Microsoft JhengHei UI" panose="020B0604030504040204" pitchFamily="34" charset="-120"/>
                              <a:cs typeface="Times New Roman" panose="02020603050405020304" pitchFamily="18" charset="0"/>
                            </a:rPr>
                            <a:t>Benchmark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TW" sz="2000" dirty="0"/>
                            <a:t>Reliance on </a:t>
                          </a:r>
                          <a:r>
                            <a:rPr lang="en-US" altLang="zh-TW" sz="2000" b="1" dirty="0"/>
                            <a:t>private / in-house</a:t>
                          </a:r>
                          <a:r>
                            <a:rPr lang="en-US" altLang="zh-TW" sz="2000" dirty="0"/>
                            <a:t> data</a:t>
                          </a:r>
                          <a:endParaRPr lang="zh-TW" altLang="en-US" sz="2000" b="0" dirty="0">
                            <a:latin typeface="+mn-lt"/>
                            <a:ea typeface="Microsoft JhengHei UI" panose="020B0604030504040204" pitchFamily="34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TW" sz="2000" dirty="0"/>
                            <a:t>Lack of </a:t>
                          </a:r>
                          <a:r>
                            <a:rPr lang="en-US" altLang="zh-TW" sz="2000" b="1" dirty="0"/>
                            <a:t>reproducible, public</a:t>
                          </a:r>
                          <a:r>
                            <a:rPr lang="en-US" altLang="zh-TW" sz="2000" dirty="0"/>
                            <a:t> baselines</a:t>
                          </a:r>
                          <a:endParaRPr lang="en-US" sz="2000" b="0" dirty="0">
                            <a:latin typeface="+mn-lt"/>
                            <a:ea typeface="Microsoft JhengHei UI" panose="020B0604030504040204" pitchFamily="34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0321405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8D130E25-A7CC-69AD-652B-BD371A0CE179}"/>
                  </a:ext>
                </a:extLst>
              </p:cNvPr>
              <p:cNvSpPr txBox="1"/>
              <p:nvPr/>
            </p:nvSpPr>
            <p:spPr>
              <a:xfrm>
                <a:off x="2384343" y="4601309"/>
                <a:ext cx="7423314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sz="2000" dirty="0"/>
                  <a:t>[ </a:t>
                </a:r>
                <a:r>
                  <a:rPr lang="en-US" altLang="zh-TW" sz="2000" b="1" dirty="0"/>
                  <a:t>Sparse Optimization</a:t>
                </a:r>
                <a:r>
                  <a:rPr lang="en-US" altLang="zh-TW" sz="2000" dirty="0"/>
                  <a:t> ] + [ </a:t>
                </a:r>
                <a:r>
                  <a:rPr lang="en-US" altLang="zh-TW" sz="2000" b="1" dirty="0"/>
                  <a:t>Turbulence PINN</a:t>
                </a:r>
                <a:r>
                  <a:rPr lang="en-US" altLang="zh-TW" sz="2000" dirty="0"/>
                  <a:t> ] + [ </a:t>
                </a:r>
                <a:r>
                  <a:rPr lang="en-US" altLang="zh-TW" sz="2000" b="1" dirty="0"/>
                  <a:t>JHTDB Benchmark</a:t>
                </a:r>
                <a:r>
                  <a:rPr lang="en-US" altLang="zh-TW" sz="2000" dirty="0"/>
                  <a:t> ]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dirty="0" smtClean="0">
                          <a:latin typeface="Cambria Math" panose="02040503050406030204" pitchFamily="18" charset="0"/>
                        </a:rPr>
                        <m:t>⇓</m:t>
                      </m:r>
                    </m:oMath>
                  </m:oMathPara>
                </a14:m>
                <a:endParaRPr lang="en-US" altLang="zh-TW" sz="2000" dirty="0"/>
              </a:p>
              <a:p>
                <a:pPr algn="ctr"/>
                <a:r>
                  <a:rPr lang="en-US" altLang="zh-TW" sz="2000" b="1" dirty="0"/>
                  <a:t>Full-Field Reconstruction Framework</a:t>
                </a:r>
                <a:endParaRPr kumimoji="1" lang="zh-TW" altLang="en-US" sz="2000" b="1" dirty="0">
                  <a:ea typeface="Microsoft JhengHei UI" panose="020B0604030504040204" pitchFamily="34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8D130E25-A7CC-69AD-652B-BD371A0CE1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4343" y="4601309"/>
                <a:ext cx="7423314" cy="1015663"/>
              </a:xfrm>
              <a:prstGeom prst="rect">
                <a:avLst/>
              </a:prstGeom>
              <a:blipFill>
                <a:blip r:embed="rId4"/>
                <a:stretch>
                  <a:fillRect l="-341" t="-3704" r="-341" b="-98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86433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9AFDC8B5-D69B-4CB0-AA39-0AB57C8FE1F1}"/>
              </a:ext>
            </a:extLst>
          </p:cNvPr>
          <p:cNvSpPr/>
          <p:nvPr/>
        </p:nvSpPr>
        <p:spPr>
          <a:xfrm>
            <a:off x="0" y="418624"/>
            <a:ext cx="12191999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Objectives</a:t>
            </a:r>
            <a:endParaRPr lang="en-GB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19EC0FF-4FE7-8AB9-4664-ED6E8D6D7137}"/>
              </a:ext>
            </a:extLst>
          </p:cNvPr>
          <p:cNvSpPr txBox="1"/>
          <p:nvPr/>
        </p:nvSpPr>
        <p:spPr>
          <a:xfrm>
            <a:off x="2862470" y="200770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E91B663D-9785-C10A-0AF7-048F0EA1DFDA}"/>
                  </a:ext>
                </a:extLst>
              </p:cNvPr>
              <p:cNvSpPr txBox="1"/>
              <p:nvPr/>
            </p:nvSpPr>
            <p:spPr>
              <a:xfrm>
                <a:off x="1300006" y="1690062"/>
                <a:ext cx="10401999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en-US" altLang="zh-TW" sz="2000" dirty="0"/>
                  <a:t>Sensing limit (QRCP sensors)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kumimoji="1" lang="en-US" altLang="zh-TW" sz="2000" dirty="0"/>
                  <a:t>Define: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TW" sz="200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kumimoji="1" lang="en-US" altLang="zh-TW" sz="200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kumimoji="1" lang="en-US" altLang="zh-TW" sz="20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TW" sz="2000" i="1" dirty="0" smtClean="0">
                        <a:latin typeface="Cambria Math" panose="02040503050406030204" pitchFamily="18" charset="0"/>
                      </a:rPr>
                      <m:t>𝑚𝑖</m:t>
                    </m:r>
                    <m:func>
                      <m:funcPr>
                        <m:ctrlPr>
                          <a:rPr kumimoji="1"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kumimoji="1" lang="en-US" altLang="zh-TW" sz="200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fName>
                      <m:e>
                        <m:d>
                          <m:dPr>
                            <m:ctrlPr>
                              <a:rPr kumimoji="1" lang="en-US" altLang="zh-TW" sz="20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TW" sz="2000" i="1" dirty="0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</m:d>
                      </m:e>
                    </m:func>
                  </m:oMath>
                </a14:m>
                <a:r>
                  <a:rPr kumimoji="1" lang="en-US" altLang="zh-TW" sz="2000" dirty="0"/>
                  <a:t> </a:t>
                </a:r>
                <a:r>
                  <a:rPr kumimoji="1" lang="en-US" altLang="zh-TW" sz="2000" dirty="0" err="1"/>
                  <a:t>s.t.</a:t>
                </a:r>
                <a:r>
                  <a:rPr kumimoji="1" lang="en-US" altLang="zh-TW" sz="20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TW" sz="2000" i="1" dirty="0" smtClean="0">
                        <a:latin typeface="Cambria Math" panose="02040503050406030204" pitchFamily="18" charset="0"/>
                      </a:rPr>
                      <m:t>𝑟𝑒𝑙</m:t>
                    </m:r>
                    <m:r>
                      <a:rPr kumimoji="1" lang="en-US" altLang="zh-TW" sz="200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kumimoji="1"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kumimoji="1" lang="en-US" altLang="zh-TW" sz="20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en-US" altLang="zh-TW" sz="2000" dirty="0"/>
                  <a:t> error of (</a:t>
                </a:r>
                <a:r>
                  <a:rPr kumimoji="1" lang="en-US" altLang="zh-TW" sz="2000" dirty="0" err="1"/>
                  <a:t>u,v,w,p</a:t>
                </a:r>
                <a:r>
                  <a:rPr kumimoji="1" lang="en-US" altLang="zh-TW" sz="2000" dirty="0"/>
                  <a:t>) &lt; 10% (avg over N snapshots)</a:t>
                </a:r>
                <a:r>
                  <a:rPr kumimoji="1" lang="zh-TW" altLang="en-US" sz="2000" dirty="0"/>
                  <a:t> </a:t>
                </a:r>
                <a:r>
                  <a:rPr lang="en-US" altLang="zh-TW" sz="2000" dirty="0"/>
                  <a:t>relative to RANS baseline</a:t>
                </a:r>
                <a:endParaRPr kumimoji="1" lang="en-US" altLang="zh-TW" sz="20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kumimoji="1" lang="en-US" altLang="zh-TW" sz="2000" dirty="0"/>
                  <a:t>Sweep K={20,50,100,200}, compare random vs QRCP</a:t>
                </a:r>
              </a:p>
              <a:p>
                <a:endParaRPr kumimoji="1" lang="en-US" altLang="zh-TW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en-US" altLang="zh-TW" sz="2000" dirty="0"/>
                  <a:t>Lo–Hi fidelity fusion (RANS prior)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kumimoji="1" lang="en-US" altLang="zh-TW" sz="2000" dirty="0"/>
                  <a:t>Use RANS as soft prior: add </a:t>
                </a:r>
                <a14:m>
                  <m:oMath xmlns:m="http://schemas.openxmlformats.org/officeDocument/2006/math">
                    <m:r>
                      <a:rPr kumimoji="1" lang="el-GR" altLang="zh-TW" sz="20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kumimoji="1" lang="el-GR" altLang="zh-TW" sz="2000" i="1" dirty="0" smtClean="0">
                        <a:latin typeface="Cambria Math" panose="02040503050406030204" pitchFamily="18" charset="0"/>
                      </a:rPr>
                      <m:t>∥</m:t>
                    </m:r>
                    <m:r>
                      <a:rPr kumimoji="1" lang="en-US" altLang="zh-TW" sz="2000" i="1" dirty="0">
                        <a:latin typeface="Cambria Math" panose="02040503050406030204" pitchFamily="18" charset="0"/>
                      </a:rPr>
                      <m:t>𝑢</m:t>
                    </m:r>
                    <m:r>
                      <a:rPr kumimoji="1" lang="en-US" altLang="zh-TW" sz="2000" i="1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kumimoji="1" lang="en-US" altLang="zh-TW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i="1" dirty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kumimoji="1" lang="en-US" altLang="zh-TW" sz="2000" i="1" dirty="0">
                            <a:latin typeface="Cambria Math" panose="02040503050406030204" pitchFamily="18" charset="0"/>
                          </a:rPr>
                          <m:t>𝑅𝐴𝑁𝑆</m:t>
                        </m:r>
                      </m:sub>
                    </m:sSub>
                    <m:sSup>
                      <m:sSupPr>
                        <m:ctrlPr>
                          <a:rPr kumimoji="1" lang="en-US" altLang="zh-TW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TW" sz="2000" i="1" dirty="0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kumimoji="1" lang="en-US" altLang="zh-TW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en-US" altLang="zh-TW" sz="2000" dirty="0"/>
                  <a:t>(or mean-profile / stress prior)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kumimoji="1" lang="en-US" altLang="zh-TW" sz="2000" dirty="0"/>
                  <a:t>Evaluate: improvement in error and robustness under sensor noise </a:t>
                </a:r>
                <a:r>
                  <a:rPr kumimoji="1" lang="el-GR" altLang="zh-TW" sz="2000" dirty="0"/>
                  <a:t>σ =</a:t>
                </a:r>
                <a:r>
                  <a:rPr kumimoji="1" lang="zh-TW" altLang="en-US" sz="2000" dirty="0"/>
                  <a:t> </a:t>
                </a:r>
                <a:r>
                  <a:rPr lang="zh-TW" altLang="en-US" sz="2000" dirty="0"/>
                  <a:t>∈ </a:t>
                </a:r>
                <a:r>
                  <a:rPr lang="en-US" altLang="zh-TW" sz="2000" dirty="0"/>
                  <a:t>{0, 1%, 5%}</a:t>
                </a:r>
                <a:endParaRPr kumimoji="1" lang="el-GR" altLang="zh-TW" sz="2000" dirty="0"/>
              </a:p>
              <a:p>
                <a:endParaRPr kumimoji="1" lang="el-GR" altLang="zh-TW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en-US" altLang="zh-TW" sz="2000" dirty="0"/>
                  <a:t>Training stability for </a:t>
                </a:r>
                <a14:m>
                  <m:oMath xmlns:m="http://schemas.openxmlformats.org/officeDocument/2006/math">
                    <m:r>
                      <a:rPr kumimoji="1" lang="en-US" altLang="zh-TW" sz="2000" i="1" dirty="0" smtClean="0">
                        <a:latin typeface="Cambria Math" panose="02040503050406030204" pitchFamily="18" charset="0"/>
                      </a:rPr>
                      <m:t>𝑅</m:t>
                    </m:r>
                    <m:sSub>
                      <m:sSubPr>
                        <m:ctrlPr>
                          <a:rPr kumimoji="1"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kumimoji="1" lang="el-GR" altLang="zh-TW" sz="2000" i="1" dirty="0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  <m:r>
                      <a:rPr kumimoji="1" lang="el-GR" altLang="zh-TW" sz="2000" i="1" dirty="0">
                        <a:latin typeface="Cambria Math" panose="02040503050406030204" pitchFamily="18" charset="0"/>
                      </a:rPr>
                      <m:t>≈1000</m:t>
                    </m:r>
                  </m:oMath>
                </a14:m>
                <a:endParaRPr kumimoji="1" lang="el-GR" altLang="zh-TW" sz="20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kumimoji="1" lang="en-US" altLang="zh-TW" sz="2000" dirty="0"/>
                  <a:t>Method: VS-PINN + </a:t>
                </a:r>
                <a:r>
                  <a:rPr kumimoji="1" lang="en-US" altLang="zh-TW" sz="2000" dirty="0" err="1"/>
                  <a:t>GradNorm</a:t>
                </a:r>
                <a:r>
                  <a:rPr kumimoji="1" lang="en-US" altLang="zh-TW" sz="2000" dirty="0"/>
                  <a:t> + SOAP/L-BFGS (ablation)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kumimoji="1" lang="en-US" altLang="zh-TW" sz="2000" dirty="0"/>
                  <a:t>Target: converge to &lt;5–10% error within fixed budget (or success rate across seeds)</a:t>
                </a:r>
                <a:endParaRPr kumimoji="1" lang="zh-TW" altLang="en-US" sz="2000" dirty="0"/>
              </a:p>
            </p:txBody>
          </p:sp>
        </mc:Choice>
        <mc:Fallback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E91B663D-9785-C10A-0AF7-048F0EA1DF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0006" y="1690062"/>
                <a:ext cx="10401999" cy="3785652"/>
              </a:xfrm>
              <a:prstGeom prst="rect">
                <a:avLst/>
              </a:prstGeom>
              <a:blipFill>
                <a:blip r:embed="rId3"/>
                <a:stretch>
                  <a:fillRect l="-488" t="-667" b="-1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42293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C8BA0-0560-4176-A642-B5A5D496AD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9865" y="2640079"/>
            <a:ext cx="9719374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GB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zh-TW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2BC19A-CF91-4363-AE16-3C57CC17D5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6356" y="5107439"/>
            <a:ext cx="10812883" cy="473227"/>
          </a:xfrm>
        </p:spPr>
        <p:txBody>
          <a:bodyPr vert="horz" lIns="91440" tIns="45720" rIns="91440" bIns="45720" rtlCol="0">
            <a:normAutofit fontScale="92500"/>
          </a:bodyPr>
          <a:lstStyle/>
          <a:p>
            <a:pPr marL="368100" lvl="1" algn="r">
              <a:lnSpc>
                <a:spcPts val="3000"/>
              </a:lnSpc>
            </a:pPr>
            <a:r>
              <a:rPr lang="en-GB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workflow / DNS data preparation / Model structure / governing equation</a:t>
            </a:r>
            <a:r>
              <a:rPr lang="zh-TW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GB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strategy</a:t>
            </a:r>
          </a:p>
        </p:txBody>
      </p:sp>
    </p:spTree>
    <p:extLst>
      <p:ext uri="{BB962C8B-B14F-4D97-AF65-F5344CB8AC3E}">
        <p14:creationId xmlns:p14="http://schemas.microsoft.com/office/powerpoint/2010/main" val="16281106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3">
            <a:extLst>
              <a:ext uri="{FF2B5EF4-FFF2-40B4-BE49-F238E27FC236}">
                <a16:creationId xmlns:a16="http://schemas.microsoft.com/office/drawing/2014/main" id="{CCDFE493-F1CA-439B-A347-AE197EFEE1B3}"/>
              </a:ext>
            </a:extLst>
          </p:cNvPr>
          <p:cNvSpPr/>
          <p:nvPr/>
        </p:nvSpPr>
        <p:spPr>
          <a:xfrm>
            <a:off x="-1" y="418624"/>
            <a:ext cx="12191999" cy="646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Overall Workflow</a:t>
            </a:r>
            <a:endParaRPr lang="en-GB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E2C1653B-227A-1024-6334-632DE9A75D3C}"/>
              </a:ext>
            </a:extLst>
          </p:cNvPr>
          <p:cNvGrpSpPr/>
          <p:nvPr/>
        </p:nvGrpSpPr>
        <p:grpSpPr>
          <a:xfrm>
            <a:off x="359464" y="2410239"/>
            <a:ext cx="11473068" cy="2569265"/>
            <a:chOff x="347870" y="2171700"/>
            <a:chExt cx="11473068" cy="2569265"/>
          </a:xfrm>
        </p:grpSpPr>
        <p:pic>
          <p:nvPicPr>
            <p:cNvPr id="11" name="圖片 10" descr="一張含有 文字, 螢幕擷取畫面, 字型, 名片 的圖片  AI 產生的內容可能不正確。">
              <a:extLst>
                <a:ext uri="{FF2B5EF4-FFF2-40B4-BE49-F238E27FC236}">
                  <a16:creationId xmlns:a16="http://schemas.microsoft.com/office/drawing/2014/main" id="{50C31676-DA7A-1ACD-5F9B-8C9317E813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" y="2171700"/>
              <a:ext cx="11211338" cy="2569265"/>
            </a:xfrm>
            <a:prstGeom prst="rect">
              <a:avLst/>
            </a:prstGeom>
          </p:spPr>
        </p:pic>
        <p:grpSp>
          <p:nvGrpSpPr>
            <p:cNvPr id="53" name="群組 52">
              <a:extLst>
                <a:ext uri="{FF2B5EF4-FFF2-40B4-BE49-F238E27FC236}">
                  <a16:creationId xmlns:a16="http://schemas.microsoft.com/office/drawing/2014/main" id="{9DFEF325-16D7-BFAA-EE41-9F8B9D528758}"/>
                </a:ext>
              </a:extLst>
            </p:cNvPr>
            <p:cNvGrpSpPr/>
            <p:nvPr/>
          </p:nvGrpSpPr>
          <p:grpSpPr>
            <a:xfrm>
              <a:off x="347870" y="2713378"/>
              <a:ext cx="11350496" cy="1431243"/>
              <a:chOff x="347870" y="2713378"/>
              <a:chExt cx="11350496" cy="1431243"/>
            </a:xfrm>
          </p:grpSpPr>
          <p:cxnSp>
            <p:nvCxnSpPr>
              <p:cNvPr id="22" name="肘形接點 21">
                <a:extLst>
                  <a:ext uri="{FF2B5EF4-FFF2-40B4-BE49-F238E27FC236}">
                    <a16:creationId xmlns:a16="http://schemas.microsoft.com/office/drawing/2014/main" id="{13E34AEB-41B9-C4DC-29D7-C89DAC938D0B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371063" y="2713378"/>
                <a:ext cx="11327303" cy="715621"/>
              </a:xfrm>
              <a:prstGeom prst="bentConnector3">
                <a:avLst>
                  <a:gd name="adj1" fmla="val -2208"/>
                </a:avLst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肘形接點 46">
                <a:extLst>
                  <a:ext uri="{FF2B5EF4-FFF2-40B4-BE49-F238E27FC236}">
                    <a16:creationId xmlns:a16="http://schemas.microsoft.com/office/drawing/2014/main" id="{EEC4DE43-1C68-2159-DD3D-CC5205CCEEB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178902" y="3597966"/>
                <a:ext cx="715623" cy="377688"/>
              </a:xfrm>
              <a:prstGeom prst="bentConnector3">
                <a:avLst>
                  <a:gd name="adj1" fmla="val 100000"/>
                </a:avLst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B26908EA-AC61-C471-84AB-0FAD924961D8}"/>
              </a:ext>
            </a:extLst>
          </p:cNvPr>
          <p:cNvSpPr/>
          <p:nvPr/>
        </p:nvSpPr>
        <p:spPr>
          <a:xfrm>
            <a:off x="737152" y="2508422"/>
            <a:ext cx="5119951" cy="92057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ysClr val="windowText" lastClr="000000"/>
                </a:solidFill>
              </a:rPr>
              <a:t>RANS prior low-fi field</a:t>
            </a:r>
            <a:endParaRPr kumimoji="1" lang="zh-TW" alt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50352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13">
            <a:extLst>
              <a:ext uri="{FF2B5EF4-FFF2-40B4-BE49-F238E27FC236}">
                <a16:creationId xmlns:a16="http://schemas.microsoft.com/office/drawing/2014/main" id="{D272E813-7F8C-4B0A-8A2E-DD9002E097DC}"/>
              </a:ext>
            </a:extLst>
          </p:cNvPr>
          <p:cNvSpPr/>
          <p:nvPr/>
        </p:nvSpPr>
        <p:spPr>
          <a:xfrm>
            <a:off x="-1" y="418624"/>
            <a:ext cx="12191999" cy="535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GB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DNS Data Preparation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51608627-BBF6-4532-83DA-F748C247435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37582319"/>
                  </p:ext>
                </p:extLst>
              </p:nvPr>
            </p:nvGraphicFramePr>
            <p:xfrm>
              <a:off x="308050" y="1202225"/>
              <a:ext cx="11575895" cy="3749988"/>
            </p:xfrm>
            <a:graphic>
              <a:graphicData uri="http://schemas.openxmlformats.org/drawingml/2006/table">
                <a:tbl>
                  <a:tblPr firstRow="1" firstCol="1" bandRow="1">
                    <a:tableStyleId>{F5AB1C69-6EDB-4FF4-983F-18BD219EF322}</a:tableStyleId>
                  </a:tblPr>
                  <a:tblGrid>
                    <a:gridCol w="1520867">
                      <a:extLst>
                        <a:ext uri="{9D8B030D-6E8A-4147-A177-3AD203B41FA5}">
                          <a16:colId xmlns:a16="http://schemas.microsoft.com/office/drawing/2014/main" val="2800461999"/>
                        </a:ext>
                      </a:extLst>
                    </a:gridCol>
                    <a:gridCol w="2228634">
                      <a:extLst>
                        <a:ext uri="{9D8B030D-6E8A-4147-A177-3AD203B41FA5}">
                          <a16:colId xmlns:a16="http://schemas.microsoft.com/office/drawing/2014/main" val="1494406760"/>
                        </a:ext>
                      </a:extLst>
                    </a:gridCol>
                    <a:gridCol w="1119171">
                      <a:extLst>
                        <a:ext uri="{9D8B030D-6E8A-4147-A177-3AD203B41FA5}">
                          <a16:colId xmlns:a16="http://schemas.microsoft.com/office/drawing/2014/main" val="1603345236"/>
                        </a:ext>
                      </a:extLst>
                    </a:gridCol>
                    <a:gridCol w="1119171">
                      <a:extLst>
                        <a:ext uri="{9D8B030D-6E8A-4147-A177-3AD203B41FA5}">
                          <a16:colId xmlns:a16="http://schemas.microsoft.com/office/drawing/2014/main" val="1191338855"/>
                        </a:ext>
                      </a:extLst>
                    </a:gridCol>
                    <a:gridCol w="1119171">
                      <a:extLst>
                        <a:ext uri="{9D8B030D-6E8A-4147-A177-3AD203B41FA5}">
                          <a16:colId xmlns:a16="http://schemas.microsoft.com/office/drawing/2014/main" val="257317617"/>
                        </a:ext>
                      </a:extLst>
                    </a:gridCol>
                    <a:gridCol w="4468881">
                      <a:extLst>
                        <a:ext uri="{9D8B030D-6E8A-4147-A177-3AD203B41FA5}">
                          <a16:colId xmlns:a16="http://schemas.microsoft.com/office/drawing/2014/main" val="17587450"/>
                        </a:ext>
                      </a:extLst>
                    </a:gridCol>
                  </a:tblGrid>
                  <a:tr h="442118">
                    <a:tc gridSpan="2"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TW" sz="2000" b="1" kern="100" dirty="0"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Cases</a:t>
                          </a:r>
                          <a:endParaRPr lang="zh-TW" sz="2000" b="1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TW" sz="2000" b="1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2D Kolmogorov flow</a:t>
                          </a:r>
                          <a:endParaRPr lang="zh-TW" sz="2000" b="1" kern="100" dirty="0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rgbClr val="F0F0F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3D Channel flow</a:t>
                          </a:r>
                          <a:endParaRPr lang="zh-TW" altLang="en-US" dirty="0"/>
                        </a:p>
                      </a:txBody>
                      <a:tcPr marL="68580" marR="68580" marT="0" marB="0" anchor="ctr">
                        <a:solidFill>
                          <a:srgbClr val="F0F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8234313"/>
                      </a:ext>
                    </a:extLst>
                  </a:tr>
                  <a:tr h="442118">
                    <a:tc gridSpan="2"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Reynold Number</a:t>
                          </a:r>
                          <a:endParaRPr lang="zh-TW" sz="20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TW" sz="1800" kern="100" dirty="0"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50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TW" sz="1800" kern="100" dirty="0"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100</a:t>
                          </a:r>
                          <a:endParaRPr lang="zh-TW" altLang="en-US" sz="18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TW" sz="1800" kern="100" dirty="0"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500</a:t>
                          </a:r>
                          <a:endParaRPr lang="zh-TW" altLang="en-US" sz="18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i="1" kern="100" dirty="0" smtClean="0"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𝑅</m:t>
                                </m:r>
                                <m:sSub>
                                  <m:sSubPr>
                                    <m:ctrlPr>
                                      <a:rPr lang="en-US" altLang="zh-TW" sz="180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zh-TW" sz="180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𝜏</m:t>
                                    </m:r>
                                  </m:sub>
                                </m:sSub>
                                <m:r>
                                  <a:rPr lang="en-US" altLang="zh-TW" sz="1800" i="1" kern="100" dirty="0" smtClean="0"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=1000≈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1800" b="0" i="1" kern="100" dirty="0" smtClean="0"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Re</m:t>
                                </m:r>
                                <m:r>
                                  <a:rPr lang="en-US" altLang="zh-TW" sz="1800" b="0" i="1" kern="100" dirty="0" smtClean="0"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 =39998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99289197"/>
                      </a:ext>
                    </a:extLst>
                  </a:tr>
                  <a:tr h="442118">
                    <a:tc gridSpan="2"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Grid Number</a:t>
                          </a:r>
                          <a:endParaRPr lang="zh-TW" sz="20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800" i="1" kern="100" dirty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kern="100" dirty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256</m:t>
                                    </m:r>
                                  </m:e>
                                  <m:sup>
                                    <m:r>
                                      <a:rPr lang="en-US" sz="1800" i="1" kern="100" dirty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TW" altLang="en-US" sz="28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TW" sz="1800" i="1" kern="100" dirty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1800" b="0" i="1" kern="100" dirty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512</m:t>
                                    </m:r>
                                  </m:e>
                                  <m:sup>
                                    <m:r>
                                      <a:rPr lang="en-US" altLang="zh-TW" sz="1800" i="1" kern="100" dirty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TW" altLang="en-US" sz="2800" kern="100" dirty="0"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TW" sz="1800" i="1" kern="100" dirty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1800" b="0" i="1" kern="100" dirty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512</m:t>
                                    </m:r>
                                  </m:e>
                                  <m:sup>
                                    <m:r>
                                      <a:rPr lang="en-US" altLang="zh-TW" sz="1800" i="1" kern="100" dirty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TW" altLang="en-US" sz="2800" kern="100" dirty="0"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kern="100" dirty="0"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2048 x 512 x 1536 </a:t>
                          </a:r>
                          <a:endParaRPr lang="zh-TW" altLang="en-US" sz="2000" dirty="0"/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83103581"/>
                      </a:ext>
                    </a:extLst>
                  </a:tr>
                  <a:tr h="442118">
                    <a:tc rowSpan="5"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TW" sz="2000" kern="100" dirty="0"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Numerical Method</a:t>
                          </a:r>
                          <a:endParaRPr lang="zh-TW" sz="20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Scheme</a:t>
                          </a:r>
                          <a:endParaRPr lang="zh-TW" sz="18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gridSpan="3"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Pseudo-Spectral Method (Fourier-</a:t>
                          </a:r>
                          <a:r>
                            <a:rPr lang="en-US" sz="1800" kern="1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Galerkin</a:t>
                          </a:r>
                          <a:r>
                            <a:rPr lang="en-US" sz="18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TW" sz="28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TW" sz="18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Pseudo-Spectral Method (Fourier-</a:t>
                          </a:r>
                          <a:r>
                            <a:rPr lang="en-US" altLang="zh-TW" sz="1800" kern="1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Galerkin</a:t>
                          </a:r>
                          <a:r>
                            <a:rPr lang="en-US" altLang="zh-TW" sz="18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TW" altLang="zh-TW" sz="2800" kern="100" dirty="0"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487783835"/>
                      </a:ext>
                    </a:extLst>
                  </a:tr>
                  <a:tr h="442118"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TW" sz="1800" kern="100" dirty="0"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Time Stepping</a:t>
                          </a:r>
                          <a:endParaRPr lang="zh-TW" sz="18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gridSpan="3"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Semi-implicit Euler (viscous implicit, nonlinear explicit)</a:t>
                          </a:r>
                          <a:endParaRPr lang="zh-TW" sz="28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TW" sz="1800" kern="100" dirty="0"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3rd-order Runge-</a:t>
                          </a:r>
                          <a:r>
                            <a:rPr lang="en-US" altLang="zh-TW" sz="1800" kern="100" dirty="0" err="1"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Kutta</a:t>
                          </a:r>
                          <a:r>
                            <a:rPr lang="en-US" altLang="zh-TW" sz="1800" kern="100" dirty="0"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(RK3) </a:t>
                          </a:r>
                          <a:endParaRPr lang="zh-TW" sz="18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029232711"/>
                      </a:ext>
                    </a:extLst>
                  </a:tr>
                  <a:tr h="442118"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TW" sz="1800" kern="100" dirty="0"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Spatial Basis</a:t>
                          </a:r>
                          <a:endParaRPr lang="zh-TW" sz="18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gridSpan="3"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Fourier Series (Double Periodic) </a:t>
                          </a:r>
                          <a:endParaRPr lang="zh-TW" sz="28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TW" sz="1800" kern="100" dirty="0"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Fourier (x, z)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800" i="1" kern="100" dirty="0" smtClean="0"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US" altLang="zh-TW" sz="1800" kern="100" dirty="0"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Chebyshev (y)</a:t>
                          </a:r>
                          <a:endParaRPr lang="zh-TW" sz="18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888598851"/>
                      </a:ext>
                    </a:extLst>
                  </a:tr>
                  <a:tr h="442118"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Dealiasing</a:t>
                          </a:r>
                          <a:endParaRPr lang="zh-TW" sz="18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gridSpan="3"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  <a:tabLst>
                              <a:tab pos="1847850" algn="l"/>
                            </a:tabLst>
                          </a:pPr>
                          <a:r>
                            <a:rPr lang="en-US" sz="18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2/3 Rule</a:t>
                          </a:r>
                          <a:endParaRPr lang="zh-TW" sz="28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  <a:tabLst>
                              <a:tab pos="1847850" algn="l"/>
                            </a:tabLst>
                          </a:pPr>
                          <a:r>
                            <a:rPr lang="en-US" altLang="zh-TW" sz="1800" kern="100" dirty="0"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3/2 Rule</a:t>
                          </a:r>
                          <a:endParaRPr lang="zh-TW" sz="18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824622861"/>
                      </a:ext>
                    </a:extLst>
                  </a:tr>
                  <a:tr h="442118"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Pressure</a:t>
                          </a:r>
                          <a:endParaRPr lang="zh-TW" sz="18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gridSpan="3"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Spectral Projection (Poisson) </a:t>
                          </a:r>
                          <a:endParaRPr lang="zh-TW" sz="28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TW" sz="1800" kern="100" dirty="0"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Spectral Projection (Influence Matrix) </a:t>
                          </a:r>
                          <a:endParaRPr lang="zh-TW" sz="18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1147195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51608627-BBF6-4532-83DA-F748C247435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37582319"/>
                  </p:ext>
                </p:extLst>
              </p:nvPr>
            </p:nvGraphicFramePr>
            <p:xfrm>
              <a:off x="308050" y="1202225"/>
              <a:ext cx="11575895" cy="3749988"/>
            </p:xfrm>
            <a:graphic>
              <a:graphicData uri="http://schemas.openxmlformats.org/drawingml/2006/table">
                <a:tbl>
                  <a:tblPr firstRow="1" firstCol="1" bandRow="1">
                    <a:tableStyleId>{F5AB1C69-6EDB-4FF4-983F-18BD219EF322}</a:tableStyleId>
                  </a:tblPr>
                  <a:tblGrid>
                    <a:gridCol w="1520867">
                      <a:extLst>
                        <a:ext uri="{9D8B030D-6E8A-4147-A177-3AD203B41FA5}">
                          <a16:colId xmlns:a16="http://schemas.microsoft.com/office/drawing/2014/main" val="2800461999"/>
                        </a:ext>
                      </a:extLst>
                    </a:gridCol>
                    <a:gridCol w="2228634">
                      <a:extLst>
                        <a:ext uri="{9D8B030D-6E8A-4147-A177-3AD203B41FA5}">
                          <a16:colId xmlns:a16="http://schemas.microsoft.com/office/drawing/2014/main" val="1494406760"/>
                        </a:ext>
                      </a:extLst>
                    </a:gridCol>
                    <a:gridCol w="1119171">
                      <a:extLst>
                        <a:ext uri="{9D8B030D-6E8A-4147-A177-3AD203B41FA5}">
                          <a16:colId xmlns:a16="http://schemas.microsoft.com/office/drawing/2014/main" val="1603345236"/>
                        </a:ext>
                      </a:extLst>
                    </a:gridCol>
                    <a:gridCol w="1119171">
                      <a:extLst>
                        <a:ext uri="{9D8B030D-6E8A-4147-A177-3AD203B41FA5}">
                          <a16:colId xmlns:a16="http://schemas.microsoft.com/office/drawing/2014/main" val="1191338855"/>
                        </a:ext>
                      </a:extLst>
                    </a:gridCol>
                    <a:gridCol w="1119171">
                      <a:extLst>
                        <a:ext uri="{9D8B030D-6E8A-4147-A177-3AD203B41FA5}">
                          <a16:colId xmlns:a16="http://schemas.microsoft.com/office/drawing/2014/main" val="257317617"/>
                        </a:ext>
                      </a:extLst>
                    </a:gridCol>
                    <a:gridCol w="4468881">
                      <a:extLst>
                        <a:ext uri="{9D8B030D-6E8A-4147-A177-3AD203B41FA5}">
                          <a16:colId xmlns:a16="http://schemas.microsoft.com/office/drawing/2014/main" val="17587450"/>
                        </a:ext>
                      </a:extLst>
                    </a:gridCol>
                  </a:tblGrid>
                  <a:tr h="442118">
                    <a:tc gridSpan="2"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TW" sz="2000" b="1" kern="100" dirty="0"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Cases</a:t>
                          </a:r>
                          <a:endParaRPr lang="zh-TW" sz="2000" b="1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TW" sz="2000" b="1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2D Kolmogorov flow</a:t>
                          </a:r>
                          <a:endParaRPr lang="zh-TW" sz="2000" b="1" kern="100" dirty="0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rgbClr val="F0F0F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3D Channel flow</a:t>
                          </a:r>
                          <a:endParaRPr lang="zh-TW" altLang="en-US" dirty="0"/>
                        </a:p>
                      </a:txBody>
                      <a:tcPr marL="68580" marR="68580" marT="0" marB="0" anchor="ctr">
                        <a:solidFill>
                          <a:srgbClr val="F0F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8234313"/>
                      </a:ext>
                    </a:extLst>
                  </a:tr>
                  <a:tr h="442118">
                    <a:tc gridSpan="2"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Reynold Number</a:t>
                          </a:r>
                          <a:endParaRPr lang="zh-TW" sz="20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TW" sz="1800" kern="100" dirty="0"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50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TW" sz="1800" kern="100" dirty="0"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100</a:t>
                          </a:r>
                          <a:endParaRPr lang="zh-TW" altLang="en-US" sz="18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TW" sz="1800" kern="100" dirty="0"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500</a:t>
                          </a:r>
                          <a:endParaRPr lang="zh-TW" altLang="en-US" sz="18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59375" t="-102857" r="-568" b="-66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9289197"/>
                      </a:ext>
                    </a:extLst>
                  </a:tr>
                  <a:tr h="442118">
                    <a:tc gridSpan="2"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Grid Number</a:t>
                          </a:r>
                          <a:endParaRPr lang="zh-TW" sz="20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32584" t="-202857" r="-595506" b="-56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437500" t="-202857" r="-502273" b="-56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37500" t="-202857" r="-402273" b="-56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kern="100" dirty="0"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2048 x 512 x 1536 </a:t>
                          </a:r>
                          <a:endParaRPr lang="zh-TW" altLang="en-US" sz="2000" dirty="0"/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83103581"/>
                      </a:ext>
                    </a:extLst>
                  </a:tr>
                  <a:tr h="548640">
                    <a:tc rowSpan="5"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TW" sz="2000" kern="100" dirty="0"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Numerical Method</a:t>
                          </a:r>
                          <a:endParaRPr lang="zh-TW" sz="20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Scheme</a:t>
                          </a:r>
                          <a:endParaRPr lang="zh-TW" sz="18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gridSpan="3"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Pseudo-Spectral Method (Fourier-</a:t>
                          </a:r>
                          <a:r>
                            <a:rPr lang="en-US" sz="1800" kern="1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Galerkin</a:t>
                          </a:r>
                          <a:r>
                            <a:rPr lang="en-US" sz="18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TW" sz="28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TW" sz="18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Pseudo-Spectral Method (Fourier-</a:t>
                          </a:r>
                          <a:r>
                            <a:rPr lang="en-US" altLang="zh-TW" sz="1800" kern="1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Galerkin</a:t>
                          </a:r>
                          <a:r>
                            <a:rPr lang="en-US" altLang="zh-TW" sz="18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TW" altLang="zh-TW" sz="2800" kern="100" dirty="0"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487783835"/>
                      </a:ext>
                    </a:extLst>
                  </a:tr>
                  <a:tr h="548640"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TW" sz="1800" kern="100" dirty="0"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Time Stepping</a:t>
                          </a:r>
                          <a:endParaRPr lang="zh-TW" sz="18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gridSpan="3"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Semi-implicit Euler (viscous implicit, nonlinear explicit)</a:t>
                          </a:r>
                          <a:endParaRPr lang="zh-TW" sz="28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TW" sz="1800" kern="100" dirty="0"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3rd-order Runge-</a:t>
                          </a:r>
                          <a:r>
                            <a:rPr lang="en-US" altLang="zh-TW" sz="1800" kern="100" dirty="0" err="1"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Kutta</a:t>
                          </a:r>
                          <a:r>
                            <a:rPr lang="en-US" altLang="zh-TW" sz="1800" kern="100" dirty="0"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(RK3) </a:t>
                          </a:r>
                          <a:endParaRPr lang="zh-TW" sz="18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029232711"/>
                      </a:ext>
                    </a:extLst>
                  </a:tr>
                  <a:tr h="442118"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TW" sz="1800" kern="100" dirty="0"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Spatial Basis</a:t>
                          </a:r>
                          <a:endParaRPr lang="zh-TW" sz="18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gridSpan="3"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Fourier Series (Double Periodic) </a:t>
                          </a:r>
                          <a:endParaRPr lang="zh-TW" sz="28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59375" t="-548571" r="-568" b="-2142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88598851"/>
                      </a:ext>
                    </a:extLst>
                  </a:tr>
                  <a:tr h="442118"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Dealiasing</a:t>
                          </a:r>
                          <a:endParaRPr lang="zh-TW" sz="18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gridSpan="3"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  <a:tabLst>
                              <a:tab pos="1847850" algn="l"/>
                            </a:tabLst>
                          </a:pPr>
                          <a:r>
                            <a:rPr lang="en-US" sz="18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2/3 Rule</a:t>
                          </a:r>
                          <a:endParaRPr lang="zh-TW" sz="28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  <a:tabLst>
                              <a:tab pos="1847850" algn="l"/>
                            </a:tabLst>
                          </a:pPr>
                          <a:r>
                            <a:rPr lang="en-US" altLang="zh-TW" sz="1800" kern="100" dirty="0"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3/2 Rule</a:t>
                          </a:r>
                          <a:endParaRPr lang="zh-TW" sz="18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824622861"/>
                      </a:ext>
                    </a:extLst>
                  </a:tr>
                  <a:tr h="442118"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Pressure</a:t>
                          </a:r>
                          <a:endParaRPr lang="zh-TW" sz="18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gridSpan="3"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Spectral Projection (Poisson) </a:t>
                          </a:r>
                          <a:endParaRPr lang="zh-TW" sz="28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TW" sz="1800" kern="100" dirty="0"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Spectral Projection (Influence Matrix) </a:t>
                          </a:r>
                          <a:endParaRPr lang="zh-TW" sz="18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11471950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" name="圖片 5" descr="一張含有 螢幕擷取畫面, 文字 的圖片  AI 產生的內容可能不正確。">
            <a:extLst>
              <a:ext uri="{FF2B5EF4-FFF2-40B4-BE49-F238E27FC236}">
                <a16:creationId xmlns:a16="http://schemas.microsoft.com/office/drawing/2014/main" id="{40A6B361-7999-FB2D-97E2-C610E1FF08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7" t="15459" r="6809" b="30719"/>
          <a:stretch>
            <a:fillRect/>
          </a:stretch>
        </p:blipFill>
        <p:spPr>
          <a:xfrm>
            <a:off x="7142656" y="5149194"/>
            <a:ext cx="3866323" cy="765313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31A45D14-1BB9-640A-8692-730CB9EA90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8813" y="4952213"/>
            <a:ext cx="1310958" cy="13178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3D7CD913-60AE-101C-4E9C-780FC92A7986}"/>
                  </a:ext>
                </a:extLst>
              </p:cNvPr>
              <p:cNvSpPr txBox="1"/>
              <p:nvPr/>
            </p:nvSpPr>
            <p:spPr>
              <a:xfrm>
                <a:off x="616102" y="5149194"/>
                <a:ext cx="2823658" cy="10325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dirty="0"/>
                  <a:t>Reynold number definition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Re</m:t>
                      </m:r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 =</m:t>
                      </m:r>
                      <m:rad>
                        <m:radPr>
                          <m:degHide m:val="on"/>
                          <m:ctrlP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𝐺𝑟</m:t>
                          </m:r>
                        </m:e>
                      </m:rad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kumimoji="1"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kumimoji="1"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TW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kumimoji="1" lang="en-US" altLang="zh-TW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rad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 </m:t>
                          </m:r>
                        </m:num>
                        <m:den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𝜈</m:t>
                          </m:r>
                          <m:sSup>
                            <m:sSupPr>
                              <m:ctrlPr>
                                <a:rPr kumimoji="1"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TW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f>
                                <m:fPr>
                                  <m:type m:val="skw"/>
                                  <m:ctrlPr>
                                    <a:rPr kumimoji="1"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TW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1" lang="en-US" altLang="zh-TW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</m:den>
                      </m:f>
                    </m:oMath>
                  </m:oMathPara>
                </a14:m>
                <a:endParaRPr kumimoji="1" lang="zh-TW" altLang="en-US" dirty="0"/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3D7CD913-60AE-101C-4E9C-780FC92A79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102" y="5149194"/>
                <a:ext cx="2823658" cy="1032527"/>
              </a:xfrm>
              <a:prstGeom prst="rect">
                <a:avLst/>
              </a:prstGeom>
              <a:blipFill>
                <a:blip r:embed="rId6"/>
                <a:stretch>
                  <a:fillRect l="-1794" t="-2439" b="-5609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線箭頭接點 7">
            <a:extLst>
              <a:ext uri="{FF2B5EF4-FFF2-40B4-BE49-F238E27FC236}">
                <a16:creationId xmlns:a16="http://schemas.microsoft.com/office/drawing/2014/main" id="{B5488594-56A3-0EE3-C1C7-094E3C6B4179}"/>
              </a:ext>
            </a:extLst>
          </p:cNvPr>
          <p:cNvCxnSpPr>
            <a:cxnSpLocks/>
          </p:cNvCxnSpPr>
          <p:nvPr/>
        </p:nvCxnSpPr>
        <p:spPr>
          <a:xfrm flipV="1">
            <a:off x="3110948" y="1989438"/>
            <a:ext cx="1301697" cy="315975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85847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3F8F1-DA83-4035-D618-BDDDF30D5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13">
            <a:extLst>
              <a:ext uri="{FF2B5EF4-FFF2-40B4-BE49-F238E27FC236}">
                <a16:creationId xmlns:a16="http://schemas.microsoft.com/office/drawing/2014/main" id="{AFFF9E6B-BE31-2E0C-8C3E-5E3E2B30D175}"/>
              </a:ext>
            </a:extLst>
          </p:cNvPr>
          <p:cNvSpPr/>
          <p:nvPr/>
        </p:nvSpPr>
        <p:spPr>
          <a:xfrm>
            <a:off x="-1" y="418624"/>
            <a:ext cx="12191999" cy="535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GB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Low-fidelity Data Preparation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E6FD377-7868-6C0F-1B84-AF4CD983AFA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4156263"/>
                  </p:ext>
                </p:extLst>
              </p:nvPr>
            </p:nvGraphicFramePr>
            <p:xfrm>
              <a:off x="377626" y="1734838"/>
              <a:ext cx="11575895" cy="3853108"/>
            </p:xfrm>
            <a:graphic>
              <a:graphicData uri="http://schemas.openxmlformats.org/drawingml/2006/table">
                <a:tbl>
                  <a:tblPr firstRow="1" firstCol="1" bandRow="1">
                    <a:tableStyleId>{F5AB1C69-6EDB-4FF4-983F-18BD219EF322}</a:tableStyleId>
                  </a:tblPr>
                  <a:tblGrid>
                    <a:gridCol w="1520867">
                      <a:extLst>
                        <a:ext uri="{9D8B030D-6E8A-4147-A177-3AD203B41FA5}">
                          <a16:colId xmlns:a16="http://schemas.microsoft.com/office/drawing/2014/main" val="2800461999"/>
                        </a:ext>
                      </a:extLst>
                    </a:gridCol>
                    <a:gridCol w="2228634">
                      <a:extLst>
                        <a:ext uri="{9D8B030D-6E8A-4147-A177-3AD203B41FA5}">
                          <a16:colId xmlns:a16="http://schemas.microsoft.com/office/drawing/2014/main" val="1494406760"/>
                        </a:ext>
                      </a:extLst>
                    </a:gridCol>
                    <a:gridCol w="1119171">
                      <a:extLst>
                        <a:ext uri="{9D8B030D-6E8A-4147-A177-3AD203B41FA5}">
                          <a16:colId xmlns:a16="http://schemas.microsoft.com/office/drawing/2014/main" val="1603345236"/>
                        </a:ext>
                      </a:extLst>
                    </a:gridCol>
                    <a:gridCol w="1119171">
                      <a:extLst>
                        <a:ext uri="{9D8B030D-6E8A-4147-A177-3AD203B41FA5}">
                          <a16:colId xmlns:a16="http://schemas.microsoft.com/office/drawing/2014/main" val="1191338855"/>
                        </a:ext>
                      </a:extLst>
                    </a:gridCol>
                    <a:gridCol w="1119171">
                      <a:extLst>
                        <a:ext uri="{9D8B030D-6E8A-4147-A177-3AD203B41FA5}">
                          <a16:colId xmlns:a16="http://schemas.microsoft.com/office/drawing/2014/main" val="257317617"/>
                        </a:ext>
                      </a:extLst>
                    </a:gridCol>
                    <a:gridCol w="4468881">
                      <a:extLst>
                        <a:ext uri="{9D8B030D-6E8A-4147-A177-3AD203B41FA5}">
                          <a16:colId xmlns:a16="http://schemas.microsoft.com/office/drawing/2014/main" val="17587450"/>
                        </a:ext>
                      </a:extLst>
                    </a:gridCol>
                  </a:tblGrid>
                  <a:tr h="550444">
                    <a:tc gridSpan="2"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TW" sz="2000" b="1" kern="100" dirty="0"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Cases</a:t>
                          </a:r>
                          <a:endParaRPr lang="zh-TW" sz="2000" b="1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TW" sz="2000" b="1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2D Kolmogorov flow</a:t>
                          </a:r>
                          <a:endParaRPr lang="zh-TW" sz="2000" b="1" kern="100" dirty="0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rgbClr val="F0F0F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3D Channel flow</a:t>
                          </a:r>
                          <a:endParaRPr lang="zh-TW" altLang="en-US" dirty="0"/>
                        </a:p>
                      </a:txBody>
                      <a:tcPr marL="68580" marR="68580" marT="0" marB="0" anchor="ctr">
                        <a:solidFill>
                          <a:srgbClr val="F0F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8234313"/>
                      </a:ext>
                    </a:extLst>
                  </a:tr>
                  <a:tr h="550444">
                    <a:tc gridSpan="2"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Reynold Number</a:t>
                          </a:r>
                          <a:endParaRPr lang="zh-TW" sz="20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TW" sz="1800" kern="100" dirty="0"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50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TW" sz="1800" kern="100" dirty="0"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100</a:t>
                          </a:r>
                          <a:endParaRPr lang="zh-TW" altLang="en-US" sz="18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TW" sz="1800" kern="100" dirty="0"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500</a:t>
                          </a:r>
                          <a:endParaRPr lang="zh-TW" altLang="en-US" sz="18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i="1" kern="100" dirty="0" smtClean="0"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𝑅</m:t>
                                </m:r>
                                <m:sSub>
                                  <m:sSubPr>
                                    <m:ctrlPr>
                                      <a:rPr lang="en-US" altLang="zh-TW" sz="180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zh-TW" sz="180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𝜏</m:t>
                                    </m:r>
                                  </m:sub>
                                </m:sSub>
                                <m:r>
                                  <a:rPr lang="en-US" altLang="zh-TW" sz="1800" i="1" kern="100" dirty="0" smtClean="0"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=1000≈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1800" b="0" i="1" kern="100" dirty="0" smtClean="0"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Re</m:t>
                                </m:r>
                                <m:r>
                                  <a:rPr lang="en-US" altLang="zh-TW" sz="1800" b="0" i="1" kern="100" dirty="0" smtClean="0"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 =39998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99289197"/>
                      </a:ext>
                    </a:extLst>
                  </a:tr>
                  <a:tr h="550444">
                    <a:tc gridSpan="2"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Grid Number</a:t>
                          </a:r>
                          <a:endParaRPr lang="zh-TW" sz="20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800" i="1" kern="100" dirty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kern="100" dirty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64</m:t>
                                    </m:r>
                                  </m:e>
                                  <m:sup>
                                    <m:r>
                                      <a:rPr lang="en-US" sz="1800" i="1" kern="100" dirty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800" kern="1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kern="100" dirty="0"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128 x 64 x 128</a:t>
                          </a:r>
                          <a:endParaRPr lang="zh-TW" altLang="en-US" dirty="0"/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83103581"/>
                      </a:ext>
                    </a:extLst>
                  </a:tr>
                  <a:tr h="550444">
                    <a:tc rowSpan="4"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TW" sz="2000" kern="100" dirty="0"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Numerical Method</a:t>
                          </a:r>
                          <a:endParaRPr lang="zh-TW" sz="20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Scheme</a:t>
                          </a:r>
                          <a:endParaRPr lang="zh-TW" sz="18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gridSpan="3"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TW" sz="18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Pseudo-Spectral Method (Fourier-</a:t>
                          </a:r>
                          <a:r>
                            <a:rPr lang="en-US" altLang="zh-TW" sz="1800" kern="1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Galerkin</a:t>
                          </a:r>
                          <a:r>
                            <a:rPr lang="en-US" altLang="zh-TW" sz="18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TW" altLang="zh-TW" sz="2800" kern="100" dirty="0"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TW" sz="1800" kern="100" dirty="0"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Finite Volume Method (SIMPLE)</a:t>
                          </a:r>
                          <a:endParaRPr lang="zh-TW" altLang="zh-TW" sz="1800" kern="100" dirty="0"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487783835"/>
                      </a:ext>
                    </a:extLst>
                  </a:tr>
                  <a:tr h="550444"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TW" sz="1800" kern="100" dirty="0"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Time Stepping</a:t>
                          </a:r>
                          <a:endParaRPr lang="zh-TW" sz="18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gridSpan="3"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TW" sz="1800" kern="100" dirty="0"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Semi-implicit Euler</a:t>
                          </a:r>
                          <a:endParaRPr lang="zh-TW" altLang="zh-TW" sz="1800" kern="100" dirty="0"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TW" sz="1800" kern="100" dirty="0"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Steady-state</a:t>
                          </a:r>
                          <a:endParaRPr lang="zh-TW" altLang="zh-TW" sz="1800" kern="100" dirty="0"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607920442"/>
                      </a:ext>
                    </a:extLst>
                  </a:tr>
                  <a:tr h="550444"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TW" sz="1800" kern="100" dirty="0"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Turbulence Model</a:t>
                          </a:r>
                          <a:endParaRPr lang="zh-TW" sz="18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gridSpan="3"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TW" sz="1800" kern="100" dirty="0"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Leith SGS Model</a:t>
                          </a:r>
                          <a:endParaRPr lang="zh-TW" altLang="zh-TW" sz="1800" kern="100" dirty="0"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TW" sz="1800" kern="100" dirty="0"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k-</a:t>
                          </a:r>
                          <a:r>
                            <a:rPr lang="el-GR" altLang="zh-TW" sz="1800" kern="100" dirty="0"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ω </a:t>
                          </a:r>
                          <a:r>
                            <a:rPr lang="en-US" altLang="zh-TW" sz="1800" kern="100" dirty="0"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SST (RANS)</a:t>
                          </a:r>
                          <a:endParaRPr lang="zh-TW" altLang="zh-TW" sz="1800" kern="100" dirty="0"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521508634"/>
                      </a:ext>
                    </a:extLst>
                  </a:tr>
                  <a:tr h="550444"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TW" sz="1800" kern="100" dirty="0"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Solver</a:t>
                          </a:r>
                          <a:endParaRPr lang="zh-TW" sz="18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gridSpan="3"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Pseudo-Spectral code</a:t>
                          </a:r>
                          <a:endParaRPr lang="zh-TW" sz="28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TW" sz="1800" kern="100" dirty="0"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ANSYS Fluent 22.1</a:t>
                          </a:r>
                          <a:endParaRPr lang="zh-TW" sz="18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0292327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E6FD377-7868-6C0F-1B84-AF4CD983AFA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4156263"/>
                  </p:ext>
                </p:extLst>
              </p:nvPr>
            </p:nvGraphicFramePr>
            <p:xfrm>
              <a:off x="377626" y="1734838"/>
              <a:ext cx="11575895" cy="3853108"/>
            </p:xfrm>
            <a:graphic>
              <a:graphicData uri="http://schemas.openxmlformats.org/drawingml/2006/table">
                <a:tbl>
                  <a:tblPr firstRow="1" firstCol="1" bandRow="1">
                    <a:tableStyleId>{F5AB1C69-6EDB-4FF4-983F-18BD219EF322}</a:tableStyleId>
                  </a:tblPr>
                  <a:tblGrid>
                    <a:gridCol w="1520867">
                      <a:extLst>
                        <a:ext uri="{9D8B030D-6E8A-4147-A177-3AD203B41FA5}">
                          <a16:colId xmlns:a16="http://schemas.microsoft.com/office/drawing/2014/main" val="2800461999"/>
                        </a:ext>
                      </a:extLst>
                    </a:gridCol>
                    <a:gridCol w="2228634">
                      <a:extLst>
                        <a:ext uri="{9D8B030D-6E8A-4147-A177-3AD203B41FA5}">
                          <a16:colId xmlns:a16="http://schemas.microsoft.com/office/drawing/2014/main" val="1494406760"/>
                        </a:ext>
                      </a:extLst>
                    </a:gridCol>
                    <a:gridCol w="1119171">
                      <a:extLst>
                        <a:ext uri="{9D8B030D-6E8A-4147-A177-3AD203B41FA5}">
                          <a16:colId xmlns:a16="http://schemas.microsoft.com/office/drawing/2014/main" val="1603345236"/>
                        </a:ext>
                      </a:extLst>
                    </a:gridCol>
                    <a:gridCol w="1119171">
                      <a:extLst>
                        <a:ext uri="{9D8B030D-6E8A-4147-A177-3AD203B41FA5}">
                          <a16:colId xmlns:a16="http://schemas.microsoft.com/office/drawing/2014/main" val="1191338855"/>
                        </a:ext>
                      </a:extLst>
                    </a:gridCol>
                    <a:gridCol w="1119171">
                      <a:extLst>
                        <a:ext uri="{9D8B030D-6E8A-4147-A177-3AD203B41FA5}">
                          <a16:colId xmlns:a16="http://schemas.microsoft.com/office/drawing/2014/main" val="257317617"/>
                        </a:ext>
                      </a:extLst>
                    </a:gridCol>
                    <a:gridCol w="4468881">
                      <a:extLst>
                        <a:ext uri="{9D8B030D-6E8A-4147-A177-3AD203B41FA5}">
                          <a16:colId xmlns:a16="http://schemas.microsoft.com/office/drawing/2014/main" val="17587450"/>
                        </a:ext>
                      </a:extLst>
                    </a:gridCol>
                  </a:tblGrid>
                  <a:tr h="550444">
                    <a:tc gridSpan="2"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TW" sz="2000" b="1" kern="100" dirty="0"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Cases</a:t>
                          </a:r>
                          <a:endParaRPr lang="zh-TW" sz="2000" b="1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TW" sz="2000" b="1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2D Kolmogorov flow</a:t>
                          </a:r>
                          <a:endParaRPr lang="zh-TW" sz="2000" b="1" kern="100" dirty="0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rgbClr val="F0F0F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3D Channel flow</a:t>
                          </a:r>
                          <a:endParaRPr lang="zh-TW" altLang="en-US" dirty="0"/>
                        </a:p>
                      </a:txBody>
                      <a:tcPr marL="68580" marR="68580" marT="0" marB="0" anchor="ctr">
                        <a:solidFill>
                          <a:srgbClr val="F0F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8234313"/>
                      </a:ext>
                    </a:extLst>
                  </a:tr>
                  <a:tr h="550444">
                    <a:tc gridSpan="2"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Reynold Number</a:t>
                          </a:r>
                          <a:endParaRPr lang="zh-TW" sz="20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TW" sz="1800" kern="100" dirty="0"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50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TW" sz="1800" kern="100" dirty="0"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100</a:t>
                          </a:r>
                          <a:endParaRPr lang="zh-TW" altLang="en-US" sz="18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TW" sz="1800" kern="100" dirty="0"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500</a:t>
                          </a:r>
                          <a:endParaRPr lang="zh-TW" altLang="en-US" sz="18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59659" t="-100000" r="-568" b="-497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9289197"/>
                      </a:ext>
                    </a:extLst>
                  </a:tr>
                  <a:tr h="550444">
                    <a:tc gridSpan="2"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Grid Number</a:t>
                          </a:r>
                          <a:endParaRPr lang="zh-TW" sz="20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12075" t="-204651" r="-133585" b="-409302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kern="100" dirty="0"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128 x 64 x 128</a:t>
                          </a:r>
                          <a:endParaRPr lang="zh-TW" altLang="en-US" dirty="0"/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83103581"/>
                      </a:ext>
                    </a:extLst>
                  </a:tr>
                  <a:tr h="550444">
                    <a:tc rowSpan="4"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TW" sz="2000" kern="100" dirty="0"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Numerical Method</a:t>
                          </a:r>
                          <a:endParaRPr lang="zh-TW" sz="20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Scheme</a:t>
                          </a:r>
                          <a:endParaRPr lang="zh-TW" sz="18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gridSpan="3"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TW" sz="18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Pseudo-Spectral Method (Fourier-</a:t>
                          </a:r>
                          <a:r>
                            <a:rPr lang="en-US" altLang="zh-TW" sz="1800" kern="1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Galerkin</a:t>
                          </a:r>
                          <a:r>
                            <a:rPr lang="en-US" altLang="zh-TW" sz="18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TW" altLang="zh-TW" sz="2800" kern="100" dirty="0"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TW" sz="1800" kern="100" dirty="0"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Finite Volume Method (SIMPLE)</a:t>
                          </a:r>
                          <a:endParaRPr lang="zh-TW" altLang="zh-TW" sz="1800" kern="100" dirty="0"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487783835"/>
                      </a:ext>
                    </a:extLst>
                  </a:tr>
                  <a:tr h="550444"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TW" sz="1800" kern="100" dirty="0"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Time Stepping</a:t>
                          </a:r>
                          <a:endParaRPr lang="zh-TW" sz="18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gridSpan="3"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TW" sz="1800" kern="100" dirty="0"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Semi-implicit Euler</a:t>
                          </a:r>
                          <a:endParaRPr lang="zh-TW" altLang="zh-TW" sz="1800" kern="100" dirty="0"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TW" sz="1800" kern="100" dirty="0"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Steady-state</a:t>
                          </a:r>
                          <a:endParaRPr lang="zh-TW" altLang="zh-TW" sz="1800" kern="100" dirty="0"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607920442"/>
                      </a:ext>
                    </a:extLst>
                  </a:tr>
                  <a:tr h="550444"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TW" sz="1800" kern="100" dirty="0"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Turbulence Model</a:t>
                          </a:r>
                          <a:endParaRPr lang="zh-TW" sz="18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gridSpan="3"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TW" sz="1800" kern="100" dirty="0"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Leith SGS Model</a:t>
                          </a:r>
                          <a:endParaRPr lang="zh-TW" altLang="zh-TW" sz="1800" kern="100" dirty="0"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TW" sz="1800" kern="100" dirty="0"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k-</a:t>
                          </a:r>
                          <a:r>
                            <a:rPr lang="el-GR" altLang="zh-TW" sz="1800" kern="100" dirty="0"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ω </a:t>
                          </a:r>
                          <a:r>
                            <a:rPr lang="en-US" altLang="zh-TW" sz="1800" kern="100" dirty="0"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SST (RANS)</a:t>
                          </a:r>
                          <a:endParaRPr lang="zh-TW" altLang="zh-TW" sz="1800" kern="100" dirty="0"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521508634"/>
                      </a:ext>
                    </a:extLst>
                  </a:tr>
                  <a:tr h="550444">
                    <a:tc v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TW" sz="1800" kern="100" dirty="0"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Solver</a:t>
                          </a:r>
                          <a:endParaRPr lang="zh-TW" sz="18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gridSpan="3"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Pseudo-Spectral code</a:t>
                          </a:r>
                          <a:endParaRPr lang="zh-TW" sz="28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altLang="zh-TW" sz="1800" kern="100" dirty="0"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ANSYS Fluent 22.1</a:t>
                          </a:r>
                          <a:endParaRPr lang="zh-TW" sz="18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02923271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980409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13">
            <a:extLst>
              <a:ext uri="{FF2B5EF4-FFF2-40B4-BE49-F238E27FC236}">
                <a16:creationId xmlns:a16="http://schemas.microsoft.com/office/drawing/2014/main" id="{D272E813-7F8C-4B0A-8A2E-DD9002E097DC}"/>
              </a:ext>
            </a:extLst>
          </p:cNvPr>
          <p:cNvSpPr/>
          <p:nvPr/>
        </p:nvSpPr>
        <p:spPr>
          <a:xfrm>
            <a:off x="-1" y="418624"/>
            <a:ext cx="12191999" cy="535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GB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2D Kolmogorov Flow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7E53CB9-D47E-4EC7-905E-F1C28BEE420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37520873"/>
                  </p:ext>
                </p:extLst>
              </p:nvPr>
            </p:nvGraphicFramePr>
            <p:xfrm>
              <a:off x="1162564" y="1451114"/>
              <a:ext cx="9866871" cy="427992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2445513">
                      <a:extLst>
                        <a:ext uri="{9D8B030D-6E8A-4147-A177-3AD203B41FA5}">
                          <a16:colId xmlns:a16="http://schemas.microsoft.com/office/drawing/2014/main" val="2596525262"/>
                        </a:ext>
                      </a:extLst>
                    </a:gridCol>
                    <a:gridCol w="7421358">
                      <a:extLst>
                        <a:ext uri="{9D8B030D-6E8A-4147-A177-3AD203B41FA5}">
                          <a16:colId xmlns:a16="http://schemas.microsoft.com/office/drawing/2014/main" val="2935440286"/>
                        </a:ext>
                      </a:extLst>
                    </a:gridCol>
                  </a:tblGrid>
                  <a:tr h="647003">
                    <a:tc>
                      <a:txBody>
                        <a:bodyPr/>
                        <a:lstStyle/>
                        <a:p>
                          <a:endParaRPr lang="zh-TW" altLang="en-US" sz="200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+mn-lt"/>
                              <a:cs typeface="Times New Roman" panose="02020603050405020304" pitchFamily="18" charset="0"/>
                            </a:rPr>
                            <a:t>Governing Equation</a:t>
                          </a:r>
                          <a:endParaRPr lang="zh-TW" altLang="en-US" sz="200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33336105"/>
                      </a:ext>
                    </a:extLst>
                  </a:tr>
                  <a:tr h="9465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</a:rPr>
                            <a:t>Continuity</a:t>
                          </a:r>
                          <a:endParaRPr lang="zh-TW" altLang="en-US" sz="200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zh-TW" altLang="zh-TW" sz="200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000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 sz="2000" b="0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ρ</m:t>
                                    </m:r>
                                  </m:num>
                                  <m:den>
                                    <m:r>
                                      <a:rPr lang="en-US" altLang="zh-TW" sz="2000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zh-TW" sz="2000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den>
                                </m:f>
                                <m:r>
                                  <a:rPr lang="en-US" altLang="zh-TW" sz="200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TW" sz="2000" b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𝛁</m:t>
                                </m:r>
                                <m:r>
                                  <a:rPr lang="en-US" altLang="zh-TW" sz="200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d>
                                  <m:dPr>
                                    <m:ctrlPr>
                                      <a:rPr lang="zh-TW" altLang="zh-TW" sz="2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2000" b="0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ρ</m:t>
                                    </m:r>
                                    <m:r>
                                      <a:rPr lang="en-US" altLang="zh-TW" sz="2000" b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𝒖</m:t>
                                    </m:r>
                                  </m:e>
                                </m:d>
                                <m:r>
                                  <a:rPr lang="en-US" altLang="zh-TW" sz="200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TW" sz="2000" b="0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TW" altLang="en-US" sz="200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18961323"/>
                      </a:ext>
                    </a:extLst>
                  </a:tr>
                  <a:tr h="1716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</a:rPr>
                            <a:t>Momentum</a:t>
                          </a:r>
                          <a:endParaRPr lang="zh-TW" altLang="en-US" sz="200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zh-TW" altLang="zh-TW" sz="200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000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TW" sz="20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0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e>
                                    </m:acc>
                                  </m:num>
                                  <m:den>
                                    <m:r>
                                      <a:rPr lang="en-US" altLang="zh-TW" sz="2000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zh-TW" sz="2000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den>
                                </m:f>
                                <m:r>
                                  <a:rPr lang="en-US" altLang="zh-TW" sz="200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altLang="zh-TW" sz="20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2000" b="0" i="0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TW" sz="2000" b="0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</m:acc>
                                <m:r>
                                  <a:rPr lang="en-US" altLang="zh-TW" sz="2000" b="0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altLang="zh-TW" sz="2000" b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𝜵</m:t>
                                </m:r>
                                <m:r>
                                  <a:rPr lang="en-US" altLang="zh-TW" sz="2000" b="0" i="0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US" altLang="zh-TW" sz="200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altLang="zh-TW" sz="20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2000" b="0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</m:acc>
                                <m:r>
                                  <a:rPr lang="en-US" altLang="zh-TW" sz="200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TW" sz="2000" b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TW" sz="2000" b="1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000" b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n-US" altLang="zh-TW" sz="2000" b="1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ρ</m:t>
                                    </m:r>
                                  </m:den>
                                </m:f>
                                <m:r>
                                  <a:rPr lang="en-US" altLang="zh-TW" sz="2000" b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𝜵</m:t>
                                </m:r>
                                <m:r>
                                  <a:rPr lang="en-US" altLang="zh-TW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altLang="zh-TW" sz="200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TW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𝜈</m:t>
                                </m:r>
                                <m:sSup>
                                  <m:sSupPr>
                                    <m:ctrlPr>
                                      <a:rPr lang="en-US" altLang="zh-TW" sz="20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2000" b="0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∇</m:t>
                                    </m:r>
                                  </m:e>
                                  <m:sup>
                                    <m:r>
                                      <a:rPr lang="en-US" altLang="zh-TW" sz="2000" b="0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acc>
                                  <m:accPr>
                                    <m:chr m:val="⃗"/>
                                    <m:ctrlPr>
                                      <a:rPr lang="en-US" altLang="zh-TW" sz="20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2000" b="0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</m:acc>
                                <m:r>
                                  <a:rPr lang="en-US" altLang="zh-TW" sz="2000" b="0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f</m:t>
                                </m:r>
                              </m:oMath>
                            </m:oMathPara>
                          </a14:m>
                          <a:endParaRPr lang="en-US" altLang="zh-TW" sz="2000" b="0" i="0" kern="1200" dirty="0">
                            <a:solidFill>
                              <a:schemeClr val="dk1"/>
                            </a:solidFill>
                            <a:effectLst/>
                            <a:latin typeface="Cambria Math" panose="02040503050406030204" pitchFamily="18" charset="0"/>
                          </a:endParaRPr>
                        </a:p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TW" sz="2000" b="0" i="0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f</m:t>
                                </m:r>
                                <m:r>
                                  <a:rPr lang="en-US" altLang="zh-TW" sz="2000" b="0" i="0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2000" b="0" i="0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r>
                                  <a:rPr lang="en-US" altLang="zh-TW" sz="2000" b="0" i="0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2000" b="0" i="0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  <m:r>
                                  <a:rPr lang="en-US" altLang="zh-TW" sz="2000" b="0" i="0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) =(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2000" b="0" i="0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F</m:t>
                                </m:r>
                                <m:r>
                                  <a:rPr lang="en-US" altLang="zh-TW" sz="2000" b="0" i="0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2000" b="0" i="0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US" altLang="zh-TW" sz="2000" b="0" i="0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2000" b="0" i="0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  <m:r>
                                  <a:rPr lang="en-US" altLang="zh-TW" sz="2000" b="0" i="0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), 0)</m:t>
                                </m:r>
                              </m:oMath>
                            </m:oMathPara>
                          </a14:m>
                          <a:endParaRPr lang="en-US" altLang="zh-TW" sz="2000" kern="100" dirty="0">
                            <a:effectLst/>
                            <a:latin typeface="+mn-lt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endParaRPr lang="en-US" altLang="zh-TW" sz="2000" kern="100" dirty="0">
                            <a:effectLst/>
                            <a:latin typeface="+mn-lt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799630122"/>
                      </a:ext>
                    </a:extLst>
                  </a:tr>
                  <a:tr h="969416">
                    <a:tc>
                      <a:txBody>
                        <a:bodyPr/>
                        <a:lstStyle/>
                        <a:p>
                          <a:pPr algn="ctr"/>
                          <a:endParaRPr lang="en-US" altLang="zh-TW" dirty="0"/>
                        </a:p>
                        <a:p>
                          <a:pPr algn="ctr"/>
                          <a:r>
                            <a:rPr lang="en-US" altLang="zh-TW" sz="2000" dirty="0"/>
                            <a:t>Boundary Condition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000" b="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TW" sz="2000" b="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新細明體" panose="02020500000000000000" pitchFamily="18" charset="-12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新細明體" panose="02020500000000000000" pitchFamily="18" charset="-120"/>
                                            <a:cs typeface="Times New Roman" panose="02020603050405020304" pitchFamily="18" charset="0"/>
                                          </a:rPr>
                                          <m:t>𝑉</m:t>
                                        </m:r>
                                      </m:e>
                                    </m:acc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zh-TW" sz="2000" b="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新細明體" panose="02020500000000000000" pitchFamily="18" charset="-12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b="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新細明體" panose="02020500000000000000" pitchFamily="18" charset="-12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TW" sz="2000" b="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新細明體" panose="02020500000000000000" pitchFamily="18" charset="-120"/>
                                            <a:cs typeface="Times New Roman" panose="02020603050405020304" pitchFamily="18" charset="0"/>
                                          </a:rPr>
                                          <m:t>𝑚𝑎𝑥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altLang="zh-TW" sz="2000" i="1" kern="100" dirty="0" smtClean="0"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TW" sz="2000" b="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TW" sz="2000" b="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新細明體" panose="02020500000000000000" pitchFamily="18" charset="-12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新細明體" panose="02020500000000000000" pitchFamily="18" charset="-120"/>
                                            <a:cs typeface="Times New Roman" panose="02020603050405020304" pitchFamily="18" charset="0"/>
                                          </a:rPr>
                                          <m:t>𝑉</m:t>
                                        </m:r>
                                      </m:e>
                                    </m:acc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zh-TW" sz="2000" b="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新細明體" panose="02020500000000000000" pitchFamily="18" charset="-12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新細明體" panose="02020500000000000000" pitchFamily="18" charset="-12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TW" sz="200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新細明體" panose="02020500000000000000" pitchFamily="18" charset="-120"/>
                                            <a:cs typeface="Times New Roman" panose="02020603050405020304" pitchFamily="18" charset="0"/>
                                          </a:rPr>
                                          <m:t>𝑚𝑖𝑛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altLang="zh-TW" sz="2000" b="0" i="1" kern="100" dirty="0" smtClean="0"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en-US" altLang="zh-TW" sz="2000" b="0" i="1" kern="100" dirty="0" smtClean="0"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TW" sz="2000" b="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TW" sz="2000" b="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  <m:t>𝑉</m:t>
                                        </m:r>
                                      </m:e>
                                    </m:acc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zh-TW" sz="2000" b="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2000" b="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a:rPr lang="en-US" altLang="zh-TW" sz="2000" b="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  <m:t>𝑚𝑎𝑥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altLang="zh-TW" sz="2000" i="1" kern="100" dirty="0" smtClean="0"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TW" sz="2000" b="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TW" sz="2000" b="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  <m:t>𝑉</m:t>
                                        </m:r>
                                      </m:e>
                                    </m:acc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zh-TW" sz="2000" b="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2000" b="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a:rPr lang="en-US" altLang="zh-TW" sz="200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  <m:t>𝑚𝑖𝑛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altLang="zh-TW" sz="2000" b="0" i="1" kern="100" dirty="0" smtClean="0"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altLang="zh-TW" sz="200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2000" b="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P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zh-TW" sz="200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TW" sz="200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  <m:t>𝑚𝑎𝑥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altLang="zh-TW" sz="2000" i="1" kern="100" dirty="0" smtClean="0"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TW" sz="200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2000" b="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P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zh-TW" sz="200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TW" sz="200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  <m:t>𝑚𝑖𝑛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altLang="zh-TW" sz="2000" b="0" i="1" kern="100" dirty="0" smtClean="0"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TW" sz="200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2000" b="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P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zh-TW" sz="200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2000" b="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a:rPr lang="en-US" altLang="zh-TW" sz="200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  <m:t>𝑚𝑎𝑥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altLang="zh-TW" sz="2000" i="1" kern="100" dirty="0" smtClean="0"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TW" sz="200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2000" b="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P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zh-TW" sz="200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2000" b="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a:rPr lang="en-US" altLang="zh-TW" sz="200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  <m:t>𝑚𝑖𝑛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92470412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7E53CB9-D47E-4EC7-905E-F1C28BEE420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37520873"/>
                  </p:ext>
                </p:extLst>
              </p:nvPr>
            </p:nvGraphicFramePr>
            <p:xfrm>
              <a:off x="1162564" y="1451114"/>
              <a:ext cx="9866871" cy="427992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2445513">
                      <a:extLst>
                        <a:ext uri="{9D8B030D-6E8A-4147-A177-3AD203B41FA5}">
                          <a16:colId xmlns:a16="http://schemas.microsoft.com/office/drawing/2014/main" val="2596525262"/>
                        </a:ext>
                      </a:extLst>
                    </a:gridCol>
                    <a:gridCol w="7421358">
                      <a:extLst>
                        <a:ext uri="{9D8B030D-6E8A-4147-A177-3AD203B41FA5}">
                          <a16:colId xmlns:a16="http://schemas.microsoft.com/office/drawing/2014/main" val="2935440286"/>
                        </a:ext>
                      </a:extLst>
                    </a:gridCol>
                  </a:tblGrid>
                  <a:tr h="647003">
                    <a:tc>
                      <a:txBody>
                        <a:bodyPr/>
                        <a:lstStyle/>
                        <a:p>
                          <a:endParaRPr lang="zh-TW" altLang="en-US" sz="200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+mn-lt"/>
                              <a:cs typeface="Times New Roman" panose="02020603050405020304" pitchFamily="18" charset="0"/>
                            </a:rPr>
                            <a:t>Governing Equation</a:t>
                          </a:r>
                          <a:endParaRPr lang="zh-TW" altLang="en-US" sz="200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33336105"/>
                      </a:ext>
                    </a:extLst>
                  </a:tr>
                  <a:tr h="9465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</a:rPr>
                            <a:t>Continuity</a:t>
                          </a:r>
                          <a:endParaRPr lang="zh-TW" altLang="en-US" sz="200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3162" t="-69333" r="-342" b="-28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18961323"/>
                      </a:ext>
                    </a:extLst>
                  </a:tr>
                  <a:tr h="1716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</a:rPr>
                            <a:t>Momentum</a:t>
                          </a:r>
                          <a:endParaRPr lang="zh-TW" altLang="en-US" sz="200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3162" t="-94074" r="-342" b="-57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9630122"/>
                      </a:ext>
                    </a:extLst>
                  </a:tr>
                  <a:tr h="969416">
                    <a:tc>
                      <a:txBody>
                        <a:bodyPr/>
                        <a:lstStyle/>
                        <a:p>
                          <a:pPr algn="ctr"/>
                          <a:endParaRPr lang="en-US" altLang="zh-TW" dirty="0"/>
                        </a:p>
                        <a:p>
                          <a:pPr algn="ctr"/>
                          <a:r>
                            <a:rPr lang="en-US" altLang="zh-TW" sz="2000" dirty="0"/>
                            <a:t>Boundary Condition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3162" t="-340260" r="-342" b="-12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470412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857972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B8FF6-3204-2BDA-936E-7C2A24EBC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13">
            <a:extLst>
              <a:ext uri="{FF2B5EF4-FFF2-40B4-BE49-F238E27FC236}">
                <a16:creationId xmlns:a16="http://schemas.microsoft.com/office/drawing/2014/main" id="{75EFA6FD-C68D-D0D0-52FD-27B16903B94D}"/>
              </a:ext>
            </a:extLst>
          </p:cNvPr>
          <p:cNvSpPr/>
          <p:nvPr/>
        </p:nvSpPr>
        <p:spPr>
          <a:xfrm>
            <a:off x="-1" y="418624"/>
            <a:ext cx="12191999" cy="535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GB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3D Channel Flow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69A10C3D-82F5-AA36-AEE2-12E741C8613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01553609"/>
                  </p:ext>
                </p:extLst>
              </p:nvPr>
            </p:nvGraphicFramePr>
            <p:xfrm>
              <a:off x="0" y="1053548"/>
              <a:ext cx="12191999" cy="5208106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2421603">
                      <a:extLst>
                        <a:ext uri="{9D8B030D-6E8A-4147-A177-3AD203B41FA5}">
                          <a16:colId xmlns:a16="http://schemas.microsoft.com/office/drawing/2014/main" val="2481834528"/>
                        </a:ext>
                      </a:extLst>
                    </a:gridCol>
                    <a:gridCol w="2421603">
                      <a:extLst>
                        <a:ext uri="{9D8B030D-6E8A-4147-A177-3AD203B41FA5}">
                          <a16:colId xmlns:a16="http://schemas.microsoft.com/office/drawing/2014/main" val="2596525262"/>
                        </a:ext>
                      </a:extLst>
                    </a:gridCol>
                    <a:gridCol w="7348793">
                      <a:extLst>
                        <a:ext uri="{9D8B030D-6E8A-4147-A177-3AD203B41FA5}">
                          <a16:colId xmlns:a16="http://schemas.microsoft.com/office/drawing/2014/main" val="2935440286"/>
                        </a:ext>
                      </a:extLst>
                    </a:gridCol>
                  </a:tblGrid>
                  <a:tr h="496842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+mn-lt"/>
                              <a:cs typeface="Times New Roman" panose="02020603050405020304" pitchFamily="18" charset="0"/>
                            </a:rPr>
                            <a:t>Settings</a:t>
                          </a:r>
                          <a:endParaRPr lang="zh-TW" altLang="en-US" sz="200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TW" altLang="en-US" sz="200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00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33336105"/>
                      </a:ext>
                    </a:extLst>
                  </a:tr>
                  <a:tr h="7268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+mn-lt"/>
                              <a:cs typeface="Times New Roman" panose="02020603050405020304" pitchFamily="18" charset="0"/>
                            </a:rPr>
                            <a:t>Domain size</a:t>
                          </a:r>
                          <a:endParaRPr lang="zh-TW" altLang="en-US" sz="200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8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π</m:t>
                                </m:r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×2×3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π</m:t>
                                </m:r>
                              </m:oMath>
                            </m:oMathPara>
                          </a14:m>
                          <a:endParaRPr lang="zh-TW" altLang="en-US" sz="200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TW" altLang="en-US" sz="200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99355798"/>
                      </a:ext>
                    </a:extLst>
                  </a:tr>
                  <a:tr h="7268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+mn-lt"/>
                              <a:cs typeface="Times New Roman" panose="02020603050405020304" pitchFamily="18" charset="0"/>
                            </a:rPr>
                            <a:t>Grid number</a:t>
                          </a:r>
                          <a:endParaRPr lang="zh-TW" altLang="en-US" sz="200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+mn-lt"/>
                              <a:cs typeface="Times New Roman" panose="02020603050405020304" pitchFamily="18" charset="0"/>
                            </a:rPr>
                            <a:t>2048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×512×1536</m:t>
                              </m:r>
                            </m:oMath>
                          </a14:m>
                          <a:endParaRPr lang="zh-TW" altLang="en-US" sz="200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6791829"/>
                      </a:ext>
                    </a:extLst>
                  </a:tr>
                  <a:tr h="726882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+mn-lt"/>
                              <a:cs typeface="Times New Roman" panose="02020603050405020304" pitchFamily="18" charset="0"/>
                            </a:rPr>
                            <a:t>Governing equation</a:t>
                          </a:r>
                          <a:endParaRPr lang="zh-TW" altLang="en-US" sz="200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</a:rPr>
                            <a:t>Continuity</a:t>
                          </a:r>
                          <a:endParaRPr lang="zh-TW" altLang="en-US" sz="200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zh-TW" altLang="zh-TW" sz="200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000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 sz="2000" b="0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ρ</m:t>
                                    </m:r>
                                  </m:num>
                                  <m:den>
                                    <m:r>
                                      <a:rPr lang="en-US" altLang="zh-TW" sz="2000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zh-TW" sz="2000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den>
                                </m:f>
                                <m:r>
                                  <a:rPr lang="en-US" altLang="zh-TW" sz="200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TW" sz="2000" b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𝛁</m:t>
                                </m:r>
                                <m:r>
                                  <a:rPr lang="en-US" altLang="zh-TW" sz="200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d>
                                  <m:dPr>
                                    <m:ctrlPr>
                                      <a:rPr lang="zh-TW" altLang="zh-TW" sz="2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2000" b="0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ρ</m:t>
                                    </m:r>
                                    <m:r>
                                      <a:rPr lang="en-US" altLang="zh-TW" sz="2000" b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𝒖</m:t>
                                    </m:r>
                                  </m:e>
                                </m:d>
                                <m:r>
                                  <a:rPr lang="en-US" altLang="zh-TW" sz="200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TW" sz="2000" b="0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TW" altLang="en-US" sz="200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18961323"/>
                      </a:ext>
                    </a:extLst>
                  </a:tr>
                  <a:tr h="1481216">
                    <a:tc vMerge="1">
                      <a:txBody>
                        <a:bodyPr/>
                        <a:lstStyle/>
                        <a:p>
                          <a:pPr algn="ctr"/>
                          <a:endParaRPr lang="zh-TW" altLang="en-US" sz="200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</a:rPr>
                            <a:t>Momentum</a:t>
                          </a:r>
                          <a:endParaRPr lang="zh-TW" altLang="en-US" sz="200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zh-TW" altLang="zh-TW" sz="200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000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TW" sz="20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0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e>
                                    </m:acc>
                                  </m:num>
                                  <m:den>
                                    <m:r>
                                      <a:rPr lang="en-US" altLang="zh-TW" sz="2000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zh-TW" sz="2000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den>
                                </m:f>
                                <m:r>
                                  <a:rPr lang="en-US" altLang="zh-TW" sz="200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altLang="zh-TW" sz="20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2000" b="0" i="0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TW" sz="2000" b="0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</m:acc>
                                <m:r>
                                  <a:rPr lang="en-US" altLang="zh-TW" sz="2000" b="0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altLang="zh-TW" sz="2000" b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𝜵</m:t>
                                </m:r>
                                <m:r>
                                  <a:rPr lang="en-US" altLang="zh-TW" sz="2000" b="0" i="0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US" altLang="zh-TW" sz="200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altLang="zh-TW" sz="20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2000" b="0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</m:acc>
                                <m:r>
                                  <a:rPr lang="en-US" altLang="zh-TW" sz="200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TW" sz="2000" b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TW" sz="2000" b="1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000" b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n-US" altLang="zh-TW" sz="2000" b="1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ρ</m:t>
                                    </m:r>
                                  </m:den>
                                </m:f>
                                <m:r>
                                  <a:rPr lang="en-US" altLang="zh-TW" sz="2000" b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𝜵</m:t>
                                </m:r>
                                <m:r>
                                  <a:rPr lang="en-US" altLang="zh-TW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altLang="zh-TW" sz="200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TW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𝜈</m:t>
                                </m:r>
                                <m:sSup>
                                  <m:sSupPr>
                                    <m:ctrlPr>
                                      <a:rPr lang="en-US" altLang="zh-TW" sz="20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2000" b="0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∇</m:t>
                                    </m:r>
                                  </m:e>
                                  <m:sup>
                                    <m:r>
                                      <a:rPr lang="en-US" altLang="zh-TW" sz="2000" b="0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acc>
                                  <m:accPr>
                                    <m:chr m:val="⃗"/>
                                    <m:ctrlPr>
                                      <a:rPr lang="en-US" altLang="zh-TW" sz="20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2000" b="0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</m:acc>
                                <m:r>
                                  <a:rPr lang="en-US" altLang="zh-TW" sz="2000" b="0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f</m:t>
                                </m:r>
                              </m:oMath>
                            </m:oMathPara>
                          </a14:m>
                          <a:endParaRPr lang="en-US" altLang="zh-TW" sz="2000" b="0" i="0" kern="1200" dirty="0">
                            <a:solidFill>
                              <a:schemeClr val="dk1"/>
                            </a:solidFill>
                            <a:effectLst/>
                            <a:latin typeface="Cambria Math" panose="02040503050406030204" pitchFamily="18" charset="0"/>
                          </a:endParaRPr>
                        </a:p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TW" sz="2000" i="1" kern="100" smtClean="0"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TW" sz="2000" b="0" i="1" kern="100" smtClean="0"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dP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n-US" altLang="zh-TW" sz="2000" b="0" i="1" kern="100" smtClean="0"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dx</m:t>
                                  </m:r>
                                </m:den>
                              </m:f>
                              <m:r>
                                <a:rPr lang="en-US" altLang="zh-TW" sz="2000" b="0" i="1" kern="100" smtClean="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=0.0025</m:t>
                              </m:r>
                            </m:oMath>
                          </a14:m>
                          <a:r>
                            <a:rPr lang="en-US" altLang="zh-TW" sz="2000" kern="100" dirty="0">
                              <a:effectLst/>
                              <a:latin typeface="+mn-lt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TW" sz="2000" b="0" i="1" kern="100" smtClean="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ν</m:t>
                              </m:r>
                              <m:r>
                                <a:rPr lang="en-US" altLang="zh-TW" sz="2000" b="0" i="1" kern="100" smtClean="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=5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2000" b="0" i="1" kern="100" smtClean="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e</m:t>
                              </m:r>
                              <m:r>
                                <a:rPr lang="en-US" altLang="zh-TW" sz="2000" b="0" i="1" kern="100" smtClean="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−5</m:t>
                              </m:r>
                            </m:oMath>
                          </a14:m>
                          <a:endParaRPr lang="en-US" altLang="zh-TW" sz="2000" kern="100" dirty="0">
                            <a:effectLst/>
                            <a:latin typeface="+mn-lt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endParaRPr lang="en-US" altLang="zh-TW" sz="2000" kern="100" dirty="0">
                            <a:effectLst/>
                            <a:latin typeface="+mn-lt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799630122"/>
                      </a:ext>
                    </a:extLst>
                  </a:tr>
                  <a:tr h="1049402">
                    <a:tc>
                      <a:txBody>
                        <a:bodyPr/>
                        <a:lstStyle/>
                        <a:p>
                          <a:pPr algn="ctr"/>
                          <a:endParaRPr lang="en-US" altLang="zh-TW" dirty="0"/>
                        </a:p>
                        <a:p>
                          <a:pPr algn="ctr"/>
                          <a:r>
                            <a:rPr lang="en-US" altLang="zh-TW" sz="2000" dirty="0"/>
                            <a:t>Boundary condition</a:t>
                          </a:r>
                          <a:endParaRPr lang="zh-TW" altLang="en-US" sz="2000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endParaRPr lang="en-US" altLang="zh-TW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000" b="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TW" sz="2000" b="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  <m:t>𝑉</m:t>
                                        </m:r>
                                      </m:e>
                                    </m:acc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zh-TW" sz="2000" b="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b="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TW" sz="2000" b="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  <m:t>𝑚𝑎𝑥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altLang="zh-TW" sz="2000" i="1" kern="100" dirty="0" smtClean="0"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TW" sz="2000" b="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TW" sz="2000" b="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  <m:t>𝑉</m:t>
                                        </m:r>
                                      </m:e>
                                    </m:acc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zh-TW" sz="2000" b="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TW" sz="200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  <m:t>𝑚𝑖𝑛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altLang="zh-TW" sz="2000" b="0" i="1" kern="100" dirty="0" smtClean="0"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TW" sz="2000" b="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TW" sz="2000" b="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  <m:t>𝑉</m:t>
                                        </m:r>
                                      </m:e>
                                    </m:acc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zh-TW" sz="2000" b="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2000" b="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a:rPr lang="en-US" altLang="zh-TW" sz="2000" b="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  <m:t>𝑚𝑎𝑥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altLang="zh-TW" sz="2000" i="1" kern="100" dirty="0" smtClean="0"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TW" sz="2000" b="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TW" sz="2000" b="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  <m:t>𝑉</m:t>
                                        </m:r>
                                      </m:e>
                                    </m:acc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zh-TW" sz="2000" b="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2000" b="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a:rPr lang="en-US" altLang="zh-TW" sz="200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  <m:t>𝑚𝑖𝑛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altLang="zh-TW" sz="2000" b="0" i="1" kern="100" dirty="0" smtClean="0"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=0, </m:t>
                                </m:r>
                                <m:sSub>
                                  <m:sSubPr>
                                    <m:ctrlPr>
                                      <a:rPr lang="en-US" altLang="zh-TW" sz="2000" b="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TW" sz="2000" b="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  <m:t>𝑉</m:t>
                                        </m:r>
                                      </m:e>
                                    </m:acc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zh-TW" sz="2000" b="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2000" b="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  <m:t>z</m:t>
                                        </m:r>
                                      </m:e>
                                      <m:sub>
                                        <m:r>
                                          <a:rPr lang="en-US" altLang="zh-TW" sz="2000" b="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  <m:t>𝑚𝑎𝑥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altLang="zh-TW" sz="2000" i="1" kern="100" dirty="0" smtClean="0"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TW" sz="2000" b="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TW" sz="2000" b="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  <m:t>𝑉</m:t>
                                        </m:r>
                                      </m:e>
                                    </m:acc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zh-TW" sz="2000" b="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2000" b="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  <m:t>z</m:t>
                                        </m:r>
                                      </m:e>
                                      <m:sub>
                                        <m:r>
                                          <a:rPr lang="en-US" altLang="zh-TW" sz="200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  <m:t>𝑚𝑖𝑛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altLang="zh-TW" sz="2000" b="0" i="1" kern="100" dirty="0" smtClean="0"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TW" sz="200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2000" b="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P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zh-TW" sz="200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TW" sz="200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  <m:t>𝑚𝑎𝑥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altLang="zh-TW" sz="2000" i="1" kern="100" dirty="0" smtClean="0"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TW" sz="200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2000" b="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P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zh-TW" sz="200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TW" sz="200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  <m:t>𝑚𝑖𝑛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altLang="zh-TW" sz="2000" b="0" i="1" kern="100" dirty="0" smtClean="0"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f>
                                  <m:fPr>
                                    <m:ctrlPr>
                                      <a:rPr lang="en-US" altLang="zh-TW" sz="2000" b="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000" b="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zh-TW" sz="2000" b="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𝑃</m:t>
                                    </m:r>
                                  </m:num>
                                  <m:den>
                                    <m:r>
                                      <a:rPr lang="en-US" altLang="zh-TW" sz="2000" b="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zh-TW" sz="2000" b="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den>
                                </m:f>
                                <m:r>
                                  <a:rPr lang="en-US" altLang="zh-TW" sz="2000" b="0" i="1" kern="100" dirty="0" smtClean="0"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en-US" altLang="zh-TW" sz="2000" b="0" i="1" kern="100" dirty="0" smtClean="0"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𝜈</m:t>
                                </m:r>
                                <m:f>
                                  <m:fPr>
                                    <m:ctrlPr>
                                      <a:rPr lang="en-US" altLang="zh-TW" sz="2000" b="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altLang="zh-TW" sz="2000" b="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TW" sz="2000" b="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a:rPr lang="en-US" altLang="zh-TW" sz="2000" b="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altLang="zh-TW" sz="2000" b="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𝑣</m:t>
                                    </m:r>
                                  </m:num>
                                  <m:den>
                                    <m:r>
                                      <a:rPr lang="en-US" altLang="zh-TW" sz="2000" b="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p>
                                      <m:sSupPr>
                                        <m:ctrlPr>
                                          <a:rPr lang="en-US" altLang="zh-TW" sz="2000" b="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TW" sz="2000" b="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  <m:t>𝑦</m:t>
                                        </m:r>
                                      </m:e>
                                      <m:sup>
                                        <m:r>
                                          <a:rPr lang="en-US" altLang="zh-TW" sz="2000" b="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sSub>
                                  <m:sSubPr>
                                    <m:ctrlPr>
                                      <a:rPr lang="en-US" altLang="zh-TW" sz="200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b="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,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 sz="2000" b="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P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zh-TW" sz="200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2000" b="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  <m:t>z</m:t>
                                        </m:r>
                                      </m:e>
                                      <m:sub>
                                        <m:r>
                                          <a:rPr lang="en-US" altLang="zh-TW" sz="200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  <m:t>𝑚𝑎𝑥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altLang="zh-TW" sz="2000" i="1" kern="100" dirty="0" smtClean="0"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TW" sz="200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2000" b="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P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zh-TW" sz="200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2000" b="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  <m:t>z</m:t>
                                        </m:r>
                                      </m:e>
                                      <m:sub>
                                        <m:r>
                                          <a:rPr lang="en-US" altLang="zh-TW" sz="200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  <m:t>𝑚𝑖𝑛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92470412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69A10C3D-82F5-AA36-AEE2-12E741C8613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01553609"/>
                  </p:ext>
                </p:extLst>
              </p:nvPr>
            </p:nvGraphicFramePr>
            <p:xfrm>
              <a:off x="0" y="1053548"/>
              <a:ext cx="12191999" cy="5208106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2421603">
                      <a:extLst>
                        <a:ext uri="{9D8B030D-6E8A-4147-A177-3AD203B41FA5}">
                          <a16:colId xmlns:a16="http://schemas.microsoft.com/office/drawing/2014/main" val="2481834528"/>
                        </a:ext>
                      </a:extLst>
                    </a:gridCol>
                    <a:gridCol w="2421603">
                      <a:extLst>
                        <a:ext uri="{9D8B030D-6E8A-4147-A177-3AD203B41FA5}">
                          <a16:colId xmlns:a16="http://schemas.microsoft.com/office/drawing/2014/main" val="2596525262"/>
                        </a:ext>
                      </a:extLst>
                    </a:gridCol>
                    <a:gridCol w="7348793">
                      <a:extLst>
                        <a:ext uri="{9D8B030D-6E8A-4147-A177-3AD203B41FA5}">
                          <a16:colId xmlns:a16="http://schemas.microsoft.com/office/drawing/2014/main" val="2935440286"/>
                        </a:ext>
                      </a:extLst>
                    </a:gridCol>
                  </a:tblGrid>
                  <a:tr h="496842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+mn-lt"/>
                              <a:cs typeface="Times New Roman" panose="02020603050405020304" pitchFamily="18" charset="0"/>
                            </a:rPr>
                            <a:t>Settings</a:t>
                          </a:r>
                          <a:endParaRPr lang="zh-TW" altLang="en-US" sz="200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TW" altLang="en-US" sz="200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00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33336105"/>
                      </a:ext>
                    </a:extLst>
                  </a:tr>
                  <a:tr h="7268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+mn-lt"/>
                              <a:cs typeface="Times New Roman" panose="02020603050405020304" pitchFamily="18" charset="0"/>
                            </a:rPr>
                            <a:t>Domain size</a:t>
                          </a:r>
                          <a:endParaRPr lang="zh-TW" altLang="en-US" sz="200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4967" t="-67241" r="-390" b="-54827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/>
                          <a:endParaRPr lang="zh-TW" altLang="en-US" sz="200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99355798"/>
                      </a:ext>
                    </a:extLst>
                  </a:tr>
                  <a:tr h="7268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+mn-lt"/>
                              <a:cs typeface="Times New Roman" panose="02020603050405020304" pitchFamily="18" charset="0"/>
                            </a:rPr>
                            <a:t>Grid number</a:t>
                          </a:r>
                          <a:endParaRPr lang="zh-TW" altLang="en-US" sz="200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4967" t="-170175" r="-390" b="-45789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6791829"/>
                      </a:ext>
                    </a:extLst>
                  </a:tr>
                  <a:tr h="726882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+mn-lt"/>
                              <a:cs typeface="Times New Roman" panose="02020603050405020304" pitchFamily="18" charset="0"/>
                            </a:rPr>
                            <a:t>Governing equation</a:t>
                          </a:r>
                          <a:endParaRPr lang="zh-TW" altLang="en-US" sz="200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</a:rPr>
                            <a:t>Continuity</a:t>
                          </a:r>
                          <a:endParaRPr lang="zh-TW" altLang="en-US" sz="200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5976" t="-265517" r="-518" b="-3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18961323"/>
                      </a:ext>
                    </a:extLst>
                  </a:tr>
                  <a:tr h="1481216">
                    <a:tc vMerge="1">
                      <a:txBody>
                        <a:bodyPr/>
                        <a:lstStyle/>
                        <a:p>
                          <a:pPr algn="ctr"/>
                          <a:endParaRPr lang="zh-TW" altLang="en-US" sz="200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</a:rPr>
                            <a:t>Momentum</a:t>
                          </a:r>
                          <a:endParaRPr lang="zh-TW" altLang="en-US" sz="200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65976" t="-181197" r="-518" b="-735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9630122"/>
                      </a:ext>
                    </a:extLst>
                  </a:tr>
                  <a:tr h="1049402">
                    <a:tc>
                      <a:txBody>
                        <a:bodyPr/>
                        <a:lstStyle/>
                        <a:p>
                          <a:pPr algn="ctr"/>
                          <a:endParaRPr lang="en-US" altLang="zh-TW" dirty="0"/>
                        </a:p>
                        <a:p>
                          <a:pPr algn="ctr"/>
                          <a:r>
                            <a:rPr lang="en-US" altLang="zh-TW" sz="2000" dirty="0"/>
                            <a:t>Boundary condition</a:t>
                          </a:r>
                          <a:endParaRPr lang="zh-TW" altLang="en-US" sz="2000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24967" t="-396386" r="-390" b="-361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/>
                          <a:endParaRPr dirty="0"/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92470412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169881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3">
            <a:extLst>
              <a:ext uri="{FF2B5EF4-FFF2-40B4-BE49-F238E27FC236}">
                <a16:creationId xmlns:a16="http://schemas.microsoft.com/office/drawing/2014/main" id="{764D3E00-1E00-480F-A3A1-2A0F73A233F5}"/>
              </a:ext>
            </a:extLst>
          </p:cNvPr>
          <p:cNvSpPr/>
          <p:nvPr/>
        </p:nvSpPr>
        <p:spPr>
          <a:xfrm>
            <a:off x="1" y="430341"/>
            <a:ext cx="12191999" cy="5705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GB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Network structure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6F602CF-1897-2870-E724-B5E66269EE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876" y="3980048"/>
            <a:ext cx="287473986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TW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Architecture: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zh-TW" sz="2400" b="1" dirty="0">
                <a:latin typeface="Arial" panose="020B0604020202020204" pitchFamily="34" charset="0"/>
              </a:rPr>
              <a:t>	</a:t>
            </a:r>
            <a:r>
              <a:rPr kumimoji="0" lang="zh-TW" altLang="zh-TW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Fourier-feature MLP</a:t>
            </a:r>
            <a:r>
              <a:rPr lang="en-US" altLang="zh-TW" sz="2400" dirty="0">
                <a:latin typeface="Arial" panose="020B0604020202020204" pitchFamily="34" charset="0"/>
              </a:rPr>
              <a:t>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zh-TW" sz="2400" dirty="0">
                <a:latin typeface="Arial" panose="020B0604020202020204" pitchFamily="34" charset="0"/>
              </a:rPr>
              <a:t>	</a:t>
            </a:r>
            <a:r>
              <a:rPr lang="en-US" altLang="zh-TW" sz="2000" dirty="0">
                <a:latin typeface="Arial" panose="020B0604020202020204" pitchFamily="34" charset="0"/>
              </a:rPr>
              <a:t>8</a:t>
            </a:r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layers × </a:t>
            </a:r>
            <a:r>
              <a:rPr kumimoji="0" lang="en-US" altLang="zh-TW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256</a:t>
            </a:r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neurons</a:t>
            </a:r>
            <a:r>
              <a:rPr kumimoji="0" lang="en-US" altLang="zh-TW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zh-TW" sz="2000" dirty="0">
                <a:latin typeface="Arial" panose="020B0604020202020204" pitchFamily="34" charset="0"/>
              </a:rPr>
              <a:t>	</a:t>
            </a:r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Activation：</a:t>
            </a:r>
            <a:r>
              <a:rPr kumimoji="0" lang="en-US" altLang="zh-TW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tanh,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zh-TW" sz="2000" dirty="0">
                <a:latin typeface="Arial" panose="020B0604020202020204" pitchFamily="34" charset="0"/>
              </a:rPr>
              <a:t>	</a:t>
            </a:r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Input：(x, y, t)</a:t>
            </a:r>
            <a:r>
              <a:rPr kumimoji="0" lang="en-US" altLang="zh-TW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zh-TW" sz="2000" dirty="0">
                <a:latin typeface="Arial" panose="020B0604020202020204" pitchFamily="34" charset="0"/>
              </a:rPr>
              <a:t>	</a:t>
            </a:r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Output：(u, v, w, p)</a:t>
            </a:r>
          </a:p>
        </p:txBody>
      </p:sp>
      <p:pic>
        <p:nvPicPr>
          <p:cNvPr id="3" name="圖片 2" descr="一張含有 螢幕擷取畫面, 文字, 圖形, 平面設計 的圖片  AI 產生的內容可能不正確。">
            <a:extLst>
              <a:ext uri="{FF2B5EF4-FFF2-40B4-BE49-F238E27FC236}">
                <a16:creationId xmlns:a16="http://schemas.microsoft.com/office/drawing/2014/main" id="{830A6A4A-1854-EE02-DC92-FFD69C2378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7422" y="1084874"/>
            <a:ext cx="9394624" cy="5018832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FF0F46B4-1AD4-3F74-56CE-F28B0FA1BC54}"/>
              </a:ext>
            </a:extLst>
          </p:cNvPr>
          <p:cNvSpPr txBox="1"/>
          <p:nvPr/>
        </p:nvSpPr>
        <p:spPr>
          <a:xfrm>
            <a:off x="3521677" y="1408671"/>
            <a:ext cx="2373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(Multilayer Perceptron)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870602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97DA7-0EA8-7144-D77B-77156D3B5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3">
            <a:extLst>
              <a:ext uri="{FF2B5EF4-FFF2-40B4-BE49-F238E27FC236}">
                <a16:creationId xmlns:a16="http://schemas.microsoft.com/office/drawing/2014/main" id="{D69D0BB5-333C-CF70-D899-C806606397E3}"/>
              </a:ext>
            </a:extLst>
          </p:cNvPr>
          <p:cNvSpPr/>
          <p:nvPr/>
        </p:nvSpPr>
        <p:spPr>
          <a:xfrm>
            <a:off x="1" y="430341"/>
            <a:ext cx="12191999" cy="5705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GB" altLang="zh-TW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Enhancement of Vanilla PINNs</a:t>
            </a:r>
          </a:p>
        </p:txBody>
      </p:sp>
      <p:graphicFrame>
        <p:nvGraphicFramePr>
          <p:cNvPr id="6" name="Table 12">
            <a:extLst>
              <a:ext uri="{FF2B5EF4-FFF2-40B4-BE49-F238E27FC236}">
                <a16:creationId xmlns:a16="http://schemas.microsoft.com/office/drawing/2014/main" id="{CDB8D54E-924D-6DA6-5352-3FB279C9F9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577617"/>
              </p:ext>
            </p:extLst>
          </p:nvPr>
        </p:nvGraphicFramePr>
        <p:xfrm>
          <a:off x="1" y="1036358"/>
          <a:ext cx="12191997" cy="582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58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3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325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4804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 dirty="0"/>
                        <a:t>Technique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 dirty="0"/>
                        <a:t>Reference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 dirty="0"/>
                        <a:t>Key Idea / Advantage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418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600" dirty="0"/>
                        <a:t>Likelihood-based adaptive weighting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600" dirty="0"/>
                        <a:t>Wang et al.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600" dirty="0"/>
                        <a:t>Allocates loss weights via (Gaussian) likelihood estimation to balance terms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19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600" dirty="0" err="1"/>
                        <a:t>GradNorm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600" dirty="0"/>
                        <a:t>Chen et al. (2018, ICML)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600"/>
                        <a:t>Multi-task learning weights adjusted by gradient norms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53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600" dirty="0"/>
                        <a:t>Variable Scaling (VS-PINN)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600" dirty="0"/>
                        <a:t>Ko &amp; Park (2025, JCP)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600" dirty="0"/>
                        <a:t>Learns per-variable scale factors to normalize outputs adaptively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1418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600" dirty="0"/>
                        <a:t>Fourier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600" dirty="0" err="1"/>
                        <a:t>Tancik</a:t>
                      </a:r>
                      <a:r>
                        <a:rPr sz="1600" dirty="0"/>
                        <a:t> et al. (2020)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600"/>
                        <a:t>Random Fourier embeddings overcome spectral bias; capture high frequencies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01418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600" dirty="0" err="1"/>
                        <a:t>PirateNet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600" dirty="0"/>
                        <a:t>Wang et al. (2024, JMLR)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600" dirty="0"/>
                        <a:t>Residual adaptive blocks improve gradient flow in deep networks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01418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600" dirty="0"/>
                        <a:t>Random Weight Factorization (RWF)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600"/>
                        <a:t>Wang et al. (2022)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600"/>
                        <a:t>Factorizes weights to improve continuous representation learning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01418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600" dirty="0"/>
                        <a:t>Adam + L-BFGS (two-phase)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600" dirty="0"/>
                        <a:t>Kingma &amp; Ba (2015); </a:t>
                      </a:r>
                      <a:endParaRPr lang="en-US" sz="1600" dirty="0"/>
                    </a:p>
                    <a:p>
                      <a:pPr algn="l">
                        <a:defRPr sz="1000"/>
                      </a:pPr>
                      <a:r>
                        <a:rPr sz="1600" dirty="0"/>
                        <a:t>Rathore et al.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600" dirty="0"/>
                        <a:t>Adam warm-up explores landscape; L-BFGS exploits local curvature for fast convergence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601418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600" dirty="0"/>
                        <a:t>SOAP Optimizer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600" dirty="0"/>
                        <a:t>Vyas et al.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600" dirty="0"/>
                        <a:t>Shampoo-like adaptive preconditioner; can be paired with L-BFGS for fine-tuning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601418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600" dirty="0"/>
                        <a:t>Causal 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600"/>
                        <a:t>Wang et al.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600" dirty="0"/>
                        <a:t>For time-dependent PDEs: weights early times more to respect causality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4819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600" dirty="0"/>
                        <a:t>Adaptive Collocation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600"/>
                        <a:t>Nabian et al. (2021, CMAME)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600" dirty="0"/>
                        <a:t>Re-samples collocation points in high-residual regions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89272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FE06D-4D12-8F1D-41C0-55916FDF7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3">
            <a:extLst>
              <a:ext uri="{FF2B5EF4-FFF2-40B4-BE49-F238E27FC236}">
                <a16:creationId xmlns:a16="http://schemas.microsoft.com/office/drawing/2014/main" id="{EA1C7D96-5FE3-0D6A-8724-0BA59C51A79A}"/>
              </a:ext>
            </a:extLst>
          </p:cNvPr>
          <p:cNvSpPr/>
          <p:nvPr/>
        </p:nvSpPr>
        <p:spPr>
          <a:xfrm>
            <a:off x="1" y="430341"/>
            <a:ext cx="12191999" cy="5705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GB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Optimizing Sparse Measurements for PINNs</a:t>
            </a:r>
          </a:p>
        </p:txBody>
      </p:sp>
      <p:pic>
        <p:nvPicPr>
          <p:cNvPr id="4098" name="Picture 2" descr="根據以下內容，生成適合簡報用的英文圖表：「QR Pivoting (QR-pivoting) 是一種應用於稀疏測量重建和 PINNs 領域的選點策略，其核心目標是從大量的候選點中，選出最具資訊量且線性獨立性最高的少量點，以提升模型的訓練效果與速度。  以下是它如何達成這個目標的解釋： 加速訓練 (Speed)： 減少點的數量： 在 PINNs 中，無論是稀疏感測器的數據點 $L_{\text{data}}$ 還是用於計算物理殘差的搭配點（collocation points）$L_{\text{NS}}$，其數量都會直接影響訓練時間。QR-pivoting 可以精確地從數百萬個候選點中，選出一個數量顯著減少（例如，如您的目標所述 $K \le 100$）但仍然具有代表性的子集。 優化計算效率： 使用更少但更有效的點來計算損失函數，可以大幅降低每個訓練步驟的計算負荷，從而加速整體收斂。 加強訓練效果 (Effect/Accuracy)： 資訊最大化原則： QR-pivoting 基於矩陣分解的數學原理（通常是 $QR$ 分解，特別是 LU 或 Cholesky 分解的變體），用來確定能使數據矩陣的行列式最大化的點集。在物理意義上，這代表它選擇了變化最劇烈或資訊最不相關（線性獨立）的點。 捕捉關鍵特徵： 這些被選中的點通常位於流場中複雜的區域，例如高梯度區域（如邊界層、剪切層或湍流渦流的核心）。 提高模型表現： 透過將訓練資源集中在這些對物理場重建最關鍵的點上，PINNs 能更有效地學習和捕捉底層的偏微分方程式（PDE）所描述的複雜動力學，進而提升重建的準確性。 總結來說： QR-pivoting 是一種自適應的選點機制，它犧牲了點的數量來換取點的品質，從而在確保模型高準確度的同時，顯著降低了訓練所需的計算資源和時間。這對於您的研究目標——「基於稀疏測量進行重建」尤其重要，因為它能確保您從極少的感測器數據中提取出最大的資訊價值。」">
            <a:extLst>
              <a:ext uri="{FF2B5EF4-FFF2-40B4-BE49-F238E27FC236}">
                <a16:creationId xmlns:a16="http://schemas.microsoft.com/office/drawing/2014/main" id="{0DDA365A-68AC-36B5-B387-694035AC6E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34" b="40490"/>
          <a:stretch>
            <a:fillRect/>
          </a:stretch>
        </p:blipFill>
        <p:spPr bwMode="auto">
          <a:xfrm>
            <a:off x="0" y="1027861"/>
            <a:ext cx="12192000" cy="3074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A6E542F6-2C68-0FF7-36E7-752180DCEDDA}"/>
              </a:ext>
            </a:extLst>
          </p:cNvPr>
          <p:cNvSpPr txBox="1"/>
          <p:nvPr/>
        </p:nvSpPr>
        <p:spPr>
          <a:xfrm>
            <a:off x="494270" y="4287794"/>
            <a:ext cx="630194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sz="2400" b="1" dirty="0"/>
              <a:t>Quality over Quantity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Maximize information in sensor points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Lower computational cost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2400" dirty="0"/>
              <a:t>More applicable to engineering practice</a:t>
            </a:r>
            <a:endParaRPr kumimoji="1" lang="en-US" altLang="zh-TW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kumimoji="1"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0580214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163EF-FD41-EFC3-5CB8-0E5A19090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3">
            <a:extLst>
              <a:ext uri="{FF2B5EF4-FFF2-40B4-BE49-F238E27FC236}">
                <a16:creationId xmlns:a16="http://schemas.microsoft.com/office/drawing/2014/main" id="{02D10B0E-0B24-1B0E-7A8E-08696C38A575}"/>
              </a:ext>
            </a:extLst>
          </p:cNvPr>
          <p:cNvSpPr/>
          <p:nvPr/>
        </p:nvSpPr>
        <p:spPr>
          <a:xfrm>
            <a:off x="1" y="430341"/>
            <a:ext cx="12191999" cy="5705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GB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Fourier Feature Embedding</a:t>
            </a:r>
          </a:p>
        </p:txBody>
      </p:sp>
      <p:pic>
        <p:nvPicPr>
          <p:cNvPr id="1026" name="Picture 2" descr="簡化這個圖表，設計為報告使用，不要那麼冗長">
            <a:extLst>
              <a:ext uri="{FF2B5EF4-FFF2-40B4-BE49-F238E27FC236}">
                <a16:creationId xmlns:a16="http://schemas.microsoft.com/office/drawing/2014/main" id="{3FAF1CB7-DF4C-05F0-39B7-5F3124E5CB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" t="11503" r="33382"/>
          <a:stretch>
            <a:fillRect/>
          </a:stretch>
        </p:blipFill>
        <p:spPr bwMode="auto">
          <a:xfrm>
            <a:off x="2568146" y="1000874"/>
            <a:ext cx="7055708" cy="5241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72E2EDE8-F431-A775-3DAE-78C59411D14E}"/>
              </a:ext>
            </a:extLst>
          </p:cNvPr>
          <p:cNvSpPr txBox="1"/>
          <p:nvPr/>
        </p:nvSpPr>
        <p:spPr>
          <a:xfrm>
            <a:off x="173730" y="1234435"/>
            <a:ext cx="23944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rPr lang="en-US" altLang="zh-TW" sz="2000" b="1" dirty="0" err="1"/>
              <a:t>Tancik</a:t>
            </a:r>
            <a:r>
              <a:rPr lang="en-US" altLang="zh-TW" sz="2000" b="1" dirty="0"/>
              <a:t> et al. (2020)</a:t>
            </a:r>
          </a:p>
        </p:txBody>
      </p:sp>
    </p:spTree>
    <p:extLst>
      <p:ext uri="{BB962C8B-B14F-4D97-AF65-F5344CB8AC3E}">
        <p14:creationId xmlns:p14="http://schemas.microsoft.com/office/powerpoint/2010/main" val="6164354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CE95E-47DC-063D-C193-14C5F8210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3">
            <a:extLst>
              <a:ext uri="{FF2B5EF4-FFF2-40B4-BE49-F238E27FC236}">
                <a16:creationId xmlns:a16="http://schemas.microsoft.com/office/drawing/2014/main" id="{D52A0714-6522-8B31-EFC2-FDE951014BA9}"/>
              </a:ext>
            </a:extLst>
          </p:cNvPr>
          <p:cNvSpPr/>
          <p:nvPr/>
        </p:nvSpPr>
        <p:spPr>
          <a:xfrm>
            <a:off x="1" y="430341"/>
            <a:ext cx="12191999" cy="5705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GB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Variable Scaling PINNs</a:t>
            </a:r>
          </a:p>
        </p:txBody>
      </p:sp>
      <p:pic>
        <p:nvPicPr>
          <p:cNvPr id="3074" name="Picture 2" descr="根據以下內容，生成適合簡報用的英文圖表：「Variable Scaling Physics-Informed Neural Networks (VS-PINNs) 是一種用於提升物理資訊神經網路（PINNs）訓練穩定性的方法。  在您的研究演示文件中，VS-PINNs 被列為穩定 PINN 訓練的目標之一。  核心概念與目的： 穩定性問題： 傳統的 PINNs (稱為 Vanilla PINNs) 在處理高雷諾數 (High-Re) 湍流等具有複雜多尺度特徵的問題時，經常會遇到訓練不穩定的問題，這被稱為 PINN 剛性（PINN stiffness）。 VS-PINNs 的作用： 透過引入變數縮放（Variable Scaling）和梯度平衡（Gradient Balancing）機制，VS-PINNs 旨在克服這些訓練挑戰，以確保模型能更穩定地收斂。 VS-PINNs 的兩個主要組成部分： 變數縮放 (Variable Scaling): 這是一種對神經網路輸出的物理變數進行重新標準化的技巧。 例如，對於速度 $u$，會將其縮放為 $\tilde{u} = u/s_u$，其中 $s_u$ 是縮放因子。 目的在於讓不同輸出變數（如速度 $u, v$、壓力 $p$ 等）在訓練過程中處於相似的量級，從而有助於網路的優化。 梯度平衡 (Gradient Balancing) - 通常與 GradNorm 結合： 在 PINNs 的總損失函數中，通常包含數據損失 $L_{\text{data}}$、物理殘差損失 $L_{\text{NS}}$ 和邊界條件損失 $L_{\text{BC}}$ 等。 不同的損失項其梯度大小可能差異巨大，這會導致訓練不平衡，使訓練偏重於梯度較大的損失項，而忽略其他重要的物理約束。 梯度平衡機制（例如 GradNorm 策略）會動態調整每個損失項的權重 $w_i$，以確保所有損失項的梯度都能對總損失做出類似的貢獻，從而穩定訓練過程。 簡而言之，VS-PINNs 是一種強化版 PINNs，透過對變數和損失項的梯度進行適當的縮放與平衡，來解決標準 PINNs 在複雜物理系統（如高雷諾數湍流）中的訓練收斂性與穩定性問題」">
            <a:extLst>
              <a:ext uri="{FF2B5EF4-FFF2-40B4-BE49-F238E27FC236}">
                <a16:creationId xmlns:a16="http://schemas.microsoft.com/office/drawing/2014/main" id="{0451B5D3-C4AF-29BC-8A87-47811B0B31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45" b="14707"/>
          <a:stretch>
            <a:fillRect/>
          </a:stretch>
        </p:blipFill>
        <p:spPr bwMode="auto">
          <a:xfrm>
            <a:off x="0" y="1198775"/>
            <a:ext cx="12192000" cy="4746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930DFE6A-83B0-564D-A74F-AF9820922914}"/>
              </a:ext>
            </a:extLst>
          </p:cNvPr>
          <p:cNvSpPr txBox="1"/>
          <p:nvPr/>
        </p:nvSpPr>
        <p:spPr>
          <a:xfrm>
            <a:off x="273132" y="3202818"/>
            <a:ext cx="2223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Ko &amp; Park (2025, JCP)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70C8F3C-0FED-CFD4-460B-D6EEAF0B9C1B}"/>
              </a:ext>
            </a:extLst>
          </p:cNvPr>
          <p:cNvSpPr txBox="1"/>
          <p:nvPr/>
        </p:nvSpPr>
        <p:spPr>
          <a:xfrm>
            <a:off x="9508176" y="3164774"/>
            <a:ext cx="2683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/>
            </a:pPr>
            <a:r>
              <a:rPr lang="en-US" altLang="zh-TW" sz="1800" b="1" dirty="0"/>
              <a:t>Chen et al. (2018, ICML)</a:t>
            </a:r>
          </a:p>
        </p:txBody>
      </p:sp>
    </p:spTree>
    <p:extLst>
      <p:ext uri="{BB962C8B-B14F-4D97-AF65-F5344CB8AC3E}">
        <p14:creationId xmlns:p14="http://schemas.microsoft.com/office/powerpoint/2010/main" val="23579602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F6D4F-D135-355E-DF9E-D07A176F1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13">
            <a:extLst>
              <a:ext uri="{FF2B5EF4-FFF2-40B4-BE49-F238E27FC236}">
                <a16:creationId xmlns:a16="http://schemas.microsoft.com/office/drawing/2014/main" id="{2B20A39C-EE34-2750-3115-F27120A81A2D}"/>
              </a:ext>
            </a:extLst>
          </p:cNvPr>
          <p:cNvSpPr/>
          <p:nvPr/>
        </p:nvSpPr>
        <p:spPr>
          <a:xfrm>
            <a:off x="-1" y="418624"/>
            <a:ext cx="12191999" cy="535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Loss Function</a:t>
            </a:r>
            <a:endParaRPr lang="en-GB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4" name="Picture 3" descr="loss_sp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2287" y="2483778"/>
            <a:ext cx="6346005" cy="34614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1512EDE9-07AF-6B0E-4282-1D7D8C9E4DD8}"/>
                  </a:ext>
                </a:extLst>
              </p:cNvPr>
              <p:cNvSpPr txBox="1"/>
              <p:nvPr/>
            </p:nvSpPr>
            <p:spPr>
              <a:xfrm>
                <a:off x="1518174" y="1342569"/>
                <a:ext cx="9734588" cy="4901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</m:sub>
                      </m:sSub>
                      <m:r>
                        <a:rPr lang="en-US" altLang="zh-TW" sz="24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𝑑𝑎𝑡𝑎</m:t>
                          </m:r>
                        </m:sub>
                      </m:sSub>
                      <m:sSub>
                        <m:sSubPr>
                          <m:ctrlPr>
                            <a:rPr lang="en-US" altLang="zh-TW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𝑑𝑎𝑡𝑎</m:t>
                          </m:r>
                        </m:sub>
                      </m:sSub>
                      <m:r>
                        <a:rPr lang="en-US" altLang="zh-TW" sz="24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mom</m:t>
                          </m:r>
                        </m:sub>
                      </m:sSub>
                      <m:sSub>
                        <m:sSubPr>
                          <m:ctrlPr>
                            <a:rPr lang="en-US" altLang="zh-TW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𝑚𝑜𝑚</m:t>
                          </m:r>
                        </m:sub>
                      </m:sSub>
                      <m:r>
                        <a:rPr lang="en-US" altLang="zh-TW" sz="24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cont</m:t>
                          </m:r>
                        </m:sub>
                      </m:sSub>
                      <m:sSub>
                        <m:sSubPr>
                          <m:ctrlPr>
                            <a:rPr lang="en-US" altLang="zh-TW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𝑐𝑜𝑛𝑡</m:t>
                          </m:r>
                        </m:sub>
                      </m:sSub>
                      <m:r>
                        <a:rPr lang="en-US" altLang="zh-TW" sz="24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𝑏𝑐</m:t>
                          </m:r>
                        </m:sub>
                      </m:sSub>
                      <m:sSub>
                        <m:sSubPr>
                          <m:ctrlPr>
                            <a:rPr lang="en-US" altLang="zh-TW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𝑏𝑐</m:t>
                          </m:r>
                        </m:sub>
                      </m:sSub>
                      <m:r>
                        <a:rPr lang="en-US" altLang="zh-TW" sz="24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𝑝𝑟𝑖𝑜𝑟</m:t>
                          </m:r>
                        </m:sub>
                      </m:sSub>
                      <m:sSub>
                        <m:sSubPr>
                          <m:ctrlPr>
                            <a:rPr lang="en-US" altLang="zh-TW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𝑝𝑟𝑖𝑜𝑟</m:t>
                          </m:r>
                        </m:sub>
                      </m:sSub>
                    </m:oMath>
                  </m:oMathPara>
                </a14:m>
                <a:endPara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1512EDE9-07AF-6B0E-4282-1D7D8C9E4D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8174" y="1342569"/>
                <a:ext cx="9734588" cy="490199"/>
              </a:xfrm>
              <a:prstGeom prst="rect">
                <a:avLst/>
              </a:prstGeom>
              <a:blipFill>
                <a:blip r:embed="rId4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3A40868F-008D-ADEC-0435-9857E97A3A5F}"/>
                  </a:ext>
                </a:extLst>
              </p:cNvPr>
              <p:cNvSpPr txBox="1"/>
              <p:nvPr/>
            </p:nvSpPr>
            <p:spPr>
              <a:xfrm>
                <a:off x="791110" y="2334198"/>
                <a:ext cx="3889206" cy="9865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b="0" i="1" kern="100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L</m:t>
                      </m:r>
                      <m:r>
                        <a:rPr lang="en-US" altLang="zh-TW" sz="2400" i="1" kern="100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cy-GB" altLang="zh-TW" sz="2400" i="1" kern="100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cy-GB" altLang="zh-TW" sz="2400" i="1" kern="100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TW" sz="2400" b="0" i="1" kern="100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cy-GB" altLang="zh-TW" sz="2400" i="1" kern="100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cy-GB" altLang="zh-TW" sz="2400" i="1" kern="100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cy-GB" altLang="zh-TW" sz="2400" i="1" kern="100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i="1" kern="100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sz="2400" i="1" kern="100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N</m:t>
                                  </m:r>
                                  <m:r>
                                    <a:rPr lang="en-US" altLang="zh-TW" sz="2400" i="1" kern="100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sz="2400" b="0" i="1" kern="100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equation</m:t>
                                  </m:r>
                                  <m:r>
                                    <a:rPr lang="en-US" altLang="zh-TW" sz="2400" i="1" kern="100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cy-GB" altLang="zh-TW" sz="2400" i="1" kern="100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1" lang="zh-TW" altLang="en-US" sz="2400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3A40868F-008D-ADEC-0435-9857E97A3A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110" y="2334198"/>
                <a:ext cx="3889206" cy="986552"/>
              </a:xfrm>
              <a:prstGeom prst="rect">
                <a:avLst/>
              </a:prstGeom>
              <a:blipFill>
                <a:blip r:embed="rId5"/>
                <a:stretch>
                  <a:fillRect l="-5537" t="-129114" b="-1797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id="{416D670C-9FD3-C37A-AD0B-7A248F9C087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2388531"/>
                  </p:ext>
                </p:extLst>
              </p:nvPr>
            </p:nvGraphicFramePr>
            <p:xfrm>
              <a:off x="1311253" y="3429000"/>
              <a:ext cx="2848920" cy="224440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24460">
                      <a:extLst>
                        <a:ext uri="{9D8B030D-6E8A-4147-A177-3AD203B41FA5}">
                          <a16:colId xmlns:a16="http://schemas.microsoft.com/office/drawing/2014/main" val="3472359508"/>
                        </a:ext>
                      </a:extLst>
                    </a:gridCol>
                    <a:gridCol w="1424460">
                      <a:extLst>
                        <a:ext uri="{9D8B030D-6E8A-4147-A177-3AD203B41FA5}">
                          <a16:colId xmlns:a16="http://schemas.microsoft.com/office/drawing/2014/main" val="370228849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weight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33519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𝑑𝑎𝑡𝑎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10.0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11390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mom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1.0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221213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cont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2.0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11234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bc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10.0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32944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prior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20.0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8157352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id="{416D670C-9FD3-C37A-AD0B-7A248F9C087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2388531"/>
                  </p:ext>
                </p:extLst>
              </p:nvPr>
            </p:nvGraphicFramePr>
            <p:xfrm>
              <a:off x="1311253" y="3429000"/>
              <a:ext cx="2848920" cy="224440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24460">
                      <a:extLst>
                        <a:ext uri="{9D8B030D-6E8A-4147-A177-3AD203B41FA5}">
                          <a16:colId xmlns:a16="http://schemas.microsoft.com/office/drawing/2014/main" val="3472359508"/>
                        </a:ext>
                      </a:extLst>
                    </a:gridCol>
                    <a:gridCol w="1424460">
                      <a:extLst>
                        <a:ext uri="{9D8B030D-6E8A-4147-A177-3AD203B41FA5}">
                          <a16:colId xmlns:a16="http://schemas.microsoft.com/office/drawing/2014/main" val="370228849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weight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33519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6"/>
                          <a:stretch>
                            <a:fillRect l="-885" t="-110345" r="-100885" b="-4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10.0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11390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6"/>
                          <a:stretch>
                            <a:fillRect l="-885" t="-203333" r="-100885" b="-3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1.0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221213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6"/>
                          <a:stretch>
                            <a:fillRect l="-885" t="-313793" r="-100885" b="-2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2.0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11234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6"/>
                          <a:stretch>
                            <a:fillRect l="-885" t="-413793" r="-100885" b="-1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10.0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3294461"/>
                      </a:ext>
                    </a:extLst>
                  </a:tr>
                  <a:tr h="390208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6"/>
                          <a:stretch>
                            <a:fillRect l="-885" t="-480645" r="-100885" b="-193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dirty="0"/>
                            <a:t>20.0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8157352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724789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F6D4F-D135-355E-DF9E-D07A176F1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13">
            <a:extLst>
              <a:ext uri="{FF2B5EF4-FFF2-40B4-BE49-F238E27FC236}">
                <a16:creationId xmlns:a16="http://schemas.microsoft.com/office/drawing/2014/main" id="{2B20A39C-EE34-2750-3115-F27120A81A2D}"/>
              </a:ext>
            </a:extLst>
          </p:cNvPr>
          <p:cNvSpPr/>
          <p:nvPr/>
        </p:nvSpPr>
        <p:spPr>
          <a:xfrm>
            <a:off x="-1" y="418624"/>
            <a:ext cx="12191999" cy="535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Composite Loss Function (5 Components)</a:t>
            </a:r>
            <a:endParaRPr lang="en-GB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6C654255-55EF-08BF-641F-752B05D932D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03521052"/>
                  </p:ext>
                </p:extLst>
              </p:nvPr>
            </p:nvGraphicFramePr>
            <p:xfrm>
              <a:off x="0" y="1063488"/>
              <a:ext cx="12192000" cy="495337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3021799">
                      <a:extLst>
                        <a:ext uri="{9D8B030D-6E8A-4147-A177-3AD203B41FA5}">
                          <a16:colId xmlns:a16="http://schemas.microsoft.com/office/drawing/2014/main" val="2596525262"/>
                        </a:ext>
                      </a:extLst>
                    </a:gridCol>
                    <a:gridCol w="9170201">
                      <a:extLst>
                        <a:ext uri="{9D8B030D-6E8A-4147-A177-3AD203B41FA5}">
                          <a16:colId xmlns:a16="http://schemas.microsoft.com/office/drawing/2014/main" val="2935440286"/>
                        </a:ext>
                      </a:extLst>
                    </a:gridCol>
                  </a:tblGrid>
                  <a:tr h="5749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Terms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Equation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33336105"/>
                      </a:ext>
                    </a:extLst>
                  </a:tr>
                  <a:tr h="8411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Data loss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cy-GB" altLang="zh-TW" sz="180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cy-GB" altLang="zh-TW" sz="180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cy-GB" altLang="zh-TW" sz="180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𝑑𝑎𝑡𝑎</m:t>
                                    </m:r>
                                  </m:sub>
                                </m:sSub>
                                <m:r>
                                  <a:rPr lang="cy-GB" altLang="zh-TW" sz="1800" i="1" kern="100" dirty="0" smtClean="0"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cy-GB" altLang="zh-TW" sz="180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cy-GB" altLang="zh-TW" sz="180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cy-GB" altLang="zh-TW" sz="180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cy-GB" altLang="zh-TW" sz="180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  <m:t>𝑁</m:t>
                                        </m:r>
                                      </m:e>
                                      <m:sub>
                                        <m:r>
                                          <a:rPr lang="cy-GB" altLang="zh-TW" sz="180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  <m:t>𝑑𝑎𝑡𝑎</m:t>
                                        </m:r>
                                      </m:sub>
                                    </m:sSub>
                                  </m:den>
                                </m:f>
                                <m:nary>
                                  <m:naryPr>
                                    <m:chr m:val="∑"/>
                                    <m:ctrlPr>
                                      <a:rPr lang="cy-GB" altLang="zh-TW" sz="180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cy-GB" altLang="zh-TW" sz="180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  <m:r>
                                      <a:rPr lang="cy-GB" altLang="zh-TW" sz="180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sSub>
                                      <m:sSubPr>
                                        <m:ctrlPr>
                                          <a:rPr lang="cy-GB" altLang="zh-TW" sz="180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cy-GB" altLang="zh-TW" sz="180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  <m:t>𝑁</m:t>
                                        </m:r>
                                      </m:e>
                                      <m:sub>
                                        <m:r>
                                          <a:rPr lang="cy-GB" altLang="zh-TW" sz="180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  <m:t>𝑑𝑎𝑡𝑎</m:t>
                                        </m:r>
                                      </m:sub>
                                    </m:sSub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cy-GB" altLang="zh-TW" sz="180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cy-GB" altLang="zh-TW" sz="1800" i="1" kern="100" dirty="0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acc>
                                              <m:accPr>
                                                <m:chr m:val="⃗"/>
                                                <m:ctrlPr>
                                                  <a:rPr lang="cy-GB" altLang="zh-TW" sz="1800" i="1" kern="100" dirty="0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cy-GB" altLang="zh-TW" sz="1800" i="1" kern="100" dirty="0" smtClea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+mn-ea"/>
                                                        <a:cs typeface="Times New Roman" panose="020206030504050203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cy-GB" altLang="zh-TW" sz="1800" i="1" kern="100" dirty="0" smtClea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+mn-ea"/>
                                                        <a:cs typeface="Times New Roman" panose="02020603050405020304" pitchFamily="18" charset="0"/>
                                                      </a:rPr>
                                                      <m:t>𝑉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cy-GB" altLang="zh-TW" sz="1800" i="1" kern="100" dirty="0" smtClea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+mn-ea"/>
                                                        <a:cs typeface="Times New Roman" panose="02020603050405020304" pitchFamily="18" charset="0"/>
                                                      </a:rPr>
                                                      <m:t>𝑝𝑟𝑒𝑑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acc>
                                            <m:r>
                                              <a:rPr lang="cy-GB" altLang="zh-TW" sz="1800" i="1" kern="100" dirty="0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Times New Roman" panose="02020603050405020304" pitchFamily="18" charset="0"/>
                                              </a:rPr>
                                              <m:t>−</m:t>
                                            </m:r>
                                            <m:acc>
                                              <m:accPr>
                                                <m:chr m:val="⃗"/>
                                                <m:ctrlPr>
                                                  <a:rPr lang="cy-GB" altLang="zh-TW" sz="1800" i="1" kern="100" dirty="0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cy-GB" altLang="zh-TW" sz="1800" i="1" kern="100" dirty="0" smtClea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+mn-ea"/>
                                                        <a:cs typeface="Times New Roman" panose="020206030504050203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cy-GB" altLang="zh-TW" sz="1800" i="1" kern="100" dirty="0" smtClea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+mn-ea"/>
                                                        <a:cs typeface="Times New Roman" panose="02020603050405020304" pitchFamily="18" charset="0"/>
                                                      </a:rPr>
                                                      <m:t>𝑉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cy-GB" altLang="zh-TW" sz="1800" i="1" kern="100" dirty="0" smtClea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+mn-ea"/>
                                                        <a:cs typeface="Times New Roman" panose="02020603050405020304" pitchFamily="18" charset="0"/>
                                                      </a:rPr>
                                                      <m:t>𝑜𝑏𝑠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acc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cy-GB" altLang="zh-TW" sz="180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oMath>
                            </m:oMathPara>
                          </a14:m>
                          <a:endParaRPr dirty="0"/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799630122"/>
                      </a:ext>
                    </a:extLst>
                  </a:tr>
                  <a:tr h="16975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Physics Residual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altLang="zh-TW" sz="180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𝑚𝑜𝑚</m:t>
                                    </m:r>
                                  </m:sub>
                                </m:sSub>
                                <m:r>
                                  <a:rPr lang="en-US" altLang="zh-TW" sz="1800" i="1" kern="100" dirty="0" smtClean="0"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cy-GB" altLang="zh-TW" sz="180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cy-GB" altLang="zh-TW" sz="180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cy-GB" altLang="zh-TW" sz="180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cy-GB" altLang="zh-TW" sz="180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  <m:t>𝑁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800" b="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  <m:t>pde</m:t>
                                        </m:r>
                                      </m:sub>
                                    </m:sSub>
                                  </m:den>
                                </m:f>
                                <m:nary>
                                  <m:naryPr>
                                    <m:chr m:val="∑"/>
                                    <m:ctrlPr>
                                      <a:rPr lang="cy-GB" altLang="zh-TW" sz="180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cy-GB" altLang="zh-TW" sz="180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  <m:r>
                                      <a:rPr lang="cy-GB" altLang="zh-TW" sz="180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sSub>
                                      <m:sSubPr>
                                        <m:ctrlPr>
                                          <a:rPr lang="cy-GB" altLang="zh-TW" sz="180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cy-GB" altLang="zh-TW" sz="180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  <m:t>𝑁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800" b="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  <m:t>pde</m:t>
                                        </m:r>
                                      </m:sub>
                                    </m:sSub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cy-GB" altLang="zh-TW" sz="180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cy-GB" altLang="zh-TW" sz="1800" i="1" kern="100" dirty="0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TW" sz="1800" b="0" i="1" kern="100" dirty="0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Times New Roman" panose="020206030504050203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zh-TW" sz="1800" b="0" i="1" kern="100" dirty="0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Times New Roman" panose="02020603050405020304" pitchFamily="18" charset="0"/>
                                              </a:rPr>
                                              <m:t>N</m:t>
                                            </m:r>
                                            <m:r>
                                              <a:rPr lang="en-US" altLang="zh-TW" sz="1800" b="0" i="1" kern="100" dirty="0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Times New Roman" panose="020206030504050203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zh-TW" sz="1800" b="0" i="1" kern="100" dirty="0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Times New Roman" panose="02020603050405020304" pitchFamily="18" charset="0"/>
                                              </a:rPr>
                                              <m:t>S</m:t>
                                            </m:r>
                                            <m:r>
                                              <a:rPr lang="en-US" altLang="zh-TW" sz="1800" b="0" i="1" kern="100" dirty="0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Times New Roman" panose="02020603050405020304" pitchFamily="18" charset="0"/>
                                              </a:rPr>
                                              <m:t> 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zh-TW" sz="1800" b="0" i="1" kern="100" dirty="0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Times New Roman" panose="02020603050405020304" pitchFamily="18" charset="0"/>
                                              </a:rPr>
                                              <m:t>equation</m:t>
                                            </m:r>
                                            <m:r>
                                              <a:rPr lang="en-US" altLang="zh-TW" sz="1800" b="0" i="1" kern="100" dirty="0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Times New Roman" panose="02020603050405020304" pitchFamily="18" charset="0"/>
                                              </a:rPr>
                                              <m:t>)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cy-GB" altLang="zh-TW" sz="180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oMath>
                            </m:oMathPara>
                          </a14:m>
                          <a:endParaRPr lang="en-US" altLang="zh-TW" sz="1800" kern="100" dirty="0"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zh-TW" sz="1800" b="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cont</m:t>
                                    </m:r>
                                  </m:sub>
                                </m:sSub>
                                <m:r>
                                  <a:rPr lang="en-US" altLang="zh-TW" sz="1800" i="1" kern="100" dirty="0" smtClean="0"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cy-GB" altLang="zh-TW" sz="180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cy-GB" altLang="zh-TW" sz="180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cy-GB" altLang="zh-TW" sz="180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cy-GB" altLang="zh-TW" sz="180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  <m:t>𝑁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1800" b="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  <m:t>pde</m:t>
                                        </m:r>
                                      </m:sub>
                                    </m:sSub>
                                  </m:den>
                                </m:f>
                                <m:nary>
                                  <m:naryPr>
                                    <m:chr m:val="∑"/>
                                    <m:ctrlPr>
                                      <a:rPr lang="cy-GB" altLang="zh-TW" sz="180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cy-GB" altLang="zh-TW" sz="180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  <m:r>
                                      <a:rPr lang="cy-GB" altLang="zh-TW" sz="180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sSub>
                                      <m:sSubPr>
                                        <m:ctrlPr>
                                          <a:rPr lang="cy-GB" altLang="zh-TW" sz="1800" b="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cy-GB" altLang="zh-TW" sz="1800" b="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  <m:t>𝑁</m:t>
                                        </m:r>
                                      </m:e>
                                      <m:sub>
                                        <m:r>
                                          <a:rPr lang="en-US" altLang="zh-TW" sz="1800" b="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  <m:t>𝑝𝑑𝑒</m:t>
                                        </m:r>
                                      </m:sub>
                                    </m:sSub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cy-GB" altLang="zh-TW" sz="1800" b="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altLang="zh-TW" sz="1800" b="0" i="1" kern="100" dirty="0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zh-TW" sz="1800" b="0" i="0" kern="100" dirty="0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Times New Roman" panose="02020603050405020304" pitchFamily="18" charset="0"/>
                                              </a:rPr>
                                              <m:t>∇</m:t>
                                            </m:r>
                                            <m:r>
                                              <a:rPr lang="en-US" altLang="zh-TW" sz="1800" b="0" i="1" kern="100" dirty="0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Times New Roman" panose="02020603050405020304" pitchFamily="18" charset="0"/>
                                              </a:rPr>
                                              <m:t>⋅</m:t>
                                            </m:r>
                                            <m:acc>
                                              <m:accPr>
                                                <m:chr m:val="⃗"/>
                                                <m:ctrlPr>
                                                  <a:rPr lang="en-US" altLang="zh-TW" sz="1800" b="0" i="1" kern="100" dirty="0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altLang="zh-TW" sz="1800" b="0" i="1" kern="100" dirty="0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Times New Roman" panose="02020603050405020304" pitchFamily="18" charset="0"/>
                                                  </a:rPr>
                                                  <m:t>𝑉</m:t>
                                                </m:r>
                                              </m:e>
                                            </m:acc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cy-GB" altLang="zh-TW" sz="1800" b="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oMath>
                            </m:oMathPara>
                          </a14:m>
                          <a:endParaRPr lang="en-US" altLang="zh-TW" sz="18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324418245"/>
                      </a:ext>
                    </a:extLst>
                  </a:tr>
                  <a:tr h="91543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Boundary loss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00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altLang="zh-TW" sz="2000" i="1" kern="100" dirty="0" err="1" smtClean="0"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𝑏𝑐</m:t>
                                    </m:r>
                                  </m:sub>
                                </m:sSub>
                                <m:r>
                                  <a:rPr lang="en-US" altLang="zh-TW" sz="2000" i="1" kern="100" dirty="0" smtClean="0"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zh-TW" sz="200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00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zh-TW" sz="200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  <m:t>𝑁</m:t>
                                        </m:r>
                                      </m:e>
                                      <m:sub>
                                        <m:r>
                                          <a:rPr lang="en-US" altLang="zh-TW" sz="2000" i="1" kern="100" dirty="0" err="1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  <m:t>𝑏𝑐</m:t>
                                        </m:r>
                                      </m:sub>
                                    </m:sSub>
                                  </m:den>
                                </m:f>
                                <m:nary>
                                  <m:naryPr>
                                    <m:chr m:val="∑"/>
                                    <m:ctrlPr>
                                      <a:rPr lang="en-US" altLang="zh-TW" sz="200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zh-TW" sz="2000" i="1" kern="100" dirty="0" err="1" smtClean="0"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TW" sz="200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sSub>
                                      <m:sSubPr>
                                        <m:ctrlPr>
                                          <a:rPr lang="en-US" altLang="zh-TW" sz="200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  <m:t>𝑁</m:t>
                                        </m:r>
                                      </m:e>
                                      <m:sub>
                                        <m:r>
                                          <a:rPr lang="en-US" altLang="zh-TW" sz="2000" i="1" kern="100" dirty="0" err="1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  <m:t>𝑏𝑐</m:t>
                                        </m:r>
                                      </m:sub>
                                    </m:sSub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altLang="zh-TW" sz="200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altLang="zh-TW" sz="2000" i="1" kern="100" dirty="0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TW" sz="2000" i="1" kern="100" dirty="0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Times New Roman" panose="02020603050405020304" pitchFamily="18" charset="0"/>
                                              </a:rPr>
                                              <m:t>𝐵𝐶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altLang="zh-TW" sz="200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821539807"/>
                      </a:ext>
                    </a:extLst>
                  </a:tr>
                  <a:tr h="9243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Prior loss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00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altLang="zh-TW" sz="200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𝑝𝑟𝑖𝑜𝑟</m:t>
                                    </m:r>
                                  </m:sub>
                                </m:sSub>
                                <m:r>
                                  <a:rPr lang="en-US" altLang="zh-TW" sz="2000" i="1" kern="100" dirty="0" smtClean="0"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zh-TW" sz="200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zh-TW" sz="200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TW" sz="2000" i="1" kern="100" dirty="0" smtClean="0"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∈</m:t>
                                    </m:r>
                                    <m:d>
                                      <m:dPr>
                                        <m:ctrlPr>
                                          <a:rPr lang="en-US" altLang="zh-TW" sz="200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新細明體" panose="02020500000000000000" pitchFamily="18" charset="-12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sz="200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新細明體" panose="02020500000000000000" pitchFamily="18" charset="-120"/>
                                            <a:cs typeface="Times New Roman" panose="02020603050405020304" pitchFamily="18" charset="0"/>
                                          </a:rPr>
                                          <m:t>𝑢</m:t>
                                        </m:r>
                                        <m:r>
                                          <a:rPr lang="en-US" altLang="zh-TW" sz="200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新細明體" panose="02020500000000000000" pitchFamily="18" charset="-120"/>
                                            <a:cs typeface="Times New Roman" panose="020206030504050203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TW" sz="200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新細明體" panose="02020500000000000000" pitchFamily="18" charset="-120"/>
                                            <a:cs typeface="Times New Roman" panose="02020603050405020304" pitchFamily="18" charset="0"/>
                                          </a:rPr>
                                          <m:t>𝑣</m:t>
                                        </m:r>
                                        <m:r>
                                          <a:rPr lang="en-US" altLang="zh-TW" sz="200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新細明體" panose="02020500000000000000" pitchFamily="18" charset="-120"/>
                                            <a:cs typeface="Times New Roman" panose="020206030504050203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TW" sz="200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新細明體" panose="02020500000000000000" pitchFamily="18" charset="-120"/>
                                            <a:cs typeface="Times New Roman" panose="02020603050405020304" pitchFamily="18" charset="0"/>
                                          </a:rPr>
                                          <m:t>𝑤</m:t>
                                        </m:r>
                                        <m:r>
                                          <a:rPr lang="en-US" altLang="zh-TW" sz="200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新細明體" panose="02020500000000000000" pitchFamily="18" charset="-120"/>
                                            <a:cs typeface="Times New Roman" panose="020206030504050203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TW" sz="200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新細明體" panose="02020500000000000000" pitchFamily="18" charset="-120"/>
                                            <a:cs typeface="Times New Roman" panose="02020603050405020304" pitchFamily="18" charset="0"/>
                                          </a:rPr>
                                          <m:t>𝑝</m:t>
                                        </m:r>
                                      </m:e>
                                    </m:d>
                                  </m:sub>
                                  <m:sup/>
                                  <m:e>
                                    <m:f>
                                      <m:fPr>
                                        <m:ctrlPr>
                                          <a:rPr lang="en-US" altLang="zh-TW" sz="200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新細明體" panose="02020500000000000000" pitchFamily="18" charset="-12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TW" sz="200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新細明體" panose="02020500000000000000" pitchFamily="18" charset="-12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altLang="zh-TW" sz="200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新細明體" panose="02020500000000000000" pitchFamily="18" charset="-120"/>
                                            <a:cs typeface="Times New Roman" panose="02020603050405020304" pitchFamily="18" charset="0"/>
                                          </a:rPr>
                                          <m:t>𝑁</m:t>
                                        </m:r>
                                      </m:den>
                                    </m:f>
                                    <m:nary>
                                      <m:naryPr>
                                        <m:chr m:val="∑"/>
                                        <m:ctrlPr>
                                          <a:rPr lang="en-US" altLang="zh-TW" sz="2000" i="1" kern="100" dirty="0" err="1" smtClean="0">
                                            <a:effectLst/>
                                            <a:latin typeface="Cambria Math" panose="02040503050406030204" pitchFamily="18" charset="0"/>
                                            <a:ea typeface="新細明體" panose="02020500000000000000" pitchFamily="18" charset="-12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n-US" altLang="zh-TW" sz="2000" i="1" kern="100" dirty="0" err="1" smtClean="0">
                                            <a:effectLst/>
                                            <a:latin typeface="Cambria Math" panose="02040503050406030204" pitchFamily="18" charset="0"/>
                                            <a:ea typeface="新細明體" panose="02020500000000000000" pitchFamily="18" charset="-12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zh-TW" sz="200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新細明體" panose="02020500000000000000" pitchFamily="18" charset="-120"/>
                                            <a:cs typeface="Times New Roman" panose="020206030504050203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n-US" altLang="zh-TW" sz="2000" i="1" kern="100" dirty="0" smtClean="0">
                                            <a:effectLst/>
                                            <a:latin typeface="Cambria Math" panose="02040503050406030204" pitchFamily="18" charset="0"/>
                                            <a:ea typeface="新細明體" panose="02020500000000000000" pitchFamily="18" charset="-120"/>
                                            <a:cs typeface="Times New Roman" panose="02020603050405020304" pitchFamily="18" charset="0"/>
                                          </a:rPr>
                                          <m:t>𝑁</m:t>
                                        </m:r>
                                      </m:sup>
                                      <m:e>
                                        <m:sSup>
                                          <m:sSupPr>
                                            <m:ctrlPr>
                                              <a:rPr lang="en-US" altLang="zh-TW" sz="2000" i="1" kern="100" dirty="0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新細明體" panose="02020500000000000000" pitchFamily="18" charset="-12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begChr m:val="|"/>
                                                <m:endChr m:val="|"/>
                                                <m:ctrlPr>
                                                  <a:rPr lang="en-US" altLang="zh-TW" sz="2000" i="1" kern="100" dirty="0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新細明體" panose="02020500000000000000" pitchFamily="18" charset="-12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Sup>
                                                  <m:sSubSupPr>
                                                    <m:ctrlPr>
                                                      <a:rPr lang="en-US" altLang="zh-TW" sz="2000" i="1" kern="100" dirty="0" smtClea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新細明體" panose="02020500000000000000" pitchFamily="18" charset="-120"/>
                                                        <a:cs typeface="Times New Roman" panose="02020603050405020304" pitchFamily="18" charset="0"/>
                                                      </a:rPr>
                                                    </m:ctrlPr>
                                                  </m:sSubSupPr>
                                                  <m:e>
                                                    <m:r>
                                                      <a:rPr lang="en-US" altLang="zh-TW" sz="2000" i="1" kern="100" dirty="0" smtClea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新細明體" panose="02020500000000000000" pitchFamily="18" charset="-120"/>
                                                        <a:cs typeface="Times New Roman" panose="02020603050405020304" pitchFamily="18" charset="0"/>
                                                      </a:rPr>
                                                      <m:t>𝜙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TW" sz="2000" i="1" kern="100" dirty="0" smtClea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新細明體" panose="02020500000000000000" pitchFamily="18" charset="-120"/>
                                                        <a:cs typeface="Times New Roman" panose="02020603050405020304" pitchFamily="18" charset="0"/>
                                                      </a:rPr>
                                                      <m:t>𝑗</m:t>
                                                    </m:r>
                                                  </m:sub>
                                                  <m:sup>
                                                    <m:r>
                                                      <a:rPr lang="en-US" altLang="zh-TW" sz="2000" i="1" kern="100" dirty="0" smtClea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新細明體" panose="02020500000000000000" pitchFamily="18" charset="-120"/>
                                                        <a:cs typeface="Times New Roman" panose="02020603050405020304" pitchFamily="18" charset="0"/>
                                                      </a:rPr>
                                                      <m:t>𝐻𝐹</m:t>
                                                    </m:r>
                                                  </m:sup>
                                                </m:sSubSup>
                                                <m:r>
                                                  <a:rPr lang="en-US" altLang="zh-TW" sz="2000" i="1" kern="100" dirty="0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新細明體" panose="02020500000000000000" pitchFamily="18" charset="-120"/>
                                                    <a:cs typeface="Times New Roman" panose="02020603050405020304" pitchFamily="18" charset="0"/>
                                                  </a:rPr>
                                                  <m:t>−</m:t>
                                                </m:r>
                                                <m:sSubSup>
                                                  <m:sSubSupPr>
                                                    <m:ctrlPr>
                                                      <a:rPr lang="en-US" altLang="zh-TW" sz="2000" i="1" kern="100" dirty="0" smtClea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新細明體" panose="02020500000000000000" pitchFamily="18" charset="-120"/>
                                                        <a:cs typeface="Times New Roman" panose="02020603050405020304" pitchFamily="18" charset="0"/>
                                                      </a:rPr>
                                                    </m:ctrlPr>
                                                  </m:sSubSupPr>
                                                  <m:e>
                                                    <m:r>
                                                      <a:rPr lang="en-US" altLang="zh-TW" sz="2000" i="1" kern="100" dirty="0" smtClea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新細明體" panose="02020500000000000000" pitchFamily="18" charset="-120"/>
                                                        <a:cs typeface="Times New Roman" panose="02020603050405020304" pitchFamily="18" charset="0"/>
                                                      </a:rPr>
                                                      <m:t>𝜙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TW" sz="2000" i="1" kern="100" dirty="0" smtClea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新細明體" panose="02020500000000000000" pitchFamily="18" charset="-120"/>
                                                        <a:cs typeface="Times New Roman" panose="02020603050405020304" pitchFamily="18" charset="0"/>
                                                      </a:rPr>
                                                      <m:t>𝑗</m:t>
                                                    </m:r>
                                                  </m:sub>
                                                  <m:sup>
                                                    <m:r>
                                                      <a:rPr lang="en-US" altLang="zh-TW" sz="2000" i="1" kern="100" dirty="0" smtClea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新細明體" panose="02020500000000000000" pitchFamily="18" charset="-120"/>
                                                        <a:cs typeface="Times New Roman" panose="02020603050405020304" pitchFamily="18" charset="0"/>
                                                      </a:rPr>
                                                      <m:t>𝐿𝐹</m:t>
                                                    </m:r>
                                                  </m:sup>
                                                </m:sSubSup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en-US" altLang="zh-TW" sz="2000" i="1" kern="100" dirty="0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新細明體" panose="02020500000000000000" pitchFamily="18" charset="-120"/>
                                                <a:cs typeface="Times New Roman" panose="020206030504050203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nary>
                                  </m:e>
                                </m:nary>
                              </m:oMath>
                            </m:oMathPara>
                          </a14:m>
                          <a:endParaRPr dirty="0"/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08470206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6C654255-55EF-08BF-641F-752B05D932D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03521052"/>
                  </p:ext>
                </p:extLst>
              </p:nvPr>
            </p:nvGraphicFramePr>
            <p:xfrm>
              <a:off x="0" y="1063488"/>
              <a:ext cx="12192000" cy="495337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3021799">
                      <a:extLst>
                        <a:ext uri="{9D8B030D-6E8A-4147-A177-3AD203B41FA5}">
                          <a16:colId xmlns:a16="http://schemas.microsoft.com/office/drawing/2014/main" val="2596525262"/>
                        </a:ext>
                      </a:extLst>
                    </a:gridCol>
                    <a:gridCol w="9170201">
                      <a:extLst>
                        <a:ext uri="{9D8B030D-6E8A-4147-A177-3AD203B41FA5}">
                          <a16:colId xmlns:a16="http://schemas.microsoft.com/office/drawing/2014/main" val="2935440286"/>
                        </a:ext>
                      </a:extLst>
                    </a:gridCol>
                  </a:tblGrid>
                  <a:tr h="5749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Terms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Equation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33336105"/>
                      </a:ext>
                    </a:extLst>
                  </a:tr>
                  <a:tr h="8411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Data loss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3102" t="-98507" r="-416" b="-5910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9630122"/>
                      </a:ext>
                    </a:extLst>
                  </a:tr>
                  <a:tr h="16975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Physics Residual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3102" t="-99254" r="-416" b="-1955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4418245"/>
                      </a:ext>
                    </a:extLst>
                  </a:tr>
                  <a:tr h="91543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Boundary loss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3102" t="-370833" r="-416" b="-263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21539807"/>
                      </a:ext>
                    </a:extLst>
                  </a:tr>
                  <a:tr h="9243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Prior loss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3102" t="-464384" r="-416" b="-1602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470206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045256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9AFDC8B5-D69B-4CB0-AA39-0AB57C8FE1F1}"/>
              </a:ext>
            </a:extLst>
          </p:cNvPr>
          <p:cNvSpPr/>
          <p:nvPr/>
        </p:nvSpPr>
        <p:spPr>
          <a:xfrm>
            <a:off x="-1" y="418624"/>
            <a:ext cx="12191999" cy="646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Training strategy</a:t>
            </a:r>
            <a:endParaRPr lang="en-GB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3" name="圖片 2" descr="一張含有 文字, 螢幕擷取畫面, 字型, 圖表 的圖片  AI 產生的內容可能不正確。">
            <a:extLst>
              <a:ext uri="{FF2B5EF4-FFF2-40B4-BE49-F238E27FC236}">
                <a16:creationId xmlns:a16="http://schemas.microsoft.com/office/drawing/2014/main" id="{ED9D7C77-8D36-54A9-7DBC-3B0A9E491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23" y="1855042"/>
            <a:ext cx="11664554" cy="3791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5067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AF351-8E60-43F4-98E5-9C57B6AC27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GB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Initial Result and Discussion</a:t>
            </a:r>
            <a:endParaRPr lang="zh-TW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D6C30B-D6EF-46B0-93A5-5CAE18A44D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>
            <a:normAutofit lnSpcReduction="10000"/>
          </a:bodyPr>
          <a:lstStyle/>
          <a:p>
            <a:pPr algn="r"/>
            <a:r>
              <a:rPr lang="en-GB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2D Kolmogorov flow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8796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>
            <a:extLst>
              <a:ext uri="{FF2B5EF4-FFF2-40B4-BE49-F238E27FC236}">
                <a16:creationId xmlns:a16="http://schemas.microsoft.com/office/drawing/2014/main" id="{9FD336B4-025E-F043-51A2-1421C7E85FAF}"/>
              </a:ext>
            </a:extLst>
          </p:cNvPr>
          <p:cNvSpPr txBox="1"/>
          <p:nvPr/>
        </p:nvSpPr>
        <p:spPr>
          <a:xfrm>
            <a:off x="0" y="411480"/>
            <a:ext cx="12188952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latin typeface="Times New Roman"/>
              </a:defRPr>
            </a:pPr>
            <a:r>
              <a:rPr dirty="0"/>
              <a:t>Method Validation: 2D Lid-Driven Cavity Flow (Re=5000)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BFBA0E11-EC56-DFF8-AE85-A39B4B92DB24}"/>
              </a:ext>
            </a:extLst>
          </p:cNvPr>
          <p:cNvSpPr txBox="1"/>
          <p:nvPr/>
        </p:nvSpPr>
        <p:spPr>
          <a:xfrm>
            <a:off x="457200" y="10972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latin typeface="Times New Roman"/>
              </a:defRPr>
            </a:pPr>
            <a:r>
              <a:rPr dirty="0"/>
              <a:t>Classic CFD Benchmark: Square cavity (1×1) with moving top wall (U=1), stationary walls, Re=5000</a:t>
            </a:r>
          </a:p>
          <a:p>
            <a:pPr algn="ctr">
              <a:defRPr sz="1400" i="1">
                <a:latin typeface="Times New Roman"/>
              </a:defRPr>
            </a:pPr>
            <a:r>
              <a:rPr dirty="0"/>
              <a:t>Validation against Ghia et al. (1982) reference solution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70A0C948-813F-60FC-8109-84923081D3DE}"/>
              </a:ext>
            </a:extLst>
          </p:cNvPr>
          <p:cNvSpPr txBox="1"/>
          <p:nvPr/>
        </p:nvSpPr>
        <p:spPr>
          <a:xfrm>
            <a:off x="487680" y="1680089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latin typeface="Times New Roman"/>
              </a:defRPr>
            </a:pPr>
            <a:r>
              <a:t>Forward Problem (Pure PINNs)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645CB681-9335-58FA-CAF6-B6BDEC5FC275}"/>
              </a:ext>
            </a:extLst>
          </p:cNvPr>
          <p:cNvSpPr txBox="1"/>
          <p:nvPr/>
        </p:nvSpPr>
        <p:spPr>
          <a:xfrm>
            <a:off x="6248400" y="1680089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latin typeface="Times New Roman"/>
              </a:defRPr>
            </a:pPr>
            <a:r>
              <a:rPr dirty="0"/>
              <a:t>Inverse Problem (Sparse Supervision)</a:t>
            </a:r>
          </a:p>
        </p:txBody>
      </p:sp>
      <p:pic>
        <p:nvPicPr>
          <p:cNvPr id="9" name="Picture 5" descr="lid_cavity_forward_profiles.png">
            <a:extLst>
              <a:ext uri="{FF2B5EF4-FFF2-40B4-BE49-F238E27FC236}">
                <a16:creationId xmlns:a16="http://schemas.microsoft.com/office/drawing/2014/main" id="{C3C719D6-A42D-5659-62E5-885747AFD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855" y="2139834"/>
            <a:ext cx="5938145" cy="2047636"/>
          </a:xfrm>
          <a:prstGeom prst="rect">
            <a:avLst/>
          </a:prstGeom>
        </p:spPr>
      </p:pic>
      <p:pic>
        <p:nvPicPr>
          <p:cNvPr id="12" name="Picture 7" descr="lid_cavity_super_profiles.png">
            <a:extLst>
              <a:ext uri="{FF2B5EF4-FFF2-40B4-BE49-F238E27FC236}">
                <a16:creationId xmlns:a16="http://schemas.microsoft.com/office/drawing/2014/main" id="{E5EC1A63-D564-5D24-BB25-2911CAAEB3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7984" y="2140518"/>
            <a:ext cx="5936162" cy="2046952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8A161183-892C-7502-D874-B643075C85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7919" y="4222880"/>
            <a:ext cx="5936162" cy="2061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1431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5884F-67A8-965D-4852-0041776CC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3">
            <a:extLst>
              <a:ext uri="{FF2B5EF4-FFF2-40B4-BE49-F238E27FC236}">
                <a16:creationId xmlns:a16="http://schemas.microsoft.com/office/drawing/2014/main" id="{F51EE730-FA97-4FEE-7BE0-2FB2001A0EC8}"/>
              </a:ext>
            </a:extLst>
          </p:cNvPr>
          <p:cNvSpPr/>
          <p:nvPr/>
        </p:nvSpPr>
        <p:spPr>
          <a:xfrm>
            <a:off x="1" y="299595"/>
            <a:ext cx="12191999" cy="8846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GB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2D Kolmogorov flow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B0CAD5FF-3557-8957-DFF9-0622CFC8BB13}"/>
              </a:ext>
            </a:extLst>
          </p:cNvPr>
          <p:cNvGraphicFramePr>
            <a:graphicFrameLocks noGrp="1"/>
          </p:cNvGraphicFramePr>
          <p:nvPr/>
        </p:nvGraphicFramePr>
        <p:xfrm>
          <a:off x="7722792" y="3038510"/>
          <a:ext cx="417109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5546">
                  <a:extLst>
                    <a:ext uri="{9D8B030D-6E8A-4147-A177-3AD203B41FA5}">
                      <a16:colId xmlns:a16="http://schemas.microsoft.com/office/drawing/2014/main" val="3066237572"/>
                    </a:ext>
                  </a:extLst>
                </a:gridCol>
                <a:gridCol w="2085546">
                  <a:extLst>
                    <a:ext uri="{9D8B030D-6E8A-4147-A177-3AD203B41FA5}">
                      <a16:colId xmlns:a16="http://schemas.microsoft.com/office/drawing/2014/main" val="34241435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L2 norm error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8430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U field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103.7%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9913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V field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210.4%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7910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P field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102.7%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022329"/>
                  </a:ext>
                </a:extLst>
              </a:tr>
            </a:tbl>
          </a:graphicData>
        </a:graphic>
      </p:graphicFrame>
      <p:pic>
        <p:nvPicPr>
          <p:cNvPr id="8" name="圖片 7" descr="一張含有 鮮豔, 樣式, 螢幕擷取畫面, Rectangle 的圖片  AI 產生的內容可能不正確。">
            <a:extLst>
              <a:ext uri="{FF2B5EF4-FFF2-40B4-BE49-F238E27FC236}">
                <a16:creationId xmlns:a16="http://schemas.microsoft.com/office/drawing/2014/main" id="{1052D159-A3FF-79D1-CF70-9DF0464253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761" y="1064601"/>
            <a:ext cx="6487297" cy="5802019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31DC6528-B644-C5AD-9BD5-30A19494DA52}"/>
              </a:ext>
            </a:extLst>
          </p:cNvPr>
          <p:cNvSpPr txBox="1"/>
          <p:nvPr/>
        </p:nvSpPr>
        <p:spPr>
          <a:xfrm>
            <a:off x="7510689" y="2207513"/>
            <a:ext cx="45952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2400" dirty="0"/>
              <a:t>Initial result using enhanced PINNs,</a:t>
            </a:r>
          </a:p>
          <a:p>
            <a:r>
              <a:rPr kumimoji="1" lang="en-US" altLang="zh-TW" sz="2400" dirty="0"/>
              <a:t>Compare at t = 25(s)</a:t>
            </a:r>
            <a:endParaRPr kumimoji="1"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7826966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5DB3B-B0BC-69B7-A1BA-BE06D12C2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3">
            <a:extLst>
              <a:ext uri="{FF2B5EF4-FFF2-40B4-BE49-F238E27FC236}">
                <a16:creationId xmlns:a16="http://schemas.microsoft.com/office/drawing/2014/main" id="{BFE96D42-250C-B8F4-BCEB-6AB23756F772}"/>
              </a:ext>
            </a:extLst>
          </p:cNvPr>
          <p:cNvSpPr/>
          <p:nvPr/>
        </p:nvSpPr>
        <p:spPr>
          <a:xfrm>
            <a:off x="1" y="299595"/>
            <a:ext cx="12191999" cy="8846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GB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2D Kolmogorov flow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BCBA6E3-0765-2098-8175-D2D0CF3E43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6321653"/>
              </p:ext>
            </p:extLst>
          </p:nvPr>
        </p:nvGraphicFramePr>
        <p:xfrm>
          <a:off x="2169627" y="2662537"/>
          <a:ext cx="7852744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3186">
                  <a:extLst>
                    <a:ext uri="{9D8B030D-6E8A-4147-A177-3AD203B41FA5}">
                      <a16:colId xmlns:a16="http://schemas.microsoft.com/office/drawing/2014/main" val="3066237572"/>
                    </a:ext>
                  </a:extLst>
                </a:gridCol>
                <a:gridCol w="1963186">
                  <a:extLst>
                    <a:ext uri="{9D8B030D-6E8A-4147-A177-3AD203B41FA5}">
                      <a16:colId xmlns:a16="http://schemas.microsoft.com/office/drawing/2014/main" val="3517472240"/>
                    </a:ext>
                  </a:extLst>
                </a:gridCol>
                <a:gridCol w="1963186">
                  <a:extLst>
                    <a:ext uri="{9D8B030D-6E8A-4147-A177-3AD203B41FA5}">
                      <a16:colId xmlns:a16="http://schemas.microsoft.com/office/drawing/2014/main" val="4167224401"/>
                    </a:ext>
                  </a:extLst>
                </a:gridCol>
                <a:gridCol w="1963186">
                  <a:extLst>
                    <a:ext uri="{9D8B030D-6E8A-4147-A177-3AD203B41FA5}">
                      <a16:colId xmlns:a16="http://schemas.microsoft.com/office/drawing/2014/main" val="9614938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vanilla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Enhanced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Improvement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8430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U field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109.6%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103.7%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0.055%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9913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V field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323.0%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210.4%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34.86%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7910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P field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107.0%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102.7%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4.02%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022329"/>
                  </a:ext>
                </a:extLst>
              </a:tr>
            </a:tbl>
          </a:graphicData>
        </a:graphic>
      </p:graphicFrame>
      <p:sp>
        <p:nvSpPr>
          <p:cNvPr id="13" name="文字方塊 12">
            <a:extLst>
              <a:ext uri="{FF2B5EF4-FFF2-40B4-BE49-F238E27FC236}">
                <a16:creationId xmlns:a16="http://schemas.microsoft.com/office/drawing/2014/main" id="{DB752018-2448-581C-65CD-7C8292525F61}"/>
              </a:ext>
            </a:extLst>
          </p:cNvPr>
          <p:cNvSpPr txBox="1"/>
          <p:nvPr/>
        </p:nvSpPr>
        <p:spPr>
          <a:xfrm>
            <a:off x="2868834" y="1692563"/>
            <a:ext cx="6454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2400" dirty="0"/>
              <a:t>Comparison of vanilla PINNs with enhanced PINNs</a:t>
            </a:r>
            <a:endParaRPr kumimoji="1"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0891286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4FDD1-7136-FB47-FFDF-BA51EB81A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3">
            <a:extLst>
              <a:ext uri="{FF2B5EF4-FFF2-40B4-BE49-F238E27FC236}">
                <a16:creationId xmlns:a16="http://schemas.microsoft.com/office/drawing/2014/main" id="{4BC2A065-C8CE-AE58-657C-F5F7AC072701}"/>
              </a:ext>
            </a:extLst>
          </p:cNvPr>
          <p:cNvSpPr/>
          <p:nvPr/>
        </p:nvSpPr>
        <p:spPr>
          <a:xfrm>
            <a:off x="1" y="299595"/>
            <a:ext cx="12191999" cy="8846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GB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3D Channel flow</a:t>
            </a:r>
          </a:p>
        </p:txBody>
      </p:sp>
      <p:pic>
        <p:nvPicPr>
          <p:cNvPr id="5" name="圖片 4" descr="一張含有 鮮豔, 螢幕擷取畫面 的圖片  AI 產生的內容可能不正確。">
            <a:extLst>
              <a:ext uri="{FF2B5EF4-FFF2-40B4-BE49-F238E27FC236}">
                <a16:creationId xmlns:a16="http://schemas.microsoft.com/office/drawing/2014/main" id="{F97C6AE3-61DB-EA1B-AAC5-8A4EA489B9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097946"/>
            <a:ext cx="7955478" cy="1925529"/>
          </a:xfrm>
          <a:prstGeom prst="rect">
            <a:avLst/>
          </a:prstGeom>
        </p:spPr>
      </p:pic>
      <p:pic>
        <p:nvPicPr>
          <p:cNvPr id="7" name="圖片 6" descr="一張含有 螢幕擷取畫面 的圖片  AI 產生的內容可能不正確。">
            <a:extLst>
              <a:ext uri="{FF2B5EF4-FFF2-40B4-BE49-F238E27FC236}">
                <a16:creationId xmlns:a16="http://schemas.microsoft.com/office/drawing/2014/main" id="{82BAFAA1-463E-CE39-B0A3-E94FE72FD9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023474"/>
            <a:ext cx="7961120" cy="1924171"/>
          </a:xfrm>
          <a:prstGeom prst="rect">
            <a:avLst/>
          </a:prstGeom>
        </p:spPr>
      </p:pic>
      <p:pic>
        <p:nvPicPr>
          <p:cNvPr id="9" name="圖片 8" descr="一張含有 螢幕擷取畫面, 繪圖 的圖片  AI 產生的內容可能不正確。">
            <a:extLst>
              <a:ext uri="{FF2B5EF4-FFF2-40B4-BE49-F238E27FC236}">
                <a16:creationId xmlns:a16="http://schemas.microsoft.com/office/drawing/2014/main" id="{A5404809-39FB-9487-3F86-0A99BB4473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33830"/>
            <a:ext cx="7966739" cy="1924170"/>
          </a:xfrm>
          <a:prstGeom prst="rect">
            <a:avLst/>
          </a:prstGeom>
        </p:spPr>
      </p:pic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BA4E01E3-7AD8-4EB0-9825-C899C4F13D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0709077"/>
              </p:ext>
            </p:extLst>
          </p:nvPr>
        </p:nvGraphicFramePr>
        <p:xfrm>
          <a:off x="8104536" y="3005574"/>
          <a:ext cx="393840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9203">
                  <a:extLst>
                    <a:ext uri="{9D8B030D-6E8A-4147-A177-3AD203B41FA5}">
                      <a16:colId xmlns:a16="http://schemas.microsoft.com/office/drawing/2014/main" val="3066237572"/>
                    </a:ext>
                  </a:extLst>
                </a:gridCol>
                <a:gridCol w="1969203">
                  <a:extLst>
                    <a:ext uri="{9D8B030D-6E8A-4147-A177-3AD203B41FA5}">
                      <a16:colId xmlns:a16="http://schemas.microsoft.com/office/drawing/2014/main" val="34241435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L2 norm error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8430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U field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98.52%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9913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V field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100.04%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7910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W field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100.27%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022329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00693EEF-6BFB-B18D-89D6-5A65CCC6A722}"/>
              </a:ext>
            </a:extLst>
          </p:cNvPr>
          <p:cNvSpPr txBox="1"/>
          <p:nvPr/>
        </p:nvSpPr>
        <p:spPr>
          <a:xfrm>
            <a:off x="8139651" y="1953464"/>
            <a:ext cx="386817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2000" dirty="0"/>
              <a:t>Initial result using enhanced PINNs,</a:t>
            </a:r>
          </a:p>
          <a:p>
            <a:r>
              <a:rPr kumimoji="1" lang="en-US" altLang="zh-TW" sz="2000" dirty="0"/>
              <a:t>Compare at t = 0(s) central slice</a:t>
            </a:r>
          </a:p>
          <a:p>
            <a:r>
              <a:rPr kumimoji="1" lang="en-US" altLang="zh-TW" sz="2000" dirty="0"/>
              <a:t>Without RANS prior loss</a:t>
            </a:r>
            <a:endParaRPr kumimoji="1"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103689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3">
            <a:extLst>
              <a:ext uri="{FF2B5EF4-FFF2-40B4-BE49-F238E27FC236}">
                <a16:creationId xmlns:a16="http://schemas.microsoft.com/office/drawing/2014/main" id="{DC7F60AA-4128-4356-B539-FA2387EB65D2}"/>
              </a:ext>
            </a:extLst>
          </p:cNvPr>
          <p:cNvSpPr/>
          <p:nvPr/>
        </p:nvSpPr>
        <p:spPr>
          <a:xfrm>
            <a:off x="-1" y="418624"/>
            <a:ext cx="12191999" cy="5798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GB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Next Step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DFCED86C-BCE9-08A0-869A-A61D89BF0254}"/>
                  </a:ext>
                </a:extLst>
              </p:cNvPr>
              <p:cNvSpPr txBox="1"/>
              <p:nvPr/>
            </p:nvSpPr>
            <p:spPr>
              <a:xfrm>
                <a:off x="543287" y="1188800"/>
                <a:ext cx="11648711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sz="2000" b="1" dirty="0"/>
                  <a:t>Identified Bottleneck: Loss Balancing &amp; Optimization Stability</a:t>
                </a:r>
              </a:p>
              <a:p>
                <a:r>
                  <a:rPr lang="zh-TW" altLang="en-US" sz="2000" dirty="0"/>
                  <a:t>         </a:t>
                </a:r>
                <a:r>
                  <a:rPr lang="en-US" altLang="zh-TW" sz="2000" dirty="0"/>
                  <a:t>Evaluate </a:t>
                </a:r>
                <a:r>
                  <a:rPr lang="en-US" altLang="zh-TW" sz="2000" b="1" dirty="0" err="1"/>
                  <a:t>GradNorm</a:t>
                </a:r>
                <a:r>
                  <a:rPr lang="en-US" altLang="zh-TW" sz="2000" dirty="0"/>
                  <a:t>, </a:t>
                </a:r>
                <a:r>
                  <a:rPr lang="en-US" altLang="zh-TW" sz="2000" b="1" dirty="0"/>
                  <a:t>Likelihood-based</a:t>
                </a:r>
                <a:r>
                  <a:rPr lang="en-US" altLang="zh-TW" sz="2000" dirty="0"/>
                  <a:t>, and manual tuning</a:t>
                </a:r>
                <a:r>
                  <a:rPr lang="zh-TW" altLang="en-US" sz="2000" dirty="0"/>
                  <a:t> </a:t>
                </a:r>
                <a:r>
                  <a:rPr lang="en-US" altLang="zh-TW" sz="2000" dirty="0"/>
                  <a:t>loss weight.</a:t>
                </a:r>
              </a:p>
              <a:p>
                <a:pPr lvl="1"/>
                <a:r>
                  <a:rPr lang="en-US" altLang="zh-TW" sz="2000" dirty="0"/>
                  <a:t>Quantify individual contributions of each loss term to reconstruction accuracy.</a:t>
                </a:r>
              </a:p>
              <a:p>
                <a:pPr lvl="1"/>
                <a:r>
                  <a:rPr lang="en-US" altLang="zh-TW" sz="2000" dirty="0"/>
                  <a:t>Optimize the optimization landscape for faster convergence.</a:t>
                </a:r>
              </a:p>
              <a:p>
                <a:pPr lvl="1"/>
                <a:endParaRPr lang="en-US" altLang="zh-TW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sz="2000" b="1" dirty="0"/>
                  <a:t>Improving Reconstruction via Multi-Fidelity Priors</a:t>
                </a:r>
              </a:p>
              <a:p>
                <a:r>
                  <a:rPr lang="zh-TW" altLang="en-US" sz="2000" dirty="0"/>
                  <a:t>         </a:t>
                </a:r>
                <a:r>
                  <a:rPr lang="en-US" altLang="zh-TW" sz="2000" dirty="0"/>
                  <a:t>Integrate </a:t>
                </a:r>
                <a:r>
                  <a:rPr lang="en-US" altLang="zh-TW" sz="2000" b="1" dirty="0"/>
                  <a:t>RANS soft priors</a:t>
                </a:r>
                <a:r>
                  <a:rPr lang="en-US" altLang="zh-TW" sz="2000" dirty="0"/>
                  <a:t> into the 3D Channel Flow (</a:t>
                </a:r>
                <a14:m>
                  <m:oMath xmlns:m="http://schemas.openxmlformats.org/officeDocument/2006/math">
                    <m:r>
                      <a:rPr lang="en-US" altLang="zh-TW" sz="2000" i="1" dirty="0" smtClean="0"/>
                      <m:t>𝑅</m:t>
                    </m:r>
                    <m:sSub>
                      <m:sSubPr>
                        <m:ctrlPr>
                          <a:rPr lang="en-US" altLang="zh-TW" sz="2000" i="1" dirty="0" smtClean="0"/>
                        </m:ctrlPr>
                      </m:sSubPr>
                      <m:e>
                        <m:r>
                          <a:rPr lang="en-US" altLang="zh-TW" sz="2000" i="1" dirty="0" smtClean="0"/>
                          <m:t>𝑒</m:t>
                        </m:r>
                      </m:e>
                      <m:sub>
                        <m:r>
                          <a:rPr lang="en-US" altLang="zh-TW" sz="2000" i="1" dirty="0" smtClean="0"/>
                          <m:t>𝜏</m:t>
                        </m:r>
                      </m:sub>
                    </m:sSub>
                    <m:r>
                      <a:rPr lang="en-US" altLang="zh-TW" sz="2000" i="1" dirty="0" smtClean="0"/>
                      <m:t>≈1000</m:t>
                    </m:r>
                  </m:oMath>
                </a14:m>
                <a:r>
                  <a:rPr lang="en-US" altLang="zh-TW" sz="2000" dirty="0"/>
                  <a:t>) framework.</a:t>
                </a:r>
              </a:p>
              <a:p>
                <a:pPr lvl="1"/>
                <a:r>
                  <a:rPr lang="en-US" altLang="zh-TW" sz="2000" b="1" dirty="0"/>
                  <a:t>Target:</a:t>
                </a:r>
                <a:r>
                  <a:rPr lang="en-US" altLang="zh-TW" sz="2000" dirty="0"/>
                  <a:t> Reduce relative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 smtClean="0"/>
                        </m:ctrlPr>
                      </m:sSubPr>
                      <m:e>
                        <m:r>
                          <a:rPr lang="en-US" altLang="zh-TW" sz="2000" i="1" dirty="0" smtClean="0"/>
                          <m:t>𝐿</m:t>
                        </m:r>
                      </m:e>
                      <m:sub>
                        <m:r>
                          <a:rPr lang="en-US" altLang="zh-TW" sz="2000" i="1" dirty="0" smtClean="0"/>
                          <m:t>2</m:t>
                        </m:r>
                      </m:sub>
                    </m:sSub>
                  </m:oMath>
                </a14:m>
                <a:r>
                  <a:rPr lang="en-US" altLang="zh-TW" sz="2000" dirty="0"/>
                  <a:t> error from baseline levels to a target </a:t>
                </a:r>
                <a:r>
                  <a:rPr lang="en-US" altLang="zh-TW" sz="2000" b="1" dirty="0"/>
                  <a:t>5-10%</a:t>
                </a:r>
                <a:r>
                  <a:rPr lang="en-US" altLang="zh-TW" sz="2000" dirty="0"/>
                  <a:t> range.</a:t>
                </a:r>
              </a:p>
              <a:p>
                <a:pPr lvl="1"/>
                <a:endParaRPr lang="en-US" altLang="zh-TW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sz="2000" b="1" dirty="0"/>
                  <a:t>Addressing Temporal Instability in Unsteady Reconstruction</a:t>
                </a:r>
              </a:p>
              <a:p>
                <a:r>
                  <a:rPr lang="zh-TW" altLang="en-US" sz="2000" dirty="0"/>
                  <a:t>         </a:t>
                </a:r>
                <a:r>
                  <a:rPr lang="en-US" altLang="zh-TW" sz="2000" dirty="0"/>
                  <a:t>Implement </a:t>
                </a:r>
                <a:r>
                  <a:rPr lang="en-US" altLang="zh-TW" sz="2000" b="1" dirty="0"/>
                  <a:t>Causal Training</a:t>
                </a:r>
                <a:r>
                  <a:rPr lang="en-US" altLang="zh-TW" sz="2000" dirty="0"/>
                  <a:t> to enforce temporal causality in time-dependent flows.</a:t>
                </a:r>
              </a:p>
              <a:p>
                <a:pPr lvl="1"/>
                <a:r>
                  <a:rPr lang="en-US" altLang="zh-TW" sz="2000" dirty="0"/>
                  <a:t>Develop </a:t>
                </a:r>
                <a:r>
                  <a:rPr lang="en-US" altLang="zh-TW" sz="2000" b="1" dirty="0"/>
                  <a:t>Time-windowing strategies</a:t>
                </a:r>
                <a:r>
                  <a:rPr lang="en-US" altLang="zh-TW" sz="2000" dirty="0"/>
                  <a:t> for long-term unsteady turbulence tracking.</a:t>
                </a:r>
              </a:p>
              <a:p>
                <a:pPr lvl="1"/>
                <a:r>
                  <a:rPr lang="en-US" altLang="zh-TW" sz="2000" dirty="0"/>
                  <a:t>Enhance temporal consistency in PINN-based data assimilation.</a:t>
                </a:r>
              </a:p>
              <a:p>
                <a:pPr lvl="1"/>
                <a:endParaRPr lang="en-US" altLang="zh-TW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sz="2000" b="1" dirty="0"/>
                  <a:t>Clarifying Performance Limits via Extended Validation</a:t>
                </a:r>
              </a:p>
              <a:p>
                <a:pPr lvl="1"/>
                <a:r>
                  <a:rPr lang="en-US" altLang="zh-TW" sz="2000" b="1" dirty="0"/>
                  <a:t>Sensor Scaling Study:</a:t>
                </a:r>
                <a:r>
                  <a:rPr lang="en-US" altLang="zh-TW" sz="2000" dirty="0"/>
                  <a:t> Systematically test sensor counts K in (50, 100, 200, 500).</a:t>
                </a:r>
              </a:p>
            </p:txBody>
          </p:sp>
        </mc:Choice>
        <mc:Fallback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DFCED86C-BCE9-08A0-869A-A61D89BF02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287" y="1188800"/>
                <a:ext cx="11648711" cy="5016758"/>
              </a:xfrm>
              <a:prstGeom prst="rect">
                <a:avLst/>
              </a:prstGeom>
              <a:blipFill>
                <a:blip r:embed="rId3"/>
                <a:stretch>
                  <a:fillRect l="-435" t="-505" b="-12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37125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04547-1F79-44D6-BCC6-2FF8CCCBD0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GB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Listening</a:t>
            </a:r>
            <a:endParaRPr lang="zh-TW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86ABCE-C58F-4486-9D55-B66630502C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>
            <a:normAutofit lnSpcReduction="10000"/>
          </a:bodyPr>
          <a:lstStyle/>
          <a:p>
            <a:pPr algn="r"/>
            <a:r>
              <a:rPr lang="en-GB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&amp; A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922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toryboard Layout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FE506D8-C873-4C40-B215-B3E75558E51D}">
  <we:reference id="4b785c87-866c-4bad-85d8-5d1ae467ac9a" version="3.14.3.0" store="EXCatalog" storeType="EXCatalog"/>
  <we:alternateReferences>
    <we:reference id="WA104381909" version="3.14.3.0" store="zh-TW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159972</TotalTime>
  <Words>6577</Words>
  <Application>Microsoft Macintosh PowerPoint</Application>
  <PresentationFormat>寬螢幕</PresentationFormat>
  <Paragraphs>829</Paragraphs>
  <Slides>34</Slides>
  <Notes>34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34</vt:i4>
      </vt:variant>
    </vt:vector>
  </HeadingPairs>
  <TitlesOfParts>
    <vt:vector size="45" baseType="lpstr">
      <vt:lpstr>Microsoft JhengHei UI</vt:lpstr>
      <vt:lpstr>Arial</vt:lpstr>
      <vt:lpstr>Arial Rounded MT Bold</vt:lpstr>
      <vt:lpstr>Calibri</vt:lpstr>
      <vt:lpstr>Calibri Light</vt:lpstr>
      <vt:lpstr>Cambria Math</vt:lpstr>
      <vt:lpstr>Times New Roman</vt:lpstr>
      <vt:lpstr>Wingdings</vt:lpstr>
      <vt:lpstr>Office 佈景主題</vt:lpstr>
      <vt:lpstr>自訂設計</vt:lpstr>
      <vt:lpstr>Storyboard Layouts</vt:lpstr>
      <vt:lpstr>基於物理資訊的稀疏測量重建方法於公共湍流基準資料集之研究 Physics-Informed Reconstruction from Sparse Measurements on Public Turbulence Benchmarks</vt:lpstr>
      <vt:lpstr>PowerPoint 簡報</vt:lpstr>
      <vt:lpstr>Introduction</vt:lpstr>
      <vt:lpstr>Background：Turbulence &amp; Data Limitations</vt:lpstr>
      <vt:lpstr>Background：Physic-informed Neural Networks (PINNs)</vt:lpstr>
      <vt:lpstr>Background：JHTDB as High-Fidelity Reference</vt:lpstr>
      <vt:lpstr>PowerPoint 簡報</vt:lpstr>
      <vt:lpstr>PowerPoint 簡報</vt:lpstr>
      <vt:lpstr>PowerPoint 簡報</vt:lpstr>
      <vt:lpstr>PowerPoint 簡報</vt:lpstr>
      <vt:lpstr>Motivation：Challenges in Turbulent Reconstruction</vt:lpstr>
      <vt:lpstr>Motivation：Gaps in Current Research</vt:lpstr>
      <vt:lpstr>PowerPoint 簡報</vt:lpstr>
      <vt:lpstr>Methodology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Initial Result and Discussion</vt:lpstr>
      <vt:lpstr>PowerPoint 簡報</vt:lpstr>
      <vt:lpstr>PowerPoint 簡報</vt:lpstr>
      <vt:lpstr>PowerPoint 簡報</vt:lpstr>
      <vt:lpstr>PowerPoint 簡報</vt:lpstr>
      <vt:lpstr>PowerPoint 簡報</vt:lpstr>
      <vt:lpstr>Thank You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Comparison of 3-D CFD Models for Free Convection Flow of Air above a Rotating Cylinder</dc:title>
  <dc:creator>璿庭 邱</dc:creator>
  <cp:lastModifiedBy>李駿毅</cp:lastModifiedBy>
  <cp:revision>1259</cp:revision>
  <dcterms:created xsi:type="dcterms:W3CDTF">2019-10-06T12:50:24Z</dcterms:created>
  <dcterms:modified xsi:type="dcterms:W3CDTF">2025-12-24T09:16:44Z</dcterms:modified>
</cp:coreProperties>
</file>